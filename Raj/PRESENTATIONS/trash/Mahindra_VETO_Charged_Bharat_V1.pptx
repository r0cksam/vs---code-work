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3"/>
        </a:solidFill>
      </p:bgPr>
    </p:bg>
    <p:spTree>
      <p:nvGrpSpPr>
        <p:cNvPr id="1" name=""/>
        <p:cNvGrpSpPr/>
        <p:nvPr/>
      </p:nvGrpSpPr>
      <p:grpSpPr>
        <a:xfrm>
          <a:off x="0" y="0"/>
          <a:ext cx="0" cy="0"/>
          <a:chOff x="0" y="0"/>
          <a:chExt cx="0" cy="0"/>
        </a:xfrm>
      </p:grpSpPr>
      <p:sp>
        <p:nvSpPr>
          <p:cNvPr id="2" name="Text 0"/>
          <p:cNvSpPr/>
          <p:nvPr/>
        </p:nvSpPr>
        <p:spPr>
          <a:xfrm>
            <a:off x="548640" y="502920"/>
            <a:ext cx="5486400" cy="320040"/>
          </a:xfrm>
          <a:prstGeom prst="rect">
            <a:avLst/>
          </a:prstGeom>
          <a:noFill/>
          <a:ln/>
        </p:spPr>
        <p:txBody>
          <a:bodyPr wrap="square" rtlCol="0" anchor="ctr"/>
          <a:lstStyle/>
          <a:p>
            <a:pPr indent="0" marL="0">
              <a:buNone/>
            </a:pPr>
            <a:r>
              <a:rPr lang="en-US" sz="1100" b="1" spc="600" kern="0" dirty="0">
                <a:solidFill>
                  <a:srgbClr val="FFFFFF"/>
                </a:solidFill>
                <a:latin typeface="Arial" pitchFamily="34" charset="0"/>
                <a:ea typeface="Arial" pitchFamily="34" charset="-122"/>
                <a:cs typeface="Arial" pitchFamily="34" charset="-120"/>
              </a:rPr>
              <a:t>MAHINDRA  ×  VETO</a:t>
            </a:r>
            <a:endParaRPr lang="en-US" sz="1100" dirty="0"/>
          </a:p>
        </p:txBody>
      </p:sp>
      <p:sp>
        <p:nvSpPr>
          <p:cNvPr id="3" name="Text 1"/>
          <p:cNvSpPr/>
          <p:nvPr/>
        </p:nvSpPr>
        <p:spPr>
          <a:xfrm>
            <a:off x="6126480" y="502920"/>
            <a:ext cx="5577840" cy="320040"/>
          </a:xfrm>
          <a:prstGeom prst="rect">
            <a:avLst/>
          </a:prstGeom>
          <a:noFill/>
          <a:ln/>
        </p:spPr>
        <p:txBody>
          <a:bodyPr wrap="square" rtlCol="0" anchor="ctr"/>
          <a:lstStyle/>
          <a:p>
            <a:pPr algn="r" indent="0" marL="0">
              <a:buNone/>
            </a:pPr>
            <a:r>
              <a:rPr lang="en-US" sz="1000" spc="400" kern="0" dirty="0">
                <a:solidFill>
                  <a:srgbClr val="D4A017"/>
                </a:solidFill>
                <a:latin typeface="Arial" pitchFamily="34" charset="0"/>
                <a:ea typeface="Arial" pitchFamily="34" charset="-122"/>
                <a:cs typeface="Arial" pitchFamily="34" charset="-120"/>
              </a:rPr>
              <a:t>DIWALI 2026 LAUNCH PROPOSAL</a:t>
            </a:r>
            <a:endParaRPr lang="en-US" sz="1000" dirty="0"/>
          </a:p>
        </p:txBody>
      </p:sp>
      <p:sp>
        <p:nvSpPr>
          <p:cNvPr id="4" name="Shape 2"/>
          <p:cNvSpPr/>
          <p:nvPr/>
        </p:nvSpPr>
        <p:spPr>
          <a:xfrm>
            <a:off x="548640" y="1005840"/>
            <a:ext cx="548640" cy="27432"/>
          </a:xfrm>
          <a:prstGeom prst="rect">
            <a:avLst/>
          </a:prstGeom>
          <a:solidFill>
            <a:srgbClr val="D4A017"/>
          </a:solidFill>
          <a:ln/>
        </p:spPr>
      </p:sp>
      <p:sp>
        <p:nvSpPr>
          <p:cNvPr id="5" name="Text 3"/>
          <p:cNvSpPr/>
          <p:nvPr/>
        </p:nvSpPr>
        <p:spPr>
          <a:xfrm>
            <a:off x="457200" y="1554480"/>
            <a:ext cx="11430000" cy="1463040"/>
          </a:xfrm>
          <a:prstGeom prst="rect">
            <a:avLst/>
          </a:prstGeom>
          <a:noFill/>
          <a:ln/>
        </p:spPr>
        <p:txBody>
          <a:bodyPr wrap="square" rtlCol="0" anchor="ctr"/>
          <a:lstStyle/>
          <a:p>
            <a:pPr indent="0" marL="0">
              <a:buNone/>
            </a:pPr>
            <a:r>
              <a:rPr lang="en-US" sz="13000" b="1" spc="-400" kern="0" dirty="0">
                <a:solidFill>
                  <a:srgbClr val="FFFFFF"/>
                </a:solidFill>
                <a:latin typeface="Arial" pitchFamily="34" charset="0"/>
                <a:ea typeface="Arial" pitchFamily="34" charset="-122"/>
                <a:cs typeface="Arial" pitchFamily="34" charset="-120"/>
              </a:rPr>
              <a:t>CHARGED</a:t>
            </a:r>
            <a:endParaRPr lang="en-US" sz="13000" dirty="0"/>
          </a:p>
        </p:txBody>
      </p:sp>
      <p:sp>
        <p:nvSpPr>
          <p:cNvPr id="6" name="Text 4"/>
          <p:cNvSpPr/>
          <p:nvPr/>
        </p:nvSpPr>
        <p:spPr>
          <a:xfrm>
            <a:off x="457200" y="2880360"/>
            <a:ext cx="11430000" cy="1463040"/>
          </a:xfrm>
          <a:prstGeom prst="rect">
            <a:avLst/>
          </a:prstGeom>
          <a:noFill/>
          <a:ln/>
        </p:spPr>
        <p:txBody>
          <a:bodyPr wrap="square" rtlCol="0" anchor="ctr"/>
          <a:lstStyle/>
          <a:p>
            <a:pPr indent="0" marL="0">
              <a:buNone/>
            </a:pPr>
            <a:r>
              <a:rPr lang="en-US" sz="13000" b="1" spc="-400" kern="0" dirty="0">
                <a:solidFill>
                  <a:srgbClr val="E4002B"/>
                </a:solidFill>
                <a:latin typeface="Arial" pitchFamily="34" charset="0"/>
                <a:ea typeface="Arial" pitchFamily="34" charset="-122"/>
                <a:cs typeface="Arial" pitchFamily="34" charset="-120"/>
              </a:rPr>
              <a:t>BHARAT.</a:t>
            </a:r>
            <a:endParaRPr lang="en-US" sz="13000" dirty="0"/>
          </a:p>
        </p:txBody>
      </p:sp>
      <p:sp>
        <p:nvSpPr>
          <p:cNvPr id="7" name="Text 5"/>
          <p:cNvSpPr/>
          <p:nvPr/>
        </p:nvSpPr>
        <p:spPr>
          <a:xfrm>
            <a:off x="548640" y="4572000"/>
            <a:ext cx="10972800" cy="411480"/>
          </a:xfrm>
          <a:prstGeom prst="rect">
            <a:avLst/>
          </a:prstGeom>
          <a:noFill/>
          <a:ln/>
        </p:spPr>
        <p:txBody>
          <a:bodyPr wrap="square"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A category-building content franchise.</a:t>
            </a:r>
            <a:endParaRPr lang="en-US" sz="2200" dirty="0"/>
          </a:p>
        </p:txBody>
      </p:sp>
      <p:sp>
        <p:nvSpPr>
          <p:cNvPr id="8" name="Text 6"/>
          <p:cNvSpPr/>
          <p:nvPr/>
        </p:nvSpPr>
        <p:spPr>
          <a:xfrm>
            <a:off x="548640" y="4983480"/>
            <a:ext cx="10972800" cy="365760"/>
          </a:xfrm>
          <a:prstGeom prst="rect">
            <a:avLst/>
          </a:prstGeom>
          <a:noFill/>
          <a:ln/>
        </p:spPr>
        <p:txBody>
          <a:bodyPr wrap="square" rtlCol="0" anchor="ctr"/>
          <a:lstStyle/>
          <a:p>
            <a:pPr indent="0" marL="0">
              <a:buNone/>
            </a:pPr>
            <a:r>
              <a:rPr lang="en-US" sz="1600" dirty="0">
                <a:solidFill>
                  <a:srgbClr val="B8BDC7"/>
                </a:solidFill>
                <a:latin typeface="Arial" pitchFamily="34" charset="0"/>
                <a:ea typeface="Arial" pitchFamily="34" charset="-122"/>
                <a:cs typeface="Arial" pitchFamily="34" charset="-120"/>
              </a:rPr>
              <a:t>Co-owned. Newsroom-credible. Built for the Hindi India EV question.</a:t>
            </a:r>
            <a:endParaRPr lang="en-US" sz="1600" dirty="0"/>
          </a:p>
        </p:txBody>
      </p:sp>
      <p:sp>
        <p:nvSpPr>
          <p:cNvPr id="9" name="Text 7"/>
          <p:cNvSpPr/>
          <p:nvPr/>
        </p:nvSpPr>
        <p:spPr>
          <a:xfrm>
            <a:off x="548640" y="6035040"/>
            <a:ext cx="10972800" cy="274320"/>
          </a:xfrm>
          <a:prstGeom prst="rect">
            <a:avLst/>
          </a:prstGeom>
          <a:noFill/>
          <a:ln/>
        </p:spPr>
        <p:txBody>
          <a:bodyPr wrap="square" rtlCol="0" anchor="ctr"/>
          <a:lstStyle/>
          <a:p>
            <a:pPr indent="0" marL="0">
              <a:buNone/>
            </a:pPr>
            <a:r>
              <a:rPr lang="en-US" sz="900" spc="400" kern="0" dirty="0">
                <a:solidFill>
                  <a:srgbClr val="D4A017"/>
                </a:solidFill>
                <a:latin typeface="Arial" pitchFamily="34" charset="0"/>
                <a:ea typeface="Arial" pitchFamily="34" charset="-122"/>
                <a:cs typeface="Arial" pitchFamily="34" charset="-120"/>
              </a:rPr>
              <a:t>PRESENTED BY VETO  |  IN PARTNERSHIP WITH INDIA TV NEWSROOM</a:t>
            </a:r>
            <a:endParaRPr lang="en-US" sz="900" dirty="0"/>
          </a:p>
        </p:txBody>
      </p:sp>
      <p:sp>
        <p:nvSpPr>
          <p:cNvPr id="10" name="Text 8"/>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8A8F9A"/>
                </a:solidFill>
                <a:latin typeface="Arial" pitchFamily="34" charset="0"/>
                <a:ea typeface="Arial" pitchFamily="34" charset="-122"/>
                <a:cs typeface="Arial" pitchFamily="34" charset="-120"/>
              </a:rPr>
              <a:t>MAHINDRA × VETO   |   CHARGED BHARAT   |   Confidential Proposal</a:t>
            </a:r>
            <a:endParaRPr lang="en-US" sz="800" dirty="0"/>
          </a:p>
        </p:txBody>
      </p:sp>
      <p:sp>
        <p:nvSpPr>
          <p:cNvPr id="11" name="Text 9"/>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rtlCol="0" anchor="ctr"/>
          <a:lstStyle/>
          <a:p>
            <a:pPr indent="0" marL="0">
              <a:buNone/>
            </a:pPr>
            <a:r>
              <a:rPr lang="en-US" sz="1000" b="1" spc="400" kern="0" dirty="0">
                <a:solidFill>
                  <a:srgbClr val="E4002B"/>
                </a:solidFill>
                <a:latin typeface="Arial" pitchFamily="34" charset="0"/>
                <a:ea typeface="Arial" pitchFamily="34" charset="-122"/>
                <a:cs typeface="Arial" pitchFamily="34" charset="-120"/>
              </a:rPr>
              <a:t>01  /  THE INSIGHT</a:t>
            </a:r>
            <a:endParaRPr lang="en-US" sz="1000" dirty="0"/>
          </a:p>
        </p:txBody>
      </p:sp>
      <p:sp>
        <p:nvSpPr>
          <p:cNvPr id="3" name="Text 1"/>
          <p:cNvSpPr/>
          <p:nvPr/>
        </p:nvSpPr>
        <p:spPr>
          <a:xfrm>
            <a:off x="548640" y="914400"/>
            <a:ext cx="10972800" cy="685800"/>
          </a:xfrm>
          <a:prstGeom prst="rect">
            <a:avLst/>
          </a:prstGeom>
          <a:noFill/>
          <a:ln/>
        </p:spPr>
        <p:txBody>
          <a:bodyPr wrap="square" rtlCol="0" anchor="ctr"/>
          <a:lstStyle/>
          <a:p>
            <a:pPr indent="0" marL="0">
              <a:buNone/>
            </a:pPr>
            <a:r>
              <a:rPr lang="en-US" sz="3600" b="1" dirty="0">
                <a:solidFill>
                  <a:srgbClr val="1A1D23"/>
                </a:solidFill>
                <a:latin typeface="Arial" pitchFamily="34" charset="0"/>
                <a:ea typeface="Arial" pitchFamily="34" charset="-122"/>
                <a:cs typeface="Arial" pitchFamily="34" charset="-120"/>
              </a:rPr>
              <a:t>Hindi India isn't asking which EV.</a:t>
            </a:r>
            <a:endParaRPr lang="en-US" sz="3600" dirty="0"/>
          </a:p>
        </p:txBody>
      </p:sp>
      <p:sp>
        <p:nvSpPr>
          <p:cNvPr id="4" name="Text 2"/>
          <p:cNvSpPr/>
          <p:nvPr/>
        </p:nvSpPr>
        <p:spPr>
          <a:xfrm>
            <a:off x="548640" y="1600200"/>
            <a:ext cx="10972800" cy="548640"/>
          </a:xfrm>
          <a:prstGeom prst="rect">
            <a:avLst/>
          </a:prstGeom>
          <a:noFill/>
          <a:ln/>
        </p:spPr>
        <p:txBody>
          <a:bodyPr wrap="square" rtlCol="0" anchor="ctr"/>
          <a:lstStyle/>
          <a:p>
            <a:pPr indent="0" marL="0">
              <a:buNone/>
            </a:pPr>
            <a:r>
              <a:rPr lang="en-US" sz="2600" i="1" dirty="0">
                <a:solidFill>
                  <a:srgbClr val="E4002B"/>
                </a:solidFill>
                <a:latin typeface="Cambria" pitchFamily="34" charset="0"/>
                <a:ea typeface="Cambria" pitchFamily="34" charset="-122"/>
                <a:cs typeface="Cambria" pitchFamily="34" charset="-120"/>
              </a:rPr>
              <a:t>It's still asking whether to buy one at all.</a:t>
            </a:r>
            <a:endParaRPr lang="en-US" sz="2600" dirty="0"/>
          </a:p>
        </p:txBody>
      </p:sp>
      <p:sp>
        <p:nvSpPr>
          <p:cNvPr id="5" name="Shape 3"/>
          <p:cNvSpPr/>
          <p:nvPr/>
        </p:nvSpPr>
        <p:spPr>
          <a:xfrm>
            <a:off x="548640" y="2880360"/>
            <a:ext cx="2194560" cy="1554480"/>
          </a:xfrm>
          <a:prstGeom prst="roundRect">
            <a:avLst>
              <a:gd name="adj" fmla="val 5882"/>
            </a:avLst>
          </a:prstGeom>
          <a:solidFill>
            <a:srgbClr val="FFFFFF"/>
          </a:solidFill>
          <a:ln w="12700">
            <a:solidFill>
              <a:srgbClr val="E5E1D8"/>
            </a:solidFill>
            <a:prstDash val="solid"/>
          </a:ln>
        </p:spPr>
      </p:sp>
      <p:sp>
        <p:nvSpPr>
          <p:cNvPr id="6" name="Text 4"/>
          <p:cNvSpPr/>
          <p:nvPr/>
        </p:nvSpPr>
        <p:spPr>
          <a:xfrm>
            <a:off x="685800" y="3108960"/>
            <a:ext cx="1920240" cy="777240"/>
          </a:xfrm>
          <a:prstGeom prst="rect">
            <a:avLst/>
          </a:prstGeom>
          <a:noFill/>
          <a:ln/>
        </p:spPr>
        <p:txBody>
          <a:bodyPr wrap="square" rtlCol="0" anchor="ctr"/>
          <a:lstStyle/>
          <a:p>
            <a:pPr algn="ctr" indent="0" marL="0">
              <a:buNone/>
            </a:pPr>
            <a:r>
              <a:rPr lang="en-US" sz="1500" b="1" i="1" dirty="0">
                <a:solidFill>
                  <a:srgbClr val="1A1D23"/>
                </a:solidFill>
                <a:latin typeface="Cambria" pitchFamily="34" charset="0"/>
                <a:ea typeface="Cambria" pitchFamily="34" charset="-122"/>
                <a:cs typeface="Cambria" pitchFamily="34" charset="-120"/>
              </a:rPr>
              <a:t>"Pahad pe chadhegi kya?"</a:t>
            </a:r>
            <a:endParaRPr lang="en-US" sz="1500" dirty="0"/>
          </a:p>
        </p:txBody>
      </p:sp>
      <p:sp>
        <p:nvSpPr>
          <p:cNvPr id="7" name="Text 5"/>
          <p:cNvSpPr/>
          <p:nvPr/>
        </p:nvSpPr>
        <p:spPr>
          <a:xfrm>
            <a:off x="685800" y="3931920"/>
            <a:ext cx="1920240" cy="365760"/>
          </a:xfrm>
          <a:prstGeom prst="rect">
            <a:avLst/>
          </a:prstGeom>
          <a:noFill/>
          <a:ln/>
        </p:spPr>
        <p:txBody>
          <a:bodyPr wrap="square" rtlCol="0" anchor="ctr"/>
          <a:lstStyle/>
          <a:p>
            <a:pPr algn="ctr" indent="0" marL="0">
              <a:buNone/>
            </a:pPr>
            <a:r>
              <a:rPr lang="en-US" sz="1000" spc="100" kern="0" dirty="0">
                <a:solidFill>
                  <a:srgbClr val="5A5F6A"/>
                </a:solidFill>
                <a:latin typeface="Arial" pitchFamily="34" charset="0"/>
                <a:ea typeface="Arial" pitchFamily="34" charset="-122"/>
                <a:cs typeface="Arial" pitchFamily="34" charset="-120"/>
              </a:rPr>
              <a:t>Range and terrain doubt</a:t>
            </a:r>
            <a:endParaRPr lang="en-US" sz="1000" dirty="0"/>
          </a:p>
        </p:txBody>
      </p:sp>
      <p:sp>
        <p:nvSpPr>
          <p:cNvPr id="8" name="Shape 6"/>
          <p:cNvSpPr/>
          <p:nvPr/>
        </p:nvSpPr>
        <p:spPr>
          <a:xfrm>
            <a:off x="2880360" y="2880360"/>
            <a:ext cx="2194560" cy="1554480"/>
          </a:xfrm>
          <a:prstGeom prst="roundRect">
            <a:avLst>
              <a:gd name="adj" fmla="val 5882"/>
            </a:avLst>
          </a:prstGeom>
          <a:solidFill>
            <a:srgbClr val="FFFFFF"/>
          </a:solidFill>
          <a:ln w="12700">
            <a:solidFill>
              <a:srgbClr val="E5E1D8"/>
            </a:solidFill>
            <a:prstDash val="solid"/>
          </a:ln>
        </p:spPr>
      </p:sp>
      <p:sp>
        <p:nvSpPr>
          <p:cNvPr id="9" name="Text 7"/>
          <p:cNvSpPr/>
          <p:nvPr/>
        </p:nvSpPr>
        <p:spPr>
          <a:xfrm>
            <a:off x="3017520" y="3108960"/>
            <a:ext cx="1920240" cy="777240"/>
          </a:xfrm>
          <a:prstGeom prst="rect">
            <a:avLst/>
          </a:prstGeom>
          <a:noFill/>
          <a:ln/>
        </p:spPr>
        <p:txBody>
          <a:bodyPr wrap="square" rtlCol="0" anchor="ctr"/>
          <a:lstStyle/>
          <a:p>
            <a:pPr algn="ctr" indent="0" marL="0">
              <a:buNone/>
            </a:pPr>
            <a:r>
              <a:rPr lang="en-US" sz="1500" b="1" i="1" dirty="0">
                <a:solidFill>
                  <a:srgbClr val="1A1D23"/>
                </a:solidFill>
                <a:latin typeface="Cambria" pitchFamily="34" charset="0"/>
                <a:ea typeface="Cambria" pitchFamily="34" charset="-122"/>
                <a:cs typeface="Cambria" pitchFamily="34" charset="-120"/>
              </a:rPr>
              <a:t>"Highway pe charging kahaan?"</a:t>
            </a:r>
            <a:endParaRPr lang="en-US" sz="1500" dirty="0"/>
          </a:p>
        </p:txBody>
      </p:sp>
      <p:sp>
        <p:nvSpPr>
          <p:cNvPr id="10" name="Text 8"/>
          <p:cNvSpPr/>
          <p:nvPr/>
        </p:nvSpPr>
        <p:spPr>
          <a:xfrm>
            <a:off x="3017520" y="3931920"/>
            <a:ext cx="1920240" cy="365760"/>
          </a:xfrm>
          <a:prstGeom prst="rect">
            <a:avLst/>
          </a:prstGeom>
          <a:noFill/>
          <a:ln/>
        </p:spPr>
        <p:txBody>
          <a:bodyPr wrap="square" rtlCol="0" anchor="ctr"/>
          <a:lstStyle/>
          <a:p>
            <a:pPr algn="ctr" indent="0" marL="0">
              <a:buNone/>
            </a:pPr>
            <a:r>
              <a:rPr lang="en-US" sz="1000" spc="100" kern="0" dirty="0">
                <a:solidFill>
                  <a:srgbClr val="5A5F6A"/>
                </a:solidFill>
                <a:latin typeface="Arial" pitchFamily="34" charset="0"/>
                <a:ea typeface="Arial" pitchFamily="34" charset="-122"/>
                <a:cs typeface="Arial" pitchFamily="34" charset="-120"/>
              </a:rPr>
              <a:t>Infrastructure anxiety</a:t>
            </a:r>
            <a:endParaRPr lang="en-US" sz="1000" dirty="0"/>
          </a:p>
        </p:txBody>
      </p:sp>
      <p:sp>
        <p:nvSpPr>
          <p:cNvPr id="11" name="Shape 9"/>
          <p:cNvSpPr/>
          <p:nvPr/>
        </p:nvSpPr>
        <p:spPr>
          <a:xfrm>
            <a:off x="5212080" y="2880360"/>
            <a:ext cx="2194560" cy="1554480"/>
          </a:xfrm>
          <a:prstGeom prst="roundRect">
            <a:avLst>
              <a:gd name="adj" fmla="val 5882"/>
            </a:avLst>
          </a:prstGeom>
          <a:solidFill>
            <a:srgbClr val="FFFFFF"/>
          </a:solidFill>
          <a:ln w="12700">
            <a:solidFill>
              <a:srgbClr val="E5E1D8"/>
            </a:solidFill>
            <a:prstDash val="solid"/>
          </a:ln>
        </p:spPr>
      </p:sp>
      <p:sp>
        <p:nvSpPr>
          <p:cNvPr id="12" name="Text 10"/>
          <p:cNvSpPr/>
          <p:nvPr/>
        </p:nvSpPr>
        <p:spPr>
          <a:xfrm>
            <a:off x="5349240" y="3108960"/>
            <a:ext cx="1920240" cy="777240"/>
          </a:xfrm>
          <a:prstGeom prst="rect">
            <a:avLst/>
          </a:prstGeom>
          <a:noFill/>
          <a:ln/>
        </p:spPr>
        <p:txBody>
          <a:bodyPr wrap="square" rtlCol="0" anchor="ctr"/>
          <a:lstStyle/>
          <a:p>
            <a:pPr algn="ctr" indent="0" marL="0">
              <a:buNone/>
            </a:pPr>
            <a:r>
              <a:rPr lang="en-US" sz="1500" b="1" i="1" dirty="0">
                <a:solidFill>
                  <a:srgbClr val="1A1D23"/>
                </a:solidFill>
                <a:latin typeface="Cambria" pitchFamily="34" charset="0"/>
                <a:ea typeface="Cambria" pitchFamily="34" charset="-122"/>
                <a:cs typeface="Cambria" pitchFamily="34" charset="-120"/>
              </a:rPr>
              <a:t>"Do saal baad resale?"</a:t>
            </a:r>
            <a:endParaRPr lang="en-US" sz="1500" dirty="0"/>
          </a:p>
        </p:txBody>
      </p:sp>
      <p:sp>
        <p:nvSpPr>
          <p:cNvPr id="13" name="Text 11"/>
          <p:cNvSpPr/>
          <p:nvPr/>
        </p:nvSpPr>
        <p:spPr>
          <a:xfrm>
            <a:off x="5349240" y="3931920"/>
            <a:ext cx="1920240" cy="365760"/>
          </a:xfrm>
          <a:prstGeom prst="rect">
            <a:avLst/>
          </a:prstGeom>
          <a:noFill/>
          <a:ln/>
        </p:spPr>
        <p:txBody>
          <a:bodyPr wrap="square" rtlCol="0" anchor="ctr"/>
          <a:lstStyle/>
          <a:p>
            <a:pPr algn="ctr" indent="0" marL="0">
              <a:buNone/>
            </a:pPr>
            <a:r>
              <a:rPr lang="en-US" sz="1000" spc="100" kern="0" dirty="0">
                <a:solidFill>
                  <a:srgbClr val="5A5F6A"/>
                </a:solidFill>
                <a:latin typeface="Arial" pitchFamily="34" charset="0"/>
                <a:ea typeface="Arial" pitchFamily="34" charset="-122"/>
                <a:cs typeface="Arial" pitchFamily="34" charset="-120"/>
              </a:rPr>
              <a:t>Resale value fear</a:t>
            </a:r>
            <a:endParaRPr lang="en-US" sz="1000" dirty="0"/>
          </a:p>
        </p:txBody>
      </p:sp>
      <p:sp>
        <p:nvSpPr>
          <p:cNvPr id="14" name="Shape 12"/>
          <p:cNvSpPr/>
          <p:nvPr/>
        </p:nvSpPr>
        <p:spPr>
          <a:xfrm>
            <a:off x="7543800" y="2880360"/>
            <a:ext cx="2194560" cy="1554480"/>
          </a:xfrm>
          <a:prstGeom prst="roundRect">
            <a:avLst>
              <a:gd name="adj" fmla="val 5882"/>
            </a:avLst>
          </a:prstGeom>
          <a:solidFill>
            <a:srgbClr val="FFFFFF"/>
          </a:solidFill>
          <a:ln w="12700">
            <a:solidFill>
              <a:srgbClr val="E5E1D8"/>
            </a:solidFill>
            <a:prstDash val="solid"/>
          </a:ln>
        </p:spPr>
      </p:sp>
      <p:sp>
        <p:nvSpPr>
          <p:cNvPr id="15" name="Text 13"/>
          <p:cNvSpPr/>
          <p:nvPr/>
        </p:nvSpPr>
        <p:spPr>
          <a:xfrm>
            <a:off x="7680960" y="3108960"/>
            <a:ext cx="1920240" cy="777240"/>
          </a:xfrm>
          <a:prstGeom prst="rect">
            <a:avLst/>
          </a:prstGeom>
          <a:noFill/>
          <a:ln/>
        </p:spPr>
        <p:txBody>
          <a:bodyPr wrap="square" rtlCol="0" anchor="ctr"/>
          <a:lstStyle/>
          <a:p>
            <a:pPr algn="ctr" indent="0" marL="0">
              <a:buNone/>
            </a:pPr>
            <a:r>
              <a:rPr lang="en-US" sz="1500" b="1" i="1" dirty="0">
                <a:solidFill>
                  <a:srgbClr val="1A1D23"/>
                </a:solidFill>
                <a:latin typeface="Cambria" pitchFamily="34" charset="0"/>
                <a:ea typeface="Cambria" pitchFamily="34" charset="-122"/>
                <a:cs typeface="Cambria" pitchFamily="34" charset="-120"/>
              </a:rPr>
              <a:t>"Load shedding mein kya?"</a:t>
            </a:r>
            <a:endParaRPr lang="en-US" sz="1500" dirty="0"/>
          </a:p>
        </p:txBody>
      </p:sp>
      <p:sp>
        <p:nvSpPr>
          <p:cNvPr id="16" name="Text 14"/>
          <p:cNvSpPr/>
          <p:nvPr/>
        </p:nvSpPr>
        <p:spPr>
          <a:xfrm>
            <a:off x="7680960" y="3931920"/>
            <a:ext cx="1920240" cy="365760"/>
          </a:xfrm>
          <a:prstGeom prst="rect">
            <a:avLst/>
          </a:prstGeom>
          <a:noFill/>
          <a:ln/>
        </p:spPr>
        <p:txBody>
          <a:bodyPr wrap="square" rtlCol="0" anchor="ctr"/>
          <a:lstStyle/>
          <a:p>
            <a:pPr algn="ctr" indent="0" marL="0">
              <a:buNone/>
            </a:pPr>
            <a:r>
              <a:rPr lang="en-US" sz="1000" spc="100" kern="0" dirty="0">
                <a:solidFill>
                  <a:srgbClr val="5A5F6A"/>
                </a:solidFill>
                <a:latin typeface="Arial" pitchFamily="34" charset="0"/>
                <a:ea typeface="Arial" pitchFamily="34" charset="-122"/>
                <a:cs typeface="Arial" pitchFamily="34" charset="-120"/>
              </a:rPr>
              <a:t>Grid reliability worry</a:t>
            </a:r>
            <a:endParaRPr lang="en-US" sz="1000" dirty="0"/>
          </a:p>
        </p:txBody>
      </p:sp>
      <p:sp>
        <p:nvSpPr>
          <p:cNvPr id="17" name="Shape 15"/>
          <p:cNvSpPr/>
          <p:nvPr/>
        </p:nvSpPr>
        <p:spPr>
          <a:xfrm>
            <a:off x="9875520" y="2880360"/>
            <a:ext cx="2194560" cy="1554480"/>
          </a:xfrm>
          <a:prstGeom prst="roundRect">
            <a:avLst>
              <a:gd name="adj" fmla="val 5882"/>
            </a:avLst>
          </a:prstGeom>
          <a:solidFill>
            <a:srgbClr val="FFFFFF"/>
          </a:solidFill>
          <a:ln w="12700">
            <a:solidFill>
              <a:srgbClr val="E5E1D8"/>
            </a:solidFill>
            <a:prstDash val="solid"/>
          </a:ln>
        </p:spPr>
      </p:sp>
      <p:sp>
        <p:nvSpPr>
          <p:cNvPr id="18" name="Text 16"/>
          <p:cNvSpPr/>
          <p:nvPr/>
        </p:nvSpPr>
        <p:spPr>
          <a:xfrm>
            <a:off x="10012680" y="3108960"/>
            <a:ext cx="1920240" cy="777240"/>
          </a:xfrm>
          <a:prstGeom prst="rect">
            <a:avLst/>
          </a:prstGeom>
          <a:noFill/>
          <a:ln/>
        </p:spPr>
        <p:txBody>
          <a:bodyPr wrap="square" rtlCol="0" anchor="ctr"/>
          <a:lstStyle/>
          <a:p>
            <a:pPr algn="ctr" indent="0" marL="0">
              <a:buNone/>
            </a:pPr>
            <a:r>
              <a:rPr lang="en-US" sz="1500" b="1" i="1" dirty="0">
                <a:solidFill>
                  <a:srgbClr val="1A1D23"/>
                </a:solidFill>
                <a:latin typeface="Cambria" pitchFamily="34" charset="0"/>
                <a:ea typeface="Cambria" pitchFamily="34" charset="-122"/>
                <a:cs typeface="Cambria" pitchFamily="34" charset="-120"/>
              </a:rPr>
              <a:t>"Tier-2 mein service?"</a:t>
            </a:r>
            <a:endParaRPr lang="en-US" sz="1500" dirty="0"/>
          </a:p>
        </p:txBody>
      </p:sp>
      <p:sp>
        <p:nvSpPr>
          <p:cNvPr id="19" name="Text 17"/>
          <p:cNvSpPr/>
          <p:nvPr/>
        </p:nvSpPr>
        <p:spPr>
          <a:xfrm>
            <a:off x="10012680" y="3931920"/>
            <a:ext cx="1920240" cy="365760"/>
          </a:xfrm>
          <a:prstGeom prst="rect">
            <a:avLst/>
          </a:prstGeom>
          <a:noFill/>
          <a:ln/>
        </p:spPr>
        <p:txBody>
          <a:bodyPr wrap="square" rtlCol="0" anchor="ctr"/>
          <a:lstStyle/>
          <a:p>
            <a:pPr algn="ctr" indent="0" marL="0">
              <a:buNone/>
            </a:pPr>
            <a:r>
              <a:rPr lang="en-US" sz="1000" spc="100" kern="0" dirty="0">
                <a:solidFill>
                  <a:srgbClr val="5A5F6A"/>
                </a:solidFill>
                <a:latin typeface="Arial" pitchFamily="34" charset="0"/>
                <a:ea typeface="Arial" pitchFamily="34" charset="-122"/>
                <a:cs typeface="Arial" pitchFamily="34" charset="-120"/>
              </a:rPr>
              <a:t>Service network doubt</a:t>
            </a:r>
            <a:endParaRPr lang="en-US" sz="1000" dirty="0"/>
          </a:p>
        </p:txBody>
      </p:sp>
      <p:sp>
        <p:nvSpPr>
          <p:cNvPr id="20" name="Text 18"/>
          <p:cNvSpPr/>
          <p:nvPr/>
        </p:nvSpPr>
        <p:spPr>
          <a:xfrm>
            <a:off x="548640" y="4937760"/>
            <a:ext cx="11064240" cy="365760"/>
          </a:xfrm>
          <a:prstGeom prst="rect">
            <a:avLst/>
          </a:prstGeom>
          <a:noFill/>
          <a:ln/>
        </p:spPr>
        <p:txBody>
          <a:bodyPr wrap="square" rtlCol="0" anchor="ctr"/>
          <a:lstStyle/>
          <a:p>
            <a:pPr indent="0" marL="0">
              <a:buNone/>
            </a:pPr>
            <a:r>
              <a:rPr lang="en-US" sz="1400" i="1" dirty="0">
                <a:solidFill>
                  <a:srgbClr val="5A5F6A"/>
                </a:solidFill>
                <a:latin typeface="Arial" pitchFamily="34" charset="0"/>
                <a:ea typeface="Arial" pitchFamily="34" charset="-122"/>
                <a:cs typeface="Arial" pitchFamily="34" charset="-120"/>
              </a:rPr>
              <a:t>These are the five sentences that decide every EV conversation in a Hindi belt showroom.</a:t>
            </a:r>
            <a:endParaRPr lang="en-US" sz="1400" dirty="0"/>
          </a:p>
        </p:txBody>
      </p:sp>
      <p:sp>
        <p:nvSpPr>
          <p:cNvPr id="21" name="Text 19"/>
          <p:cNvSpPr/>
          <p:nvPr/>
        </p:nvSpPr>
        <p:spPr>
          <a:xfrm>
            <a:off x="548640" y="5349240"/>
            <a:ext cx="11064240" cy="457200"/>
          </a:xfrm>
          <a:prstGeom prst="rect">
            <a:avLst/>
          </a:prstGeom>
          <a:noFill/>
          <a:ln/>
        </p:spPr>
        <p:txBody>
          <a:bodyPr wrap="square" rtlCol="0" anchor="ctr"/>
          <a:lstStyle/>
          <a:p>
            <a:pPr indent="0" marL="0">
              <a:buNone/>
            </a:pPr>
            <a:r>
              <a:rPr lang="en-US" sz="2000" b="1" dirty="0">
                <a:solidFill>
                  <a:srgbClr val="1A1D23"/>
                </a:solidFill>
                <a:latin typeface="Arial" pitchFamily="34" charset="0"/>
                <a:ea typeface="Arial" pitchFamily="34" charset="-122"/>
                <a:cs typeface="Arial" pitchFamily="34" charset="-120"/>
              </a:rPr>
              <a:t>No car ad answers them. No 30-second spot can.</a:t>
            </a:r>
            <a:endParaRPr lang="en-US" sz="2000" dirty="0"/>
          </a:p>
        </p:txBody>
      </p:sp>
      <p:sp>
        <p:nvSpPr>
          <p:cNvPr id="22" name="Text 20"/>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5A5F6A"/>
                </a:solidFill>
                <a:latin typeface="Arial" pitchFamily="34" charset="0"/>
                <a:ea typeface="Arial" pitchFamily="34" charset="-122"/>
                <a:cs typeface="Arial" pitchFamily="34" charset="-120"/>
              </a:rPr>
              <a:t>MAHINDRA × VETO   |   CHARGED BHARAT   |   Confidential Proposal</a:t>
            </a:r>
            <a:endParaRPr lang="en-US" sz="800" dirty="0"/>
          </a:p>
        </p:txBody>
      </p:sp>
      <p:sp>
        <p:nvSpPr>
          <p:cNvPr id="23" name="Text 21"/>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1A1D23"/>
                </a:solidFill>
                <a:latin typeface="Arial" pitchFamily="34" charset="0"/>
                <a:ea typeface="Arial" pitchFamily="34" charset="-122"/>
                <a:cs typeface="Arial"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rtlCol="0" anchor="ctr"/>
          <a:lstStyle/>
          <a:p>
            <a:pPr indent="0" marL="0">
              <a:buNone/>
            </a:pPr>
            <a:r>
              <a:rPr lang="en-US" sz="1000" b="1" spc="400" kern="0" dirty="0">
                <a:solidFill>
                  <a:srgbClr val="E4002B"/>
                </a:solidFill>
                <a:latin typeface="Arial" pitchFamily="34" charset="0"/>
                <a:ea typeface="Arial" pitchFamily="34" charset="-122"/>
                <a:cs typeface="Arial" pitchFamily="34" charset="-120"/>
              </a:rPr>
              <a:t>02  /  THE OPPORTUNITY</a:t>
            </a:r>
            <a:endParaRPr lang="en-US" sz="1000" dirty="0"/>
          </a:p>
        </p:txBody>
      </p:sp>
      <p:sp>
        <p:nvSpPr>
          <p:cNvPr id="3" name="Text 1"/>
          <p:cNvSpPr/>
          <p:nvPr/>
        </p:nvSpPr>
        <p:spPr>
          <a:xfrm>
            <a:off x="548640" y="914400"/>
            <a:ext cx="10972800" cy="640080"/>
          </a:xfrm>
          <a:prstGeom prst="rect">
            <a:avLst/>
          </a:prstGeom>
          <a:noFill/>
          <a:ln/>
        </p:spPr>
        <p:txBody>
          <a:bodyPr wrap="square" rtlCol="0" anchor="ctr"/>
          <a:lstStyle/>
          <a:p>
            <a:pPr indent="0" marL="0">
              <a:buNone/>
            </a:pPr>
            <a:r>
              <a:rPr lang="en-US" sz="3400" b="1" dirty="0">
                <a:solidFill>
                  <a:srgbClr val="1A1D23"/>
                </a:solidFill>
                <a:latin typeface="Arial" pitchFamily="34" charset="0"/>
                <a:ea typeface="Arial" pitchFamily="34" charset="-122"/>
                <a:cs typeface="Arial" pitchFamily="34" charset="-120"/>
              </a:rPr>
              <a:t>Every EV brand is selling cars.</a:t>
            </a:r>
            <a:endParaRPr lang="en-US" sz="3400" dirty="0"/>
          </a:p>
        </p:txBody>
      </p:sp>
      <p:sp>
        <p:nvSpPr>
          <p:cNvPr id="4" name="Text 2"/>
          <p:cNvSpPr/>
          <p:nvPr/>
        </p:nvSpPr>
        <p:spPr>
          <a:xfrm>
            <a:off x="548640" y="1554480"/>
            <a:ext cx="10972800" cy="640080"/>
          </a:xfrm>
          <a:prstGeom prst="rect">
            <a:avLst/>
          </a:prstGeom>
          <a:noFill/>
          <a:ln/>
        </p:spPr>
        <p:txBody>
          <a:bodyPr wrap="square" rtlCol="0" anchor="ctr"/>
          <a:lstStyle/>
          <a:p>
            <a:pPr indent="0" marL="0">
              <a:buNone/>
            </a:pPr>
            <a:r>
              <a:rPr lang="en-US" sz="3400" b="1" dirty="0">
                <a:solidFill>
                  <a:srgbClr val="E4002B"/>
                </a:solidFill>
                <a:latin typeface="Arial" pitchFamily="34" charset="0"/>
                <a:ea typeface="Arial" pitchFamily="34" charset="-122"/>
                <a:cs typeface="Arial" pitchFamily="34" charset="-120"/>
              </a:rPr>
              <a:t>Nobody is building the category.</a:t>
            </a:r>
            <a:endParaRPr lang="en-US" sz="3400" dirty="0"/>
          </a:p>
        </p:txBody>
      </p:sp>
      <p:sp>
        <p:nvSpPr>
          <p:cNvPr id="5" name="Shape 3"/>
          <p:cNvSpPr/>
          <p:nvPr/>
        </p:nvSpPr>
        <p:spPr>
          <a:xfrm>
            <a:off x="548640" y="3108960"/>
            <a:ext cx="3657600" cy="2194560"/>
          </a:xfrm>
          <a:prstGeom prst="roundRect">
            <a:avLst>
              <a:gd name="adj" fmla="val 4167"/>
            </a:avLst>
          </a:prstGeom>
          <a:solidFill>
            <a:srgbClr val="FFFFFF"/>
          </a:solidFill>
          <a:ln w="12700">
            <a:solidFill>
              <a:srgbClr val="E5E1D8"/>
            </a:solidFill>
            <a:prstDash val="solid"/>
          </a:ln>
        </p:spPr>
      </p:sp>
      <p:sp>
        <p:nvSpPr>
          <p:cNvPr id="6" name="Text 4"/>
          <p:cNvSpPr/>
          <p:nvPr/>
        </p:nvSpPr>
        <p:spPr>
          <a:xfrm>
            <a:off x="731520" y="3246120"/>
            <a:ext cx="3291840" cy="1005840"/>
          </a:xfrm>
          <a:prstGeom prst="rect">
            <a:avLst/>
          </a:prstGeom>
          <a:noFill/>
          <a:ln/>
        </p:spPr>
        <p:txBody>
          <a:bodyPr wrap="square" rtlCol="0" anchor="ctr"/>
          <a:lstStyle/>
          <a:p>
            <a:pPr indent="0" marL="0">
              <a:buNone/>
            </a:pPr>
            <a:r>
              <a:rPr lang="en-US" sz="6400" b="1" spc="-200" kern="0" dirty="0">
                <a:solidFill>
                  <a:srgbClr val="1A1D23"/>
                </a:solidFill>
                <a:latin typeface="Arial" pitchFamily="34" charset="0"/>
                <a:ea typeface="Arial" pitchFamily="34" charset="-122"/>
                <a:cs typeface="Arial" pitchFamily="34" charset="-120"/>
              </a:rPr>
              <a:t>30% ↓</a:t>
            </a:r>
            <a:endParaRPr lang="en-US" sz="6400" dirty="0"/>
          </a:p>
        </p:txBody>
      </p:sp>
      <p:sp>
        <p:nvSpPr>
          <p:cNvPr id="7" name="Text 5"/>
          <p:cNvSpPr/>
          <p:nvPr/>
        </p:nvSpPr>
        <p:spPr>
          <a:xfrm>
            <a:off x="777240" y="4343400"/>
            <a:ext cx="3200400" cy="365760"/>
          </a:xfrm>
          <a:prstGeom prst="rect">
            <a:avLst/>
          </a:prstGeom>
          <a:noFill/>
          <a:ln/>
        </p:spPr>
        <p:txBody>
          <a:bodyPr wrap="square" rtlCol="0" anchor="ctr"/>
          <a:lstStyle/>
          <a:p>
            <a:pPr indent="0" marL="0">
              <a:buNone/>
            </a:pPr>
            <a:r>
              <a:rPr lang="en-US" sz="1500" b="1" dirty="0">
                <a:solidFill>
                  <a:srgbClr val="1A1D23"/>
                </a:solidFill>
                <a:latin typeface="Arial" pitchFamily="34" charset="0"/>
                <a:ea typeface="Arial" pitchFamily="34" charset="-122"/>
                <a:cs typeface="Arial" pitchFamily="34" charset="-120"/>
              </a:rPr>
              <a:t>Car category TV spend</a:t>
            </a:r>
            <a:endParaRPr lang="en-US" sz="1500" dirty="0"/>
          </a:p>
        </p:txBody>
      </p:sp>
      <p:sp>
        <p:nvSpPr>
          <p:cNvPr id="8" name="Text 6"/>
          <p:cNvSpPr/>
          <p:nvPr/>
        </p:nvSpPr>
        <p:spPr>
          <a:xfrm>
            <a:off x="777240" y="4709160"/>
            <a:ext cx="3200400" cy="502920"/>
          </a:xfrm>
          <a:prstGeom prst="rect">
            <a:avLst/>
          </a:prstGeom>
          <a:noFill/>
          <a:ln/>
        </p:spPr>
        <p:txBody>
          <a:bodyPr wrap="square" rtlCol="0" anchor="ctr"/>
          <a:lstStyle/>
          <a:p>
            <a:pPr indent="0" marL="0">
              <a:buNone/>
            </a:pPr>
            <a:r>
              <a:rPr lang="en-US" sz="1000" dirty="0">
                <a:solidFill>
                  <a:srgbClr val="5A5F6A"/>
                </a:solidFill>
                <a:latin typeface="Arial" pitchFamily="34" charset="0"/>
                <a:ea typeface="Arial" pitchFamily="34" charset="-122"/>
                <a:cs typeface="Arial" pitchFamily="34" charset="-120"/>
              </a:rPr>
              <a:t>Sep–Nov, 2023 vs 2025 (BARC-tracked)</a:t>
            </a:r>
            <a:endParaRPr lang="en-US" sz="1000" dirty="0"/>
          </a:p>
        </p:txBody>
      </p:sp>
      <p:sp>
        <p:nvSpPr>
          <p:cNvPr id="9" name="Shape 7"/>
          <p:cNvSpPr/>
          <p:nvPr/>
        </p:nvSpPr>
        <p:spPr>
          <a:xfrm>
            <a:off x="4343400" y="3108960"/>
            <a:ext cx="3657600" cy="2194560"/>
          </a:xfrm>
          <a:prstGeom prst="roundRect">
            <a:avLst>
              <a:gd name="adj" fmla="val 4167"/>
            </a:avLst>
          </a:prstGeom>
          <a:solidFill>
            <a:srgbClr val="FFFFFF"/>
          </a:solidFill>
          <a:ln w="12700">
            <a:solidFill>
              <a:srgbClr val="E5E1D8"/>
            </a:solidFill>
            <a:prstDash val="solid"/>
          </a:ln>
        </p:spPr>
      </p:sp>
      <p:sp>
        <p:nvSpPr>
          <p:cNvPr id="10" name="Text 8"/>
          <p:cNvSpPr/>
          <p:nvPr/>
        </p:nvSpPr>
        <p:spPr>
          <a:xfrm>
            <a:off x="4526280" y="3246120"/>
            <a:ext cx="3291840" cy="1005840"/>
          </a:xfrm>
          <a:prstGeom prst="rect">
            <a:avLst/>
          </a:prstGeom>
          <a:noFill/>
          <a:ln/>
        </p:spPr>
        <p:txBody>
          <a:bodyPr wrap="square" rtlCol="0" anchor="ctr"/>
          <a:lstStyle/>
          <a:p>
            <a:pPr indent="0" marL="0">
              <a:buNone/>
            </a:pPr>
            <a:r>
              <a:rPr lang="en-US" sz="6400" b="1" spc="-200" kern="0" dirty="0">
                <a:solidFill>
                  <a:srgbClr val="E4002B"/>
                </a:solidFill>
                <a:latin typeface="Arial" pitchFamily="34" charset="0"/>
                <a:ea typeface="Arial" pitchFamily="34" charset="-122"/>
                <a:cs typeface="Arial" pitchFamily="34" charset="-120"/>
              </a:rPr>
              <a:t>3.2× ↑</a:t>
            </a:r>
            <a:endParaRPr lang="en-US" sz="6400" dirty="0"/>
          </a:p>
        </p:txBody>
      </p:sp>
      <p:sp>
        <p:nvSpPr>
          <p:cNvPr id="11" name="Text 9"/>
          <p:cNvSpPr/>
          <p:nvPr/>
        </p:nvSpPr>
        <p:spPr>
          <a:xfrm>
            <a:off x="4572000" y="4343400"/>
            <a:ext cx="3200400" cy="365760"/>
          </a:xfrm>
          <a:prstGeom prst="rect">
            <a:avLst/>
          </a:prstGeom>
          <a:noFill/>
          <a:ln/>
        </p:spPr>
        <p:txBody>
          <a:bodyPr wrap="square" rtlCol="0" anchor="ctr"/>
          <a:lstStyle/>
          <a:p>
            <a:pPr indent="0" marL="0">
              <a:buNone/>
            </a:pPr>
            <a:r>
              <a:rPr lang="en-US" sz="1500" b="1" dirty="0">
                <a:solidFill>
                  <a:srgbClr val="1A1D23"/>
                </a:solidFill>
                <a:latin typeface="Arial" pitchFamily="34" charset="0"/>
                <a:ea typeface="Arial" pitchFamily="34" charset="-122"/>
                <a:cs typeface="Arial" pitchFamily="34" charset="-120"/>
              </a:rPr>
              <a:t>Mahindra's car TV spend</a:t>
            </a:r>
            <a:endParaRPr lang="en-US" sz="1500" dirty="0"/>
          </a:p>
        </p:txBody>
      </p:sp>
      <p:sp>
        <p:nvSpPr>
          <p:cNvPr id="12" name="Text 10"/>
          <p:cNvSpPr/>
          <p:nvPr/>
        </p:nvSpPr>
        <p:spPr>
          <a:xfrm>
            <a:off x="4572000" y="4709160"/>
            <a:ext cx="3200400" cy="502920"/>
          </a:xfrm>
          <a:prstGeom prst="rect">
            <a:avLst/>
          </a:prstGeom>
          <a:noFill/>
          <a:ln/>
        </p:spPr>
        <p:txBody>
          <a:bodyPr wrap="square" rtlCol="0" anchor="ctr"/>
          <a:lstStyle/>
          <a:p>
            <a:pPr indent="0" marL="0">
              <a:buNone/>
            </a:pPr>
            <a:r>
              <a:rPr lang="en-US" sz="1000" dirty="0">
                <a:solidFill>
                  <a:srgbClr val="5A5F6A"/>
                </a:solidFill>
                <a:latin typeface="Arial" pitchFamily="34" charset="0"/>
                <a:ea typeface="Arial" pitchFamily="34" charset="-122"/>
                <a:cs typeface="Arial" pitchFamily="34" charset="-120"/>
              </a:rPr>
              <a:t>Same window. Only major car brand growing on linear.</a:t>
            </a:r>
            <a:endParaRPr lang="en-US" sz="1000" dirty="0"/>
          </a:p>
        </p:txBody>
      </p:sp>
      <p:sp>
        <p:nvSpPr>
          <p:cNvPr id="13" name="Shape 11"/>
          <p:cNvSpPr/>
          <p:nvPr/>
        </p:nvSpPr>
        <p:spPr>
          <a:xfrm>
            <a:off x="8138160" y="3108960"/>
            <a:ext cx="3657600" cy="2194560"/>
          </a:xfrm>
          <a:prstGeom prst="roundRect">
            <a:avLst>
              <a:gd name="adj" fmla="val 4167"/>
            </a:avLst>
          </a:prstGeom>
          <a:solidFill>
            <a:srgbClr val="FFFFFF"/>
          </a:solidFill>
          <a:ln w="12700">
            <a:solidFill>
              <a:srgbClr val="E5E1D8"/>
            </a:solidFill>
            <a:prstDash val="solid"/>
          </a:ln>
        </p:spPr>
      </p:sp>
      <p:sp>
        <p:nvSpPr>
          <p:cNvPr id="14" name="Text 12"/>
          <p:cNvSpPr/>
          <p:nvPr/>
        </p:nvSpPr>
        <p:spPr>
          <a:xfrm>
            <a:off x="8321040" y="3246120"/>
            <a:ext cx="3291840" cy="1005840"/>
          </a:xfrm>
          <a:prstGeom prst="rect">
            <a:avLst/>
          </a:prstGeom>
          <a:noFill/>
          <a:ln/>
        </p:spPr>
        <p:txBody>
          <a:bodyPr wrap="square" rtlCol="0" anchor="ctr"/>
          <a:lstStyle/>
          <a:p>
            <a:pPr indent="0" marL="0">
              <a:buNone/>
            </a:pPr>
            <a:r>
              <a:rPr lang="en-US" sz="6400" b="1" spc="-200" kern="0" dirty="0">
                <a:solidFill>
                  <a:srgbClr val="1A1D23"/>
                </a:solidFill>
                <a:latin typeface="Arial" pitchFamily="34" charset="0"/>
                <a:ea typeface="Arial" pitchFamily="34" charset="-122"/>
                <a:cs typeface="Arial" pitchFamily="34" charset="-120"/>
              </a:rPr>
              <a:t>83%</a:t>
            </a:r>
            <a:endParaRPr lang="en-US" sz="6400" dirty="0"/>
          </a:p>
        </p:txBody>
      </p:sp>
      <p:sp>
        <p:nvSpPr>
          <p:cNvPr id="15" name="Text 13"/>
          <p:cNvSpPr/>
          <p:nvPr/>
        </p:nvSpPr>
        <p:spPr>
          <a:xfrm>
            <a:off x="8366760" y="4343400"/>
            <a:ext cx="3200400" cy="365760"/>
          </a:xfrm>
          <a:prstGeom prst="rect">
            <a:avLst/>
          </a:prstGeom>
          <a:noFill/>
          <a:ln/>
        </p:spPr>
        <p:txBody>
          <a:bodyPr wrap="square" rtlCol="0" anchor="ctr"/>
          <a:lstStyle/>
          <a:p>
            <a:pPr indent="0" marL="0">
              <a:buNone/>
            </a:pPr>
            <a:r>
              <a:rPr lang="en-US" sz="1500" b="1" dirty="0">
                <a:solidFill>
                  <a:srgbClr val="1A1D23"/>
                </a:solidFill>
                <a:latin typeface="Arial" pitchFamily="34" charset="0"/>
                <a:ea typeface="Arial" pitchFamily="34" charset="-122"/>
                <a:cs typeface="Arial" pitchFamily="34" charset="-120"/>
              </a:rPr>
              <a:t>Of that spend is EV</a:t>
            </a:r>
            <a:endParaRPr lang="en-US" sz="1500" dirty="0"/>
          </a:p>
        </p:txBody>
      </p:sp>
      <p:sp>
        <p:nvSpPr>
          <p:cNvPr id="16" name="Text 14"/>
          <p:cNvSpPr/>
          <p:nvPr/>
        </p:nvSpPr>
        <p:spPr>
          <a:xfrm>
            <a:off x="8366760" y="4709160"/>
            <a:ext cx="3200400" cy="502920"/>
          </a:xfrm>
          <a:prstGeom prst="rect">
            <a:avLst/>
          </a:prstGeom>
          <a:noFill/>
          <a:ln/>
        </p:spPr>
        <p:txBody>
          <a:bodyPr wrap="square" rtlCol="0" anchor="ctr"/>
          <a:lstStyle/>
          <a:p>
            <a:pPr indent="0" marL="0">
              <a:buNone/>
            </a:pPr>
            <a:r>
              <a:rPr lang="en-US" sz="1000" dirty="0">
                <a:solidFill>
                  <a:srgbClr val="5A5F6A"/>
                </a:solidFill>
                <a:latin typeface="Arial" pitchFamily="34" charset="0"/>
                <a:ea typeface="Arial" pitchFamily="34" charset="-122"/>
                <a:cs typeface="Arial" pitchFamily="34" charset="-120"/>
              </a:rPr>
              <a:t>BE 6 Pack Two + XEV 9S = 8,402 of 10,071 mins</a:t>
            </a:r>
            <a:endParaRPr lang="en-US" sz="1000" dirty="0"/>
          </a:p>
        </p:txBody>
      </p:sp>
      <p:sp>
        <p:nvSpPr>
          <p:cNvPr id="17" name="Text 15"/>
          <p:cNvSpPr/>
          <p:nvPr/>
        </p:nvSpPr>
        <p:spPr>
          <a:xfrm>
            <a:off x="548640" y="5623560"/>
            <a:ext cx="11064240" cy="320040"/>
          </a:xfrm>
          <a:prstGeom prst="rect">
            <a:avLst/>
          </a:prstGeom>
          <a:noFill/>
          <a:ln/>
        </p:spPr>
        <p:txBody>
          <a:bodyPr wrap="square" rtlCol="0" anchor="ctr"/>
          <a:lstStyle/>
          <a:p>
            <a:pPr indent="0" marL="0">
              <a:buNone/>
            </a:pPr>
            <a:r>
              <a:rPr lang="en-US" sz="1300" dirty="0">
                <a:solidFill>
                  <a:srgbClr val="5A5F6A"/>
                </a:solidFill>
                <a:latin typeface="Arial" pitchFamily="34" charset="0"/>
                <a:ea typeface="Arial" pitchFamily="34" charset="-122"/>
                <a:cs typeface="Arial" pitchFamily="34" charset="-120"/>
              </a:rPr>
              <a:t>Mahindra has already declared EV as the future. The next move isn't to compete louder in the category —</a:t>
            </a:r>
            <a:endParaRPr lang="en-US" sz="1300" dirty="0"/>
          </a:p>
        </p:txBody>
      </p:sp>
      <p:sp>
        <p:nvSpPr>
          <p:cNvPr id="18" name="Text 16"/>
          <p:cNvSpPr/>
          <p:nvPr/>
        </p:nvSpPr>
        <p:spPr>
          <a:xfrm>
            <a:off x="548640" y="5943600"/>
            <a:ext cx="11064240" cy="411480"/>
          </a:xfrm>
          <a:prstGeom prst="rect">
            <a:avLst/>
          </a:prstGeom>
          <a:noFill/>
          <a:ln/>
        </p:spPr>
        <p:txBody>
          <a:bodyPr wrap="square" rtlCol="0" anchor="ctr"/>
          <a:lstStyle/>
          <a:p>
            <a:pPr indent="0" marL="0">
              <a:buNone/>
            </a:pPr>
            <a:r>
              <a:rPr lang="en-US" sz="1800" b="1" dirty="0">
                <a:solidFill>
                  <a:srgbClr val="1A1D23"/>
                </a:solidFill>
                <a:latin typeface="Arial" pitchFamily="34" charset="0"/>
                <a:ea typeface="Arial" pitchFamily="34" charset="-122"/>
                <a:cs typeface="Arial" pitchFamily="34" charset="-120"/>
              </a:rPr>
              <a:t>it's to become the trusted voice OF the category in Hindi India.</a:t>
            </a:r>
            <a:endParaRPr lang="en-US" sz="1800" dirty="0"/>
          </a:p>
        </p:txBody>
      </p:sp>
      <p:sp>
        <p:nvSpPr>
          <p:cNvPr id="19" name="Text 17"/>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5A5F6A"/>
                </a:solidFill>
                <a:latin typeface="Arial" pitchFamily="34" charset="0"/>
                <a:ea typeface="Arial" pitchFamily="34" charset="-122"/>
                <a:cs typeface="Arial" pitchFamily="34" charset="-120"/>
              </a:rPr>
              <a:t>MAHINDRA × VETO   |   CHARGED BHARAT   |   Confidential Proposal</a:t>
            </a:r>
            <a:endParaRPr lang="en-US" sz="800" dirty="0"/>
          </a:p>
        </p:txBody>
      </p:sp>
      <p:sp>
        <p:nvSpPr>
          <p:cNvPr id="20" name="Text 18"/>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1A1D23"/>
                </a:solidFill>
                <a:latin typeface="Arial" pitchFamily="34" charset="0"/>
                <a:ea typeface="Arial" pitchFamily="34" charset="-122"/>
                <a:cs typeface="Arial"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3"/>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rtlCol="0" anchor="ctr"/>
          <a:lstStyle/>
          <a:p>
            <a:pPr indent="0" marL="0">
              <a:buNone/>
            </a:pPr>
            <a:r>
              <a:rPr lang="en-US" sz="1000" b="1" spc="400" kern="0" dirty="0">
                <a:solidFill>
                  <a:srgbClr val="D4A017"/>
                </a:solidFill>
                <a:latin typeface="Arial" pitchFamily="34" charset="0"/>
                <a:ea typeface="Arial" pitchFamily="34" charset="-122"/>
                <a:cs typeface="Arial" pitchFamily="34" charset="-120"/>
              </a:rPr>
              <a:t>03  /  THE PROPOSITION</a:t>
            </a:r>
            <a:endParaRPr lang="en-US" sz="1000" dirty="0"/>
          </a:p>
        </p:txBody>
      </p:sp>
      <p:sp>
        <p:nvSpPr>
          <p:cNvPr id="3" name="Text 1"/>
          <p:cNvSpPr/>
          <p:nvPr/>
        </p:nvSpPr>
        <p:spPr>
          <a:xfrm>
            <a:off x="548640" y="914400"/>
            <a:ext cx="10972800" cy="457200"/>
          </a:xfrm>
          <a:prstGeom prst="rect">
            <a:avLst/>
          </a:prstGeom>
          <a:noFill/>
          <a:ln/>
        </p:spPr>
        <p:txBody>
          <a:bodyPr wrap="square" rtlCol="0" anchor="ctr"/>
          <a:lstStyle/>
          <a:p>
            <a:pPr indent="0" marL="0">
              <a:buNone/>
            </a:pPr>
            <a:r>
              <a:rPr lang="en-US" sz="2200" i="1" dirty="0">
                <a:solidFill>
                  <a:srgbClr val="B8BDC7"/>
                </a:solidFill>
                <a:latin typeface="Cambria" pitchFamily="34" charset="0"/>
                <a:ea typeface="Cambria" pitchFamily="34" charset="-122"/>
                <a:cs typeface="Cambria" pitchFamily="34" charset="-120"/>
              </a:rPr>
              <a:t>Introducing</a:t>
            </a:r>
            <a:endParaRPr lang="en-US" sz="2200" dirty="0"/>
          </a:p>
        </p:txBody>
      </p:sp>
      <p:sp>
        <p:nvSpPr>
          <p:cNvPr id="4" name="Text 2"/>
          <p:cNvSpPr/>
          <p:nvPr/>
        </p:nvSpPr>
        <p:spPr>
          <a:xfrm>
            <a:off x="457200" y="1417320"/>
            <a:ext cx="11430000" cy="1371600"/>
          </a:xfrm>
          <a:prstGeom prst="rect">
            <a:avLst/>
          </a:prstGeom>
          <a:noFill/>
          <a:ln/>
        </p:spPr>
        <p:txBody>
          <a:bodyPr wrap="square" rtlCol="0" anchor="ctr"/>
          <a:lstStyle/>
          <a:p>
            <a:pPr indent="0" marL="0">
              <a:buNone/>
            </a:pPr>
            <a:r>
              <a:rPr lang="en-US" sz="9600" b="1" spc="-300" kern="0" dirty="0">
                <a:solidFill>
                  <a:srgbClr val="FFFFFF"/>
                </a:solidFill>
                <a:latin typeface="Arial" pitchFamily="34" charset="0"/>
                <a:ea typeface="Arial" pitchFamily="34" charset="-122"/>
                <a:cs typeface="Arial" pitchFamily="34" charset="-120"/>
              </a:rPr>
              <a:t>CHARGED</a:t>
            </a:r>
            <a:endParaRPr lang="en-US" sz="9600" dirty="0"/>
          </a:p>
        </p:txBody>
      </p:sp>
      <p:sp>
        <p:nvSpPr>
          <p:cNvPr id="5" name="Text 3"/>
          <p:cNvSpPr/>
          <p:nvPr/>
        </p:nvSpPr>
        <p:spPr>
          <a:xfrm>
            <a:off x="457200" y="2606040"/>
            <a:ext cx="11430000" cy="1371600"/>
          </a:xfrm>
          <a:prstGeom prst="rect">
            <a:avLst/>
          </a:prstGeom>
          <a:noFill/>
          <a:ln/>
        </p:spPr>
        <p:txBody>
          <a:bodyPr wrap="square" rtlCol="0" anchor="ctr"/>
          <a:lstStyle/>
          <a:p>
            <a:pPr indent="0" marL="0">
              <a:buNone/>
            </a:pPr>
            <a:r>
              <a:rPr lang="en-US" sz="9600" b="1" spc="-300" kern="0" dirty="0">
                <a:solidFill>
                  <a:srgbClr val="E4002B"/>
                </a:solidFill>
                <a:latin typeface="Arial" pitchFamily="34" charset="0"/>
                <a:ea typeface="Arial" pitchFamily="34" charset="-122"/>
                <a:cs typeface="Arial" pitchFamily="34" charset="-120"/>
              </a:rPr>
              <a:t>BHARAT.</a:t>
            </a:r>
            <a:endParaRPr lang="en-US" sz="9600" dirty="0"/>
          </a:p>
        </p:txBody>
      </p:sp>
      <p:sp>
        <p:nvSpPr>
          <p:cNvPr id="6" name="Shape 4"/>
          <p:cNvSpPr/>
          <p:nvPr/>
        </p:nvSpPr>
        <p:spPr>
          <a:xfrm>
            <a:off x="548640" y="4069080"/>
            <a:ext cx="1371600" cy="36576"/>
          </a:xfrm>
          <a:prstGeom prst="rect">
            <a:avLst/>
          </a:prstGeom>
          <a:solidFill>
            <a:srgbClr val="D4A017"/>
          </a:solidFill>
          <a:ln/>
        </p:spPr>
      </p:sp>
      <p:sp>
        <p:nvSpPr>
          <p:cNvPr id="7" name="Text 5"/>
          <p:cNvSpPr/>
          <p:nvPr/>
        </p:nvSpPr>
        <p:spPr>
          <a:xfrm>
            <a:off x="548640" y="4251960"/>
            <a:ext cx="11064240" cy="411480"/>
          </a:xfrm>
          <a:prstGeom prst="rect">
            <a:avLst/>
          </a:prstGeom>
          <a:noFill/>
          <a:ln/>
        </p:spPr>
        <p:txBody>
          <a:bodyPr wrap="square" rtlCol="0" anchor="ctr"/>
          <a:lstStyle/>
          <a:p>
            <a:pPr indent="0" marL="0">
              <a:buNone/>
            </a:pPr>
            <a:r>
              <a:rPr lang="en-US" sz="2000" dirty="0">
                <a:solidFill>
                  <a:srgbClr val="FFFFFF"/>
                </a:solidFill>
                <a:latin typeface="Arial" pitchFamily="34" charset="0"/>
                <a:ea typeface="Arial" pitchFamily="34" charset="-122"/>
                <a:cs typeface="Arial" pitchFamily="34" charset="-120"/>
              </a:rPr>
              <a:t>12 episodes. 12 Hindi India routes. Every EV objection tested on camera —</a:t>
            </a:r>
            <a:endParaRPr lang="en-US" sz="2000" dirty="0"/>
          </a:p>
        </p:txBody>
      </p:sp>
      <p:sp>
        <p:nvSpPr>
          <p:cNvPr id="8" name="Text 6"/>
          <p:cNvSpPr/>
          <p:nvPr/>
        </p:nvSpPr>
        <p:spPr>
          <a:xfrm>
            <a:off x="548640" y="4663440"/>
            <a:ext cx="1106424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by an India TV journalist, driving a Mahindra.</a:t>
            </a:r>
            <a:endParaRPr lang="en-US" sz="2000" dirty="0"/>
          </a:p>
        </p:txBody>
      </p:sp>
      <p:sp>
        <p:nvSpPr>
          <p:cNvPr id="9" name="Shape 7"/>
          <p:cNvSpPr/>
          <p:nvPr/>
        </p:nvSpPr>
        <p:spPr>
          <a:xfrm>
            <a:off x="548640" y="5577840"/>
            <a:ext cx="5120640" cy="640080"/>
          </a:xfrm>
          <a:prstGeom prst="roundRect">
            <a:avLst>
              <a:gd name="adj" fmla="val 11429"/>
            </a:avLst>
          </a:prstGeom>
          <a:solidFill>
            <a:srgbClr val="E4002B"/>
          </a:solidFill>
          <a:ln/>
        </p:spPr>
      </p:sp>
      <p:sp>
        <p:nvSpPr>
          <p:cNvPr id="10" name="Text 8"/>
          <p:cNvSpPr/>
          <p:nvPr/>
        </p:nvSpPr>
        <p:spPr>
          <a:xfrm>
            <a:off x="548640" y="5577840"/>
            <a:ext cx="5120640" cy="640080"/>
          </a:xfrm>
          <a:prstGeom prst="rect">
            <a:avLst/>
          </a:prstGeom>
          <a:noFill/>
          <a:ln/>
        </p:spPr>
        <p:txBody>
          <a:bodyPr wrap="square" rtlCol="0" anchor="ctr"/>
          <a:lstStyle/>
          <a:p>
            <a:pPr algn="ctr" indent="0" marL="0">
              <a:buNone/>
            </a:pPr>
            <a:r>
              <a:rPr lang="en-US" sz="1600" b="1" spc="300" kern="0" dirty="0">
                <a:solidFill>
                  <a:srgbClr val="FFFFFF"/>
                </a:solidFill>
                <a:latin typeface="Arial" pitchFamily="34" charset="0"/>
                <a:ea typeface="Arial" pitchFamily="34" charset="-122"/>
                <a:cs typeface="Arial" pitchFamily="34" charset="-120"/>
              </a:rPr>
              <a:t>EV KA SACH.  MAHINDRA KE SAATH.</a:t>
            </a:r>
            <a:endParaRPr lang="en-US" sz="1600" dirty="0"/>
          </a:p>
        </p:txBody>
      </p:sp>
      <p:sp>
        <p:nvSpPr>
          <p:cNvPr id="11" name="Text 9"/>
          <p:cNvSpPr/>
          <p:nvPr/>
        </p:nvSpPr>
        <p:spPr>
          <a:xfrm>
            <a:off x="6858000" y="5577840"/>
            <a:ext cx="4846320" cy="274320"/>
          </a:xfrm>
          <a:prstGeom prst="rect">
            <a:avLst/>
          </a:prstGeom>
          <a:noFill/>
          <a:ln/>
        </p:spPr>
        <p:txBody>
          <a:bodyPr wrap="square" rtlCol="0" anchor="ctr"/>
          <a:lstStyle/>
          <a:p>
            <a:pPr indent="0" marL="0">
              <a:buNone/>
            </a:pPr>
            <a:r>
              <a:rPr lang="en-US" sz="1300" i="1" dirty="0">
                <a:solidFill>
                  <a:srgbClr val="D4A017"/>
                </a:solidFill>
                <a:latin typeface="Arial" pitchFamily="34" charset="0"/>
                <a:ea typeface="Arial" pitchFamily="34" charset="-122"/>
                <a:cs typeface="Arial" pitchFamily="34" charset="-120"/>
              </a:rPr>
              <a:t>Not a car ad.</a:t>
            </a:r>
            <a:endParaRPr lang="en-US" sz="1300" dirty="0"/>
          </a:p>
        </p:txBody>
      </p:sp>
      <p:sp>
        <p:nvSpPr>
          <p:cNvPr id="12" name="Text 10"/>
          <p:cNvSpPr/>
          <p:nvPr/>
        </p:nvSpPr>
        <p:spPr>
          <a:xfrm>
            <a:off x="6858000" y="5852160"/>
            <a:ext cx="484632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A credibility franchise.</a:t>
            </a:r>
            <a:endParaRPr lang="en-US" sz="2000" dirty="0"/>
          </a:p>
        </p:txBody>
      </p:sp>
      <p:sp>
        <p:nvSpPr>
          <p:cNvPr id="13" name="Text 11"/>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8A8F9A"/>
                </a:solidFill>
                <a:latin typeface="Arial" pitchFamily="34" charset="0"/>
                <a:ea typeface="Arial" pitchFamily="34" charset="-122"/>
                <a:cs typeface="Arial" pitchFamily="34" charset="-120"/>
              </a:rPr>
              <a:t>MAHINDRA × VETO   |   CHARGED BHARAT   |   Confidential Proposal</a:t>
            </a:r>
            <a:endParaRPr lang="en-US" sz="800" dirty="0"/>
          </a:p>
        </p:txBody>
      </p:sp>
      <p:sp>
        <p:nvSpPr>
          <p:cNvPr id="14" name="Text 12"/>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rtlCol="0" anchor="ctr"/>
          <a:lstStyle/>
          <a:p>
            <a:pPr indent="0" marL="0">
              <a:buNone/>
            </a:pPr>
            <a:r>
              <a:rPr lang="en-US" sz="1000" b="1" spc="400" kern="0" dirty="0">
                <a:solidFill>
                  <a:srgbClr val="E4002B"/>
                </a:solidFill>
                <a:latin typeface="Arial" pitchFamily="34" charset="0"/>
                <a:ea typeface="Arial" pitchFamily="34" charset="-122"/>
                <a:cs typeface="Arial" pitchFamily="34" charset="-120"/>
              </a:rPr>
              <a:t>04  /  THE FORMAT</a:t>
            </a:r>
            <a:endParaRPr lang="en-US" sz="1000" dirty="0"/>
          </a:p>
        </p:txBody>
      </p:sp>
      <p:sp>
        <p:nvSpPr>
          <p:cNvPr id="3" name="Text 1"/>
          <p:cNvSpPr/>
          <p:nvPr/>
        </p:nvSpPr>
        <p:spPr>
          <a:xfrm>
            <a:off x="548640" y="914400"/>
            <a:ext cx="10972800" cy="640080"/>
          </a:xfrm>
          <a:prstGeom prst="rect">
            <a:avLst/>
          </a:prstGeom>
          <a:noFill/>
          <a:ln/>
        </p:spPr>
        <p:txBody>
          <a:bodyPr wrap="square" rtlCol="0" anchor="ctr"/>
          <a:lstStyle/>
          <a:p>
            <a:pPr indent="0" marL="0">
              <a:buNone/>
            </a:pPr>
            <a:r>
              <a:rPr lang="en-US" sz="3400" b="1" dirty="0">
                <a:solidFill>
                  <a:srgbClr val="1A1D23"/>
                </a:solidFill>
                <a:latin typeface="Arial" pitchFamily="34" charset="0"/>
                <a:ea typeface="Arial" pitchFamily="34" charset="-122"/>
                <a:cs typeface="Arial" pitchFamily="34" charset="-120"/>
              </a:rPr>
              <a:t>How the show works.</a:t>
            </a:r>
            <a:endParaRPr lang="en-US" sz="3400" dirty="0"/>
          </a:p>
        </p:txBody>
      </p:sp>
      <p:sp>
        <p:nvSpPr>
          <p:cNvPr id="4" name="Shape 2"/>
          <p:cNvSpPr/>
          <p:nvPr/>
        </p:nvSpPr>
        <p:spPr>
          <a:xfrm>
            <a:off x="548640" y="1828800"/>
            <a:ext cx="5440680" cy="2148840"/>
          </a:xfrm>
          <a:prstGeom prst="roundRect">
            <a:avLst>
              <a:gd name="adj" fmla="val 3404"/>
            </a:avLst>
          </a:prstGeom>
          <a:solidFill>
            <a:srgbClr val="FFFFFF"/>
          </a:solidFill>
          <a:ln w="12700">
            <a:solidFill>
              <a:srgbClr val="E5E1D8"/>
            </a:solidFill>
            <a:prstDash val="solid"/>
          </a:ln>
        </p:spPr>
      </p:sp>
      <p:sp>
        <p:nvSpPr>
          <p:cNvPr id="5" name="Shape 3"/>
          <p:cNvSpPr/>
          <p:nvPr/>
        </p:nvSpPr>
        <p:spPr>
          <a:xfrm>
            <a:off x="822960" y="2103120"/>
            <a:ext cx="228600" cy="36576"/>
          </a:xfrm>
          <a:prstGeom prst="rect">
            <a:avLst/>
          </a:prstGeom>
          <a:solidFill>
            <a:srgbClr val="E4002B"/>
          </a:solidFill>
          <a:ln/>
        </p:spPr>
      </p:sp>
      <p:sp>
        <p:nvSpPr>
          <p:cNvPr id="6" name="Text 4"/>
          <p:cNvSpPr/>
          <p:nvPr/>
        </p:nvSpPr>
        <p:spPr>
          <a:xfrm>
            <a:off x="822960" y="2194560"/>
            <a:ext cx="4892040" cy="365760"/>
          </a:xfrm>
          <a:prstGeom prst="rect">
            <a:avLst/>
          </a:prstGeom>
          <a:noFill/>
          <a:ln/>
        </p:spPr>
        <p:txBody>
          <a:bodyPr wrap="square" rtlCol="0" anchor="ctr"/>
          <a:lstStyle/>
          <a:p>
            <a:pPr indent="0" marL="0">
              <a:buNone/>
            </a:pPr>
            <a:r>
              <a:rPr lang="en-US" sz="1200" b="1" spc="300" kern="0" dirty="0">
                <a:solidFill>
                  <a:srgbClr val="E4002B"/>
                </a:solidFill>
                <a:latin typeface="Arial" pitchFamily="34" charset="0"/>
                <a:ea typeface="Arial" pitchFamily="34" charset="-122"/>
                <a:cs typeface="Arial" pitchFamily="34" charset="-120"/>
              </a:rPr>
              <a:t>EPISODE STRUCTURE</a:t>
            </a:r>
            <a:endParaRPr lang="en-US" sz="1200" dirty="0"/>
          </a:p>
        </p:txBody>
      </p:sp>
      <p:sp>
        <p:nvSpPr>
          <p:cNvPr id="7" name="Text 5"/>
          <p:cNvSpPr/>
          <p:nvPr/>
        </p:nvSpPr>
        <p:spPr>
          <a:xfrm>
            <a:off x="822960" y="2606040"/>
            <a:ext cx="4892040" cy="960120"/>
          </a:xfrm>
          <a:prstGeom prst="rect">
            <a:avLst/>
          </a:prstGeom>
          <a:noFill/>
          <a:ln/>
        </p:spPr>
        <p:txBody>
          <a:bodyPr wrap="square" rtlCol="0" anchor="ctr"/>
          <a:lstStyle/>
          <a:p>
            <a:pPr indent="0" marL="0">
              <a:buNone/>
            </a:pPr>
            <a:r>
              <a:rPr lang="en-US" sz="1200" dirty="0">
                <a:solidFill>
                  <a:srgbClr val="1A1D23"/>
                </a:solidFill>
                <a:latin typeface="Arial" pitchFamily="34" charset="0"/>
                <a:ea typeface="Arial" pitchFamily="34" charset="-122"/>
                <a:cs typeface="Arial" pitchFamily="34" charset="-120"/>
              </a:rPr>
              <a:t>One Hindi India route. One EV objection tested. One first-time owner featured. One proof point delivered on camera.</a:t>
            </a:r>
            <a:endParaRPr lang="en-US" sz="1200" dirty="0"/>
          </a:p>
        </p:txBody>
      </p:sp>
      <p:sp>
        <p:nvSpPr>
          <p:cNvPr id="8" name="Text 6"/>
          <p:cNvSpPr/>
          <p:nvPr/>
        </p:nvSpPr>
        <p:spPr>
          <a:xfrm>
            <a:off x="822960" y="3566160"/>
            <a:ext cx="4892040" cy="365760"/>
          </a:xfrm>
          <a:prstGeom prst="rect">
            <a:avLst/>
          </a:prstGeom>
          <a:noFill/>
          <a:ln/>
        </p:spPr>
        <p:txBody>
          <a:bodyPr wrap="square" rtlCol="0" anchor="ctr"/>
          <a:lstStyle/>
          <a:p>
            <a:pPr indent="0" marL="0">
              <a:buNone/>
            </a:pPr>
            <a:r>
              <a:rPr lang="en-US" sz="1000" i="1" dirty="0">
                <a:solidFill>
                  <a:srgbClr val="5A5F6A"/>
                </a:solidFill>
                <a:latin typeface="Cambria" pitchFamily="34" charset="0"/>
                <a:ea typeface="Cambria" pitchFamily="34" charset="-122"/>
                <a:cs typeface="Cambria" pitchFamily="34" charset="-120"/>
              </a:rPr>
              <a:t>e.g. Delhi → Lucknow: highway charging reality with a 6-month-old BE 6 owner from Kanpur.</a:t>
            </a:r>
            <a:endParaRPr lang="en-US" sz="1000" dirty="0"/>
          </a:p>
        </p:txBody>
      </p:sp>
      <p:sp>
        <p:nvSpPr>
          <p:cNvPr id="9" name="Shape 7"/>
          <p:cNvSpPr/>
          <p:nvPr/>
        </p:nvSpPr>
        <p:spPr>
          <a:xfrm>
            <a:off x="6172200" y="1828800"/>
            <a:ext cx="5440680" cy="2148840"/>
          </a:xfrm>
          <a:prstGeom prst="roundRect">
            <a:avLst>
              <a:gd name="adj" fmla="val 3404"/>
            </a:avLst>
          </a:prstGeom>
          <a:solidFill>
            <a:srgbClr val="FFFFFF"/>
          </a:solidFill>
          <a:ln w="12700">
            <a:solidFill>
              <a:srgbClr val="E5E1D8"/>
            </a:solidFill>
            <a:prstDash val="solid"/>
          </a:ln>
        </p:spPr>
      </p:sp>
      <p:sp>
        <p:nvSpPr>
          <p:cNvPr id="10" name="Shape 8"/>
          <p:cNvSpPr/>
          <p:nvPr/>
        </p:nvSpPr>
        <p:spPr>
          <a:xfrm>
            <a:off x="6446520" y="2103120"/>
            <a:ext cx="228600" cy="36576"/>
          </a:xfrm>
          <a:prstGeom prst="rect">
            <a:avLst/>
          </a:prstGeom>
          <a:solidFill>
            <a:srgbClr val="E4002B"/>
          </a:solidFill>
          <a:ln/>
        </p:spPr>
      </p:sp>
      <p:sp>
        <p:nvSpPr>
          <p:cNvPr id="11" name="Text 9"/>
          <p:cNvSpPr/>
          <p:nvPr/>
        </p:nvSpPr>
        <p:spPr>
          <a:xfrm>
            <a:off x="6446520" y="2194560"/>
            <a:ext cx="4892040" cy="365760"/>
          </a:xfrm>
          <a:prstGeom prst="rect">
            <a:avLst/>
          </a:prstGeom>
          <a:noFill/>
          <a:ln/>
        </p:spPr>
        <p:txBody>
          <a:bodyPr wrap="square" rtlCol="0" anchor="ctr"/>
          <a:lstStyle/>
          <a:p>
            <a:pPr indent="0" marL="0">
              <a:buNone/>
            </a:pPr>
            <a:r>
              <a:rPr lang="en-US" sz="1200" b="1" spc="300" kern="0" dirty="0">
                <a:solidFill>
                  <a:srgbClr val="E4002B"/>
                </a:solidFill>
                <a:latin typeface="Arial" pitchFamily="34" charset="0"/>
                <a:ea typeface="Arial" pitchFamily="34" charset="-122"/>
                <a:cs typeface="Arial" pitchFamily="34" charset="-120"/>
              </a:rPr>
              <a:t>FORMAT &amp; LENGTH</a:t>
            </a:r>
            <a:endParaRPr lang="en-US" sz="1200" dirty="0"/>
          </a:p>
        </p:txBody>
      </p:sp>
      <p:sp>
        <p:nvSpPr>
          <p:cNvPr id="12" name="Text 10"/>
          <p:cNvSpPr/>
          <p:nvPr/>
        </p:nvSpPr>
        <p:spPr>
          <a:xfrm>
            <a:off x="6446520" y="2606040"/>
            <a:ext cx="4892040" cy="960120"/>
          </a:xfrm>
          <a:prstGeom prst="rect">
            <a:avLst/>
          </a:prstGeom>
          <a:noFill/>
          <a:ln/>
        </p:spPr>
        <p:txBody>
          <a:bodyPr wrap="square" rtlCol="0" anchor="ctr"/>
          <a:lstStyle/>
          <a:p>
            <a:pPr indent="0" marL="0">
              <a:buNone/>
            </a:pPr>
            <a:r>
              <a:rPr lang="en-US" sz="1200" dirty="0">
                <a:solidFill>
                  <a:srgbClr val="1A1D23"/>
                </a:solidFill>
                <a:latin typeface="Arial" pitchFamily="34" charset="0"/>
                <a:ea typeface="Arial" pitchFamily="34" charset="-122"/>
                <a:cs typeface="Arial" pitchFamily="34" charset="-120"/>
              </a:rPr>
              <a:t>22–24 min main episode. 60-second TV capsules for news channels. 15-second social units. One "director's cut" long-form per episode for VETO deep viewers.</a:t>
            </a:r>
            <a:endParaRPr lang="en-US" sz="1200" dirty="0"/>
          </a:p>
        </p:txBody>
      </p:sp>
      <p:sp>
        <p:nvSpPr>
          <p:cNvPr id="13" name="Text 11"/>
          <p:cNvSpPr/>
          <p:nvPr/>
        </p:nvSpPr>
        <p:spPr>
          <a:xfrm>
            <a:off x="6446520" y="3566160"/>
            <a:ext cx="4892040" cy="365760"/>
          </a:xfrm>
          <a:prstGeom prst="rect">
            <a:avLst/>
          </a:prstGeom>
          <a:noFill/>
          <a:ln/>
        </p:spPr>
        <p:txBody>
          <a:bodyPr wrap="square" rtlCol="0" anchor="ctr"/>
          <a:lstStyle/>
          <a:p>
            <a:pPr indent="0" marL="0">
              <a:buNone/>
            </a:pPr>
            <a:r>
              <a:rPr lang="en-US" sz="1000" i="1" dirty="0">
                <a:solidFill>
                  <a:srgbClr val="5A5F6A"/>
                </a:solidFill>
                <a:latin typeface="Cambria" pitchFamily="34" charset="0"/>
                <a:ea typeface="Cambria" pitchFamily="34" charset="-122"/>
                <a:cs typeface="Cambria" pitchFamily="34" charset="-120"/>
              </a:rPr>
              <a:t>Multi-format from day one — not repurposed later.</a:t>
            </a:r>
            <a:endParaRPr lang="en-US" sz="1000" dirty="0"/>
          </a:p>
        </p:txBody>
      </p:sp>
      <p:sp>
        <p:nvSpPr>
          <p:cNvPr id="14" name="Shape 12"/>
          <p:cNvSpPr/>
          <p:nvPr/>
        </p:nvSpPr>
        <p:spPr>
          <a:xfrm>
            <a:off x="548640" y="4160520"/>
            <a:ext cx="5440680" cy="2148840"/>
          </a:xfrm>
          <a:prstGeom prst="roundRect">
            <a:avLst>
              <a:gd name="adj" fmla="val 3404"/>
            </a:avLst>
          </a:prstGeom>
          <a:solidFill>
            <a:srgbClr val="FFFFFF"/>
          </a:solidFill>
          <a:ln w="12700">
            <a:solidFill>
              <a:srgbClr val="E5E1D8"/>
            </a:solidFill>
            <a:prstDash val="solid"/>
          </a:ln>
        </p:spPr>
      </p:sp>
      <p:sp>
        <p:nvSpPr>
          <p:cNvPr id="15" name="Shape 13"/>
          <p:cNvSpPr/>
          <p:nvPr/>
        </p:nvSpPr>
        <p:spPr>
          <a:xfrm>
            <a:off x="822960" y="4434840"/>
            <a:ext cx="228600" cy="36576"/>
          </a:xfrm>
          <a:prstGeom prst="rect">
            <a:avLst/>
          </a:prstGeom>
          <a:solidFill>
            <a:srgbClr val="E4002B"/>
          </a:solidFill>
          <a:ln/>
        </p:spPr>
      </p:sp>
      <p:sp>
        <p:nvSpPr>
          <p:cNvPr id="16" name="Text 14"/>
          <p:cNvSpPr/>
          <p:nvPr/>
        </p:nvSpPr>
        <p:spPr>
          <a:xfrm>
            <a:off x="822960" y="4526280"/>
            <a:ext cx="4892040" cy="365760"/>
          </a:xfrm>
          <a:prstGeom prst="rect">
            <a:avLst/>
          </a:prstGeom>
          <a:noFill/>
          <a:ln/>
        </p:spPr>
        <p:txBody>
          <a:bodyPr wrap="square" rtlCol="0" anchor="ctr"/>
          <a:lstStyle/>
          <a:p>
            <a:pPr indent="0" marL="0">
              <a:buNone/>
            </a:pPr>
            <a:r>
              <a:rPr lang="en-US" sz="1200" b="1" spc="300" kern="0" dirty="0">
                <a:solidFill>
                  <a:srgbClr val="E4002B"/>
                </a:solidFill>
                <a:latin typeface="Arial" pitchFamily="34" charset="0"/>
                <a:ea typeface="Arial" pitchFamily="34" charset="-122"/>
                <a:cs typeface="Arial" pitchFamily="34" charset="-120"/>
              </a:rPr>
              <a:t>CAST</a:t>
            </a:r>
            <a:endParaRPr lang="en-US" sz="1200" dirty="0"/>
          </a:p>
        </p:txBody>
      </p:sp>
      <p:sp>
        <p:nvSpPr>
          <p:cNvPr id="17" name="Text 15"/>
          <p:cNvSpPr/>
          <p:nvPr/>
        </p:nvSpPr>
        <p:spPr>
          <a:xfrm>
            <a:off x="822960" y="4937760"/>
            <a:ext cx="4892040" cy="960120"/>
          </a:xfrm>
          <a:prstGeom prst="rect">
            <a:avLst/>
          </a:prstGeom>
          <a:noFill/>
          <a:ln/>
        </p:spPr>
        <p:txBody>
          <a:bodyPr wrap="square" rtlCol="0" anchor="ctr"/>
          <a:lstStyle/>
          <a:p>
            <a:pPr indent="0" marL="0">
              <a:buNone/>
            </a:pPr>
            <a:r>
              <a:rPr lang="en-US" sz="1200" dirty="0">
                <a:solidFill>
                  <a:srgbClr val="1A1D23"/>
                </a:solidFill>
                <a:latin typeface="Arial" pitchFamily="34" charset="0"/>
                <a:ea typeface="Arial" pitchFamily="34" charset="-122"/>
                <a:cs typeface="Arial" pitchFamily="34" charset="-120"/>
              </a:rPr>
              <a:t>A senior India TV journalist as host. Rotating experts — mechanics, first-time owners, charging infrastructure specialists. Mahindra engineers appear as subject experts, not brand voices.</a:t>
            </a:r>
            <a:endParaRPr lang="en-US" sz="1200" dirty="0"/>
          </a:p>
        </p:txBody>
      </p:sp>
      <p:sp>
        <p:nvSpPr>
          <p:cNvPr id="18" name="Text 16"/>
          <p:cNvSpPr/>
          <p:nvPr/>
        </p:nvSpPr>
        <p:spPr>
          <a:xfrm>
            <a:off x="822960" y="5897880"/>
            <a:ext cx="4892040" cy="365760"/>
          </a:xfrm>
          <a:prstGeom prst="rect">
            <a:avLst/>
          </a:prstGeom>
          <a:noFill/>
          <a:ln/>
        </p:spPr>
        <p:txBody>
          <a:bodyPr wrap="square" rtlCol="0" anchor="ctr"/>
          <a:lstStyle/>
          <a:p>
            <a:pPr indent="0" marL="0">
              <a:buNone/>
            </a:pPr>
            <a:r>
              <a:rPr lang="en-US" sz="1000" i="1" dirty="0">
                <a:solidFill>
                  <a:srgbClr val="5A5F6A"/>
                </a:solidFill>
                <a:latin typeface="Cambria" pitchFamily="34" charset="0"/>
                <a:ea typeface="Cambria" pitchFamily="34" charset="-122"/>
                <a:cs typeface="Cambria" pitchFamily="34" charset="-120"/>
              </a:rPr>
              <a:t>Newsroom credibility, not brand-film gloss.</a:t>
            </a:r>
            <a:endParaRPr lang="en-US" sz="1000" dirty="0"/>
          </a:p>
        </p:txBody>
      </p:sp>
      <p:sp>
        <p:nvSpPr>
          <p:cNvPr id="19" name="Shape 17"/>
          <p:cNvSpPr/>
          <p:nvPr/>
        </p:nvSpPr>
        <p:spPr>
          <a:xfrm>
            <a:off x="6172200" y="4160520"/>
            <a:ext cx="5440680" cy="2148840"/>
          </a:xfrm>
          <a:prstGeom prst="roundRect">
            <a:avLst>
              <a:gd name="adj" fmla="val 3404"/>
            </a:avLst>
          </a:prstGeom>
          <a:solidFill>
            <a:srgbClr val="FFFFFF"/>
          </a:solidFill>
          <a:ln w="12700">
            <a:solidFill>
              <a:srgbClr val="E5E1D8"/>
            </a:solidFill>
            <a:prstDash val="solid"/>
          </a:ln>
        </p:spPr>
      </p:sp>
      <p:sp>
        <p:nvSpPr>
          <p:cNvPr id="20" name="Shape 18"/>
          <p:cNvSpPr/>
          <p:nvPr/>
        </p:nvSpPr>
        <p:spPr>
          <a:xfrm>
            <a:off x="6446520" y="4434840"/>
            <a:ext cx="228600" cy="36576"/>
          </a:xfrm>
          <a:prstGeom prst="rect">
            <a:avLst/>
          </a:prstGeom>
          <a:solidFill>
            <a:srgbClr val="E4002B"/>
          </a:solidFill>
          <a:ln/>
        </p:spPr>
      </p:sp>
      <p:sp>
        <p:nvSpPr>
          <p:cNvPr id="21" name="Text 19"/>
          <p:cNvSpPr/>
          <p:nvPr/>
        </p:nvSpPr>
        <p:spPr>
          <a:xfrm>
            <a:off x="6446520" y="4526280"/>
            <a:ext cx="4892040" cy="365760"/>
          </a:xfrm>
          <a:prstGeom prst="rect">
            <a:avLst/>
          </a:prstGeom>
          <a:noFill/>
          <a:ln/>
        </p:spPr>
        <p:txBody>
          <a:bodyPr wrap="square" rtlCol="0" anchor="ctr"/>
          <a:lstStyle/>
          <a:p>
            <a:pPr indent="0" marL="0">
              <a:buNone/>
            </a:pPr>
            <a:r>
              <a:rPr lang="en-US" sz="1200" b="1" spc="300" kern="0" dirty="0">
                <a:solidFill>
                  <a:srgbClr val="E4002B"/>
                </a:solidFill>
                <a:latin typeface="Arial" pitchFamily="34" charset="0"/>
                <a:ea typeface="Arial" pitchFamily="34" charset="-122"/>
                <a:cs typeface="Arial" pitchFamily="34" charset="-120"/>
              </a:rPr>
              <a:t>ROUTES (SEASON 1)</a:t>
            </a:r>
            <a:endParaRPr lang="en-US" sz="1200" dirty="0"/>
          </a:p>
        </p:txBody>
      </p:sp>
      <p:sp>
        <p:nvSpPr>
          <p:cNvPr id="22" name="Text 20"/>
          <p:cNvSpPr/>
          <p:nvPr/>
        </p:nvSpPr>
        <p:spPr>
          <a:xfrm>
            <a:off x="6446520" y="4937760"/>
            <a:ext cx="4892040" cy="960120"/>
          </a:xfrm>
          <a:prstGeom prst="rect">
            <a:avLst/>
          </a:prstGeom>
          <a:noFill/>
          <a:ln/>
        </p:spPr>
        <p:txBody>
          <a:bodyPr wrap="square" rtlCol="0" anchor="ctr"/>
          <a:lstStyle/>
          <a:p>
            <a:pPr indent="0" marL="0">
              <a:buNone/>
            </a:pPr>
            <a:r>
              <a:rPr lang="en-US" sz="1200" dirty="0">
                <a:solidFill>
                  <a:srgbClr val="1A1D23"/>
                </a:solidFill>
                <a:latin typeface="Arial" pitchFamily="34" charset="0"/>
                <a:ea typeface="Arial" pitchFamily="34" charset="-122"/>
                <a:cs typeface="Arial" pitchFamily="34" charset="-120"/>
              </a:rPr>
              <a:t>Delhi–Lucknow. Bhopal–Indore. Patna–Bodhgaya. Chandigarh–Manali. Jaipur–Udaipur. Varanasi–Ayodhya. Ahmedabad–Kutch. Ranchi–Jamshedpur. Nagpur–Amravati. Kanpur–Prayagraj. Dehradun–Mussoorie. Kolkata–Digha.</a:t>
            </a:r>
            <a:endParaRPr lang="en-US" sz="1200" dirty="0"/>
          </a:p>
        </p:txBody>
      </p:sp>
      <p:sp>
        <p:nvSpPr>
          <p:cNvPr id="23" name="Text 21"/>
          <p:cNvSpPr/>
          <p:nvPr/>
        </p:nvSpPr>
        <p:spPr>
          <a:xfrm>
            <a:off x="6446520" y="5897880"/>
            <a:ext cx="4892040" cy="365760"/>
          </a:xfrm>
          <a:prstGeom prst="rect">
            <a:avLst/>
          </a:prstGeom>
          <a:noFill/>
          <a:ln/>
        </p:spPr>
        <p:txBody>
          <a:bodyPr wrap="square" rtlCol="0" anchor="ctr"/>
          <a:lstStyle/>
          <a:p>
            <a:pPr indent="0" marL="0">
              <a:buNone/>
            </a:pPr>
            <a:r>
              <a:rPr lang="en-US" sz="1000" i="1" dirty="0">
                <a:solidFill>
                  <a:srgbClr val="5A5F6A"/>
                </a:solidFill>
                <a:latin typeface="Cambria" pitchFamily="34" charset="0"/>
                <a:ea typeface="Cambria" pitchFamily="34" charset="-122"/>
                <a:cs typeface="Cambria" pitchFamily="34" charset="-120"/>
              </a:rPr>
              <a:t>Every route is a Hindi/regional heartland corridor where Mahindra needs to win.</a:t>
            </a:r>
            <a:endParaRPr lang="en-US" sz="1000" dirty="0"/>
          </a:p>
        </p:txBody>
      </p:sp>
      <p:sp>
        <p:nvSpPr>
          <p:cNvPr id="24" name="Text 22"/>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5A5F6A"/>
                </a:solidFill>
                <a:latin typeface="Arial" pitchFamily="34" charset="0"/>
                <a:ea typeface="Arial" pitchFamily="34" charset="-122"/>
                <a:cs typeface="Arial" pitchFamily="34" charset="-120"/>
              </a:rPr>
              <a:t>MAHINDRA × VETO   |   CHARGED BHARAT   |   Confidential Proposal</a:t>
            </a:r>
            <a:endParaRPr lang="en-US" sz="800" dirty="0"/>
          </a:p>
        </p:txBody>
      </p:sp>
      <p:sp>
        <p:nvSpPr>
          <p:cNvPr id="25" name="Text 23"/>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1A1D23"/>
                </a:solidFill>
                <a:latin typeface="Arial" pitchFamily="34" charset="0"/>
                <a:ea typeface="Arial" pitchFamily="34" charset="-122"/>
                <a:cs typeface="Arial"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rtlCol="0" anchor="ctr"/>
          <a:lstStyle/>
          <a:p>
            <a:pPr indent="0" marL="0">
              <a:buNone/>
            </a:pPr>
            <a:r>
              <a:rPr lang="en-US" sz="1000" b="1" spc="400" kern="0" dirty="0">
                <a:solidFill>
                  <a:srgbClr val="E4002B"/>
                </a:solidFill>
                <a:latin typeface="Arial" pitchFamily="34" charset="0"/>
                <a:ea typeface="Arial" pitchFamily="34" charset="-122"/>
                <a:cs typeface="Arial" pitchFamily="34" charset="-120"/>
              </a:rPr>
              <a:t>05  /  THE MOAT</a:t>
            </a:r>
            <a:endParaRPr lang="en-US" sz="1000" dirty="0"/>
          </a:p>
        </p:txBody>
      </p:sp>
      <p:sp>
        <p:nvSpPr>
          <p:cNvPr id="3" name="Text 1"/>
          <p:cNvSpPr/>
          <p:nvPr/>
        </p:nvSpPr>
        <p:spPr>
          <a:xfrm>
            <a:off x="548640" y="914400"/>
            <a:ext cx="10972800" cy="640080"/>
          </a:xfrm>
          <a:prstGeom prst="rect">
            <a:avLst/>
          </a:prstGeom>
          <a:noFill/>
          <a:ln/>
        </p:spPr>
        <p:txBody>
          <a:bodyPr wrap="square" rtlCol="0" anchor="ctr"/>
          <a:lstStyle/>
          <a:p>
            <a:pPr indent="0" marL="0">
              <a:buNone/>
            </a:pPr>
            <a:r>
              <a:rPr lang="en-US" sz="3200" b="1" dirty="0">
                <a:solidFill>
                  <a:srgbClr val="1A1D23"/>
                </a:solidFill>
                <a:latin typeface="Arial" pitchFamily="34" charset="0"/>
                <a:ea typeface="Arial" pitchFamily="34" charset="-122"/>
                <a:cs typeface="Arial" pitchFamily="34" charset="-120"/>
              </a:rPr>
              <a:t>Why this show can only be built here.</a:t>
            </a:r>
            <a:endParaRPr lang="en-US" sz="3200" dirty="0"/>
          </a:p>
        </p:txBody>
      </p:sp>
      <p:sp>
        <p:nvSpPr>
          <p:cNvPr id="4" name="Text 2"/>
          <p:cNvSpPr/>
          <p:nvPr/>
        </p:nvSpPr>
        <p:spPr>
          <a:xfrm>
            <a:off x="548640" y="1554480"/>
            <a:ext cx="10972800" cy="365760"/>
          </a:xfrm>
          <a:prstGeom prst="rect">
            <a:avLst/>
          </a:prstGeom>
          <a:noFill/>
          <a:ln/>
        </p:spPr>
        <p:txBody>
          <a:bodyPr wrap="square" rtlCol="0" anchor="ctr"/>
          <a:lstStyle/>
          <a:p>
            <a:pPr indent="0" marL="0">
              <a:buNone/>
            </a:pPr>
            <a:r>
              <a:rPr lang="en-US" sz="1400" i="1" dirty="0">
                <a:solidFill>
                  <a:srgbClr val="5A5F6A"/>
                </a:solidFill>
                <a:latin typeface="Arial" pitchFamily="34" charset="0"/>
                <a:ea typeface="Arial" pitchFamily="34" charset="-122"/>
                <a:cs typeface="Arial" pitchFamily="34" charset="-120"/>
              </a:rPr>
              <a:t>Not by Sony. Not by Star. Not by JioHotstar. Not by any pure OTT.</a:t>
            </a:r>
            <a:endParaRPr lang="en-US" sz="1400" dirty="0"/>
          </a:p>
        </p:txBody>
      </p:sp>
      <p:sp>
        <p:nvSpPr>
          <p:cNvPr id="5" name="Shape 3"/>
          <p:cNvSpPr/>
          <p:nvPr/>
        </p:nvSpPr>
        <p:spPr>
          <a:xfrm>
            <a:off x="548640" y="2148840"/>
            <a:ext cx="3657600" cy="2286000"/>
          </a:xfrm>
          <a:prstGeom prst="roundRect">
            <a:avLst>
              <a:gd name="adj" fmla="val 4000"/>
            </a:avLst>
          </a:prstGeom>
          <a:solidFill>
            <a:srgbClr val="FFFFFF"/>
          </a:solidFill>
          <a:ln w="12700">
            <a:solidFill>
              <a:srgbClr val="E5E1D8"/>
            </a:solidFill>
            <a:prstDash val="solid"/>
          </a:ln>
        </p:spPr>
      </p:sp>
      <p:sp>
        <p:nvSpPr>
          <p:cNvPr id="6" name="Text 4"/>
          <p:cNvSpPr/>
          <p:nvPr/>
        </p:nvSpPr>
        <p:spPr>
          <a:xfrm>
            <a:off x="822960" y="2286000"/>
            <a:ext cx="914400" cy="457200"/>
          </a:xfrm>
          <a:prstGeom prst="rect">
            <a:avLst/>
          </a:prstGeom>
          <a:noFill/>
          <a:ln/>
        </p:spPr>
        <p:txBody>
          <a:bodyPr wrap="square" rtlCol="0" anchor="ctr"/>
          <a:lstStyle/>
          <a:p>
            <a:pPr indent="0" marL="0">
              <a:buNone/>
            </a:pPr>
            <a:r>
              <a:rPr lang="en-US" sz="3200" b="1" dirty="0">
                <a:solidFill>
                  <a:srgbClr val="D4A017"/>
                </a:solidFill>
                <a:latin typeface="Arial" pitchFamily="34" charset="0"/>
                <a:ea typeface="Arial" pitchFamily="34" charset="-122"/>
                <a:cs typeface="Arial" pitchFamily="34" charset="-120"/>
              </a:rPr>
              <a:t>01</a:t>
            </a:r>
            <a:endParaRPr lang="en-US" sz="3200" dirty="0"/>
          </a:p>
        </p:txBody>
      </p:sp>
      <p:sp>
        <p:nvSpPr>
          <p:cNvPr id="7" name="Text 5"/>
          <p:cNvSpPr/>
          <p:nvPr/>
        </p:nvSpPr>
        <p:spPr>
          <a:xfrm>
            <a:off x="822960" y="2788920"/>
            <a:ext cx="3108960" cy="640080"/>
          </a:xfrm>
          <a:prstGeom prst="rect">
            <a:avLst/>
          </a:prstGeom>
          <a:noFill/>
          <a:ln/>
        </p:spPr>
        <p:txBody>
          <a:bodyPr wrap="square" rtlCol="0" anchor="ctr"/>
          <a:lstStyle/>
          <a:p>
            <a:pPr indent="0" marL="0">
              <a:buNone/>
            </a:pPr>
            <a:r>
              <a:rPr lang="en-US" sz="1300" b="1" spc="200" kern="0" dirty="0">
                <a:solidFill>
                  <a:srgbClr val="1A1D23"/>
                </a:solidFill>
                <a:latin typeface="Arial" pitchFamily="34" charset="0"/>
                <a:ea typeface="Arial" pitchFamily="34" charset="-122"/>
                <a:cs typeface="Arial" pitchFamily="34" charset="-120"/>
              </a:rPr>
              <a:t>EDITORIAL CREDIBILITY</a:t>
            </a:r>
            <a:endParaRPr lang="en-US" sz="1300" dirty="0"/>
          </a:p>
        </p:txBody>
      </p:sp>
      <p:sp>
        <p:nvSpPr>
          <p:cNvPr id="8" name="Text 6"/>
          <p:cNvSpPr/>
          <p:nvPr/>
        </p:nvSpPr>
        <p:spPr>
          <a:xfrm>
            <a:off x="822960" y="3337560"/>
            <a:ext cx="3108960" cy="1051560"/>
          </a:xfrm>
          <a:prstGeom prst="rect">
            <a:avLst/>
          </a:prstGeom>
          <a:noFill/>
          <a:ln/>
        </p:spPr>
        <p:txBody>
          <a:bodyPr wrap="square" rtlCol="0" anchor="ctr"/>
          <a:lstStyle/>
          <a:p>
            <a:pPr indent="0" marL="0">
              <a:buNone/>
            </a:pPr>
            <a:r>
              <a:rPr lang="en-US" sz="1100" dirty="0">
                <a:solidFill>
                  <a:srgbClr val="5A5F6A"/>
                </a:solidFill>
                <a:latin typeface="Arial" pitchFamily="34" charset="0"/>
                <a:ea typeface="Arial" pitchFamily="34" charset="-122"/>
                <a:cs typeface="Arial" pitchFamily="34" charset="-120"/>
              </a:rPr>
              <a:t>VETO sits inside India TV — one of Hindi India's most-watched news houses. The host is a working journalist, not a brand ambassador. The show carries newsroom DNA no OTT platform can manufacture.</a:t>
            </a:r>
            <a:endParaRPr lang="en-US" sz="1100" dirty="0"/>
          </a:p>
        </p:txBody>
      </p:sp>
      <p:sp>
        <p:nvSpPr>
          <p:cNvPr id="9" name="Shape 7"/>
          <p:cNvSpPr/>
          <p:nvPr/>
        </p:nvSpPr>
        <p:spPr>
          <a:xfrm>
            <a:off x="4343400" y="2148840"/>
            <a:ext cx="3657600" cy="2286000"/>
          </a:xfrm>
          <a:prstGeom prst="roundRect">
            <a:avLst>
              <a:gd name="adj" fmla="val 4000"/>
            </a:avLst>
          </a:prstGeom>
          <a:solidFill>
            <a:srgbClr val="FFFFFF"/>
          </a:solidFill>
          <a:ln w="12700">
            <a:solidFill>
              <a:srgbClr val="E5E1D8"/>
            </a:solidFill>
            <a:prstDash val="solid"/>
          </a:ln>
        </p:spPr>
      </p:sp>
      <p:sp>
        <p:nvSpPr>
          <p:cNvPr id="10" name="Text 8"/>
          <p:cNvSpPr/>
          <p:nvPr/>
        </p:nvSpPr>
        <p:spPr>
          <a:xfrm>
            <a:off x="4617720" y="2286000"/>
            <a:ext cx="914400" cy="457200"/>
          </a:xfrm>
          <a:prstGeom prst="rect">
            <a:avLst/>
          </a:prstGeom>
          <a:noFill/>
          <a:ln/>
        </p:spPr>
        <p:txBody>
          <a:bodyPr wrap="square" rtlCol="0" anchor="ctr"/>
          <a:lstStyle/>
          <a:p>
            <a:pPr indent="0" marL="0">
              <a:buNone/>
            </a:pPr>
            <a:r>
              <a:rPr lang="en-US" sz="3200" b="1" dirty="0">
                <a:solidFill>
                  <a:srgbClr val="D4A017"/>
                </a:solidFill>
                <a:latin typeface="Arial" pitchFamily="34" charset="0"/>
                <a:ea typeface="Arial" pitchFamily="34" charset="-122"/>
                <a:cs typeface="Arial" pitchFamily="34" charset="-120"/>
              </a:rPr>
              <a:t>02</a:t>
            </a:r>
            <a:endParaRPr lang="en-US" sz="3200" dirty="0"/>
          </a:p>
        </p:txBody>
      </p:sp>
      <p:sp>
        <p:nvSpPr>
          <p:cNvPr id="11" name="Text 9"/>
          <p:cNvSpPr/>
          <p:nvPr/>
        </p:nvSpPr>
        <p:spPr>
          <a:xfrm>
            <a:off x="4617720" y="2788920"/>
            <a:ext cx="3108960" cy="640080"/>
          </a:xfrm>
          <a:prstGeom prst="rect">
            <a:avLst/>
          </a:prstGeom>
          <a:noFill/>
          <a:ln/>
        </p:spPr>
        <p:txBody>
          <a:bodyPr wrap="square" rtlCol="0" anchor="ctr"/>
          <a:lstStyle/>
          <a:p>
            <a:pPr indent="0" marL="0">
              <a:buNone/>
            </a:pPr>
            <a:r>
              <a:rPr lang="en-US" sz="1300" b="1" spc="200" kern="0" dirty="0">
                <a:solidFill>
                  <a:srgbClr val="1A1D23"/>
                </a:solidFill>
                <a:latin typeface="Arial" pitchFamily="34" charset="0"/>
                <a:ea typeface="Arial" pitchFamily="34" charset="-122"/>
                <a:cs typeface="Arial" pitchFamily="34" charset="-120"/>
              </a:rPr>
              <a:t>CROSS-GENRE DISTRIBUTION</a:t>
            </a:r>
            <a:endParaRPr lang="en-US" sz="1300" dirty="0"/>
          </a:p>
        </p:txBody>
      </p:sp>
      <p:sp>
        <p:nvSpPr>
          <p:cNvPr id="12" name="Text 10"/>
          <p:cNvSpPr/>
          <p:nvPr/>
        </p:nvSpPr>
        <p:spPr>
          <a:xfrm>
            <a:off x="4617720" y="3337560"/>
            <a:ext cx="3108960" cy="1051560"/>
          </a:xfrm>
          <a:prstGeom prst="rect">
            <a:avLst/>
          </a:prstGeom>
          <a:noFill/>
          <a:ln/>
        </p:spPr>
        <p:txBody>
          <a:bodyPr wrap="square" rtlCol="0" anchor="ctr"/>
          <a:lstStyle/>
          <a:p>
            <a:pPr indent="0" marL="0">
              <a:buNone/>
            </a:pPr>
            <a:r>
              <a:rPr lang="en-US" sz="1100" dirty="0">
                <a:solidFill>
                  <a:srgbClr val="5A5F6A"/>
                </a:solidFill>
                <a:latin typeface="Arial" pitchFamily="34" charset="0"/>
                <a:ea typeface="Arial" pitchFamily="34" charset="-122"/>
                <a:cs typeface="Arial" pitchFamily="34" charset="-120"/>
              </a:rPr>
              <a:t>The same franchise travels across 60+ live channels in 12 languages — Hindi news, regional news, lifestyle, entertainment — with format-appropriate cuts for each surface. One story. Every audience.</a:t>
            </a:r>
            <a:endParaRPr lang="en-US" sz="1100" dirty="0"/>
          </a:p>
        </p:txBody>
      </p:sp>
      <p:sp>
        <p:nvSpPr>
          <p:cNvPr id="13" name="Shape 11"/>
          <p:cNvSpPr/>
          <p:nvPr/>
        </p:nvSpPr>
        <p:spPr>
          <a:xfrm>
            <a:off x="8138160" y="2148840"/>
            <a:ext cx="3657600" cy="2286000"/>
          </a:xfrm>
          <a:prstGeom prst="roundRect">
            <a:avLst>
              <a:gd name="adj" fmla="val 4000"/>
            </a:avLst>
          </a:prstGeom>
          <a:solidFill>
            <a:srgbClr val="FFFFFF"/>
          </a:solidFill>
          <a:ln w="12700">
            <a:solidFill>
              <a:srgbClr val="E5E1D8"/>
            </a:solidFill>
            <a:prstDash val="solid"/>
          </a:ln>
        </p:spPr>
      </p:sp>
      <p:sp>
        <p:nvSpPr>
          <p:cNvPr id="14" name="Text 12"/>
          <p:cNvSpPr/>
          <p:nvPr/>
        </p:nvSpPr>
        <p:spPr>
          <a:xfrm>
            <a:off x="8412480" y="2286000"/>
            <a:ext cx="914400" cy="457200"/>
          </a:xfrm>
          <a:prstGeom prst="rect">
            <a:avLst/>
          </a:prstGeom>
          <a:noFill/>
          <a:ln/>
        </p:spPr>
        <p:txBody>
          <a:bodyPr wrap="square" rtlCol="0" anchor="ctr"/>
          <a:lstStyle/>
          <a:p>
            <a:pPr indent="0" marL="0">
              <a:buNone/>
            </a:pPr>
            <a:r>
              <a:rPr lang="en-US" sz="3200" b="1" dirty="0">
                <a:solidFill>
                  <a:srgbClr val="D4A017"/>
                </a:solidFill>
                <a:latin typeface="Arial" pitchFamily="34" charset="0"/>
                <a:ea typeface="Arial" pitchFamily="34" charset="-122"/>
                <a:cs typeface="Arial" pitchFamily="34" charset="-120"/>
              </a:rPr>
              <a:t>03</a:t>
            </a:r>
            <a:endParaRPr lang="en-US" sz="3200" dirty="0"/>
          </a:p>
        </p:txBody>
      </p:sp>
      <p:sp>
        <p:nvSpPr>
          <p:cNvPr id="15" name="Text 13"/>
          <p:cNvSpPr/>
          <p:nvPr/>
        </p:nvSpPr>
        <p:spPr>
          <a:xfrm>
            <a:off x="8412480" y="2788920"/>
            <a:ext cx="3108960" cy="640080"/>
          </a:xfrm>
          <a:prstGeom prst="rect">
            <a:avLst/>
          </a:prstGeom>
          <a:noFill/>
          <a:ln/>
        </p:spPr>
        <p:txBody>
          <a:bodyPr wrap="square" rtlCol="0" anchor="ctr"/>
          <a:lstStyle/>
          <a:p>
            <a:pPr indent="0" marL="0">
              <a:buNone/>
            </a:pPr>
            <a:r>
              <a:rPr lang="en-US" sz="1300" b="1" spc="200" kern="0" dirty="0">
                <a:solidFill>
                  <a:srgbClr val="1A1D23"/>
                </a:solidFill>
                <a:latin typeface="Arial" pitchFamily="34" charset="0"/>
                <a:ea typeface="Arial" pitchFamily="34" charset="-122"/>
                <a:cs typeface="Arial" pitchFamily="34" charset="-120"/>
              </a:rPr>
              <a:t>CTV-NATIVE INTERACTIVITY</a:t>
            </a:r>
            <a:endParaRPr lang="en-US" sz="1300" dirty="0"/>
          </a:p>
        </p:txBody>
      </p:sp>
      <p:sp>
        <p:nvSpPr>
          <p:cNvPr id="16" name="Text 14"/>
          <p:cNvSpPr/>
          <p:nvPr/>
        </p:nvSpPr>
        <p:spPr>
          <a:xfrm>
            <a:off x="8412480" y="3337560"/>
            <a:ext cx="3108960" cy="1051560"/>
          </a:xfrm>
          <a:prstGeom prst="rect">
            <a:avLst/>
          </a:prstGeom>
          <a:noFill/>
          <a:ln/>
        </p:spPr>
        <p:txBody>
          <a:bodyPr wrap="square" rtlCol="0" anchor="ctr"/>
          <a:lstStyle/>
          <a:p>
            <a:pPr indent="0" marL="0">
              <a:buNone/>
            </a:pPr>
            <a:r>
              <a:rPr lang="en-US" sz="1100" dirty="0">
                <a:solidFill>
                  <a:srgbClr val="5A5F6A"/>
                </a:solidFill>
                <a:latin typeface="Arial" pitchFamily="34" charset="0"/>
                <a:ea typeface="Arial" pitchFamily="34" charset="-122"/>
                <a:cs typeface="Arial" pitchFamily="34" charset="-120"/>
              </a:rPr>
              <a:t>Live cost-per-km calculators. Dealer-locator QR overlays. "Book a test drive" triggers embedded in playback. Real-time viewer polls on EV objections. All native to the show, not bolted on.</a:t>
            </a:r>
            <a:endParaRPr lang="en-US" sz="1100" dirty="0"/>
          </a:p>
        </p:txBody>
      </p:sp>
      <p:sp>
        <p:nvSpPr>
          <p:cNvPr id="17" name="Shape 15"/>
          <p:cNvSpPr/>
          <p:nvPr/>
        </p:nvSpPr>
        <p:spPr>
          <a:xfrm>
            <a:off x="548640" y="4572000"/>
            <a:ext cx="11064240" cy="1600200"/>
          </a:xfrm>
          <a:prstGeom prst="roundRect">
            <a:avLst>
              <a:gd name="adj" fmla="val 5714"/>
            </a:avLst>
          </a:prstGeom>
          <a:solidFill>
            <a:srgbClr val="1A1D23"/>
          </a:solidFill>
          <a:ln/>
        </p:spPr>
      </p:sp>
      <p:sp>
        <p:nvSpPr>
          <p:cNvPr id="18" name="Text 16"/>
          <p:cNvSpPr/>
          <p:nvPr/>
        </p:nvSpPr>
        <p:spPr>
          <a:xfrm>
            <a:off x="822960" y="4709160"/>
            <a:ext cx="914400" cy="457200"/>
          </a:xfrm>
          <a:prstGeom prst="rect">
            <a:avLst/>
          </a:prstGeom>
          <a:noFill/>
          <a:ln/>
        </p:spPr>
        <p:txBody>
          <a:bodyPr wrap="square" rtlCol="0" anchor="ctr"/>
          <a:lstStyle/>
          <a:p>
            <a:pPr indent="0" marL="0">
              <a:buNone/>
            </a:pPr>
            <a:r>
              <a:rPr lang="en-US" sz="3200" b="1" dirty="0">
                <a:solidFill>
                  <a:srgbClr val="E4002B"/>
                </a:solidFill>
                <a:latin typeface="Arial" pitchFamily="34" charset="0"/>
                <a:ea typeface="Arial" pitchFamily="34" charset="-122"/>
                <a:cs typeface="Arial" pitchFamily="34" charset="-120"/>
              </a:rPr>
              <a:t>04</a:t>
            </a:r>
            <a:endParaRPr lang="en-US" sz="3200" dirty="0"/>
          </a:p>
        </p:txBody>
      </p:sp>
      <p:sp>
        <p:nvSpPr>
          <p:cNvPr id="19" name="Text 17"/>
          <p:cNvSpPr/>
          <p:nvPr/>
        </p:nvSpPr>
        <p:spPr>
          <a:xfrm>
            <a:off x="1737360" y="4754880"/>
            <a:ext cx="9601200" cy="365760"/>
          </a:xfrm>
          <a:prstGeom prst="rect">
            <a:avLst/>
          </a:prstGeom>
          <a:noFill/>
          <a:ln/>
        </p:spPr>
        <p:txBody>
          <a:bodyPr wrap="square" rtlCol="0" anchor="ctr"/>
          <a:lstStyle/>
          <a:p>
            <a:pPr indent="0" marL="0">
              <a:buNone/>
            </a:pPr>
            <a:r>
              <a:rPr lang="en-US" sz="1300" b="1" spc="200" kern="0" dirty="0">
                <a:solidFill>
                  <a:srgbClr val="FFFFFF"/>
                </a:solidFill>
                <a:latin typeface="Arial" pitchFamily="34" charset="0"/>
                <a:ea typeface="Arial" pitchFamily="34" charset="-122"/>
                <a:cs typeface="Arial" pitchFamily="34" charset="-120"/>
              </a:rPr>
              <a:t>CO-OWNED IP  —  THE ONE OTHERS STRUCTURALLY CANNOT MATCH</a:t>
            </a:r>
            <a:endParaRPr lang="en-US" sz="1300" dirty="0"/>
          </a:p>
        </p:txBody>
      </p:sp>
      <p:sp>
        <p:nvSpPr>
          <p:cNvPr id="20" name="Text 18"/>
          <p:cNvSpPr/>
          <p:nvPr/>
        </p:nvSpPr>
        <p:spPr>
          <a:xfrm>
            <a:off x="1737360" y="5166360"/>
            <a:ext cx="9601200" cy="914400"/>
          </a:xfrm>
          <a:prstGeom prst="rect">
            <a:avLst/>
          </a:prstGeom>
          <a:noFill/>
          <a:ln/>
        </p:spPr>
        <p:txBody>
          <a:bodyPr wrap="square" rtlCol="0" anchor="ctr"/>
          <a:lstStyle/>
          <a:p>
            <a:pPr indent="0" marL="0">
              <a:buNone/>
            </a:pPr>
            <a:r>
              <a:rPr lang="en-US" sz="1200" dirty="0">
                <a:solidFill>
                  <a:srgbClr val="D8DDE5"/>
                </a:solidFill>
                <a:latin typeface="Arial" pitchFamily="34" charset="0"/>
                <a:ea typeface="Arial" pitchFamily="34" charset="-122"/>
                <a:cs typeface="Arial" pitchFamily="34" charset="-120"/>
              </a:rPr>
              <a:t>Mahindra does not sponsor Charged Bharat. Mahindra co-owns the IP with VETO — with rights to extend the franchise into dealer networks, showroom loops, digital properties, CRM journeys and future campaigns. Sony and Star will not do this. Pure OTTs cannot afford to. This is the pitch nobody else can bring to the table.</a:t>
            </a:r>
            <a:endParaRPr lang="en-US" sz="1200" dirty="0"/>
          </a:p>
        </p:txBody>
      </p:sp>
      <p:sp>
        <p:nvSpPr>
          <p:cNvPr id="21" name="Text 19"/>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5A5F6A"/>
                </a:solidFill>
                <a:latin typeface="Arial" pitchFamily="34" charset="0"/>
                <a:ea typeface="Arial" pitchFamily="34" charset="-122"/>
                <a:cs typeface="Arial" pitchFamily="34" charset="-120"/>
              </a:rPr>
              <a:t>MAHINDRA × VETO   |   CHARGED BHARAT   |   Confidential Proposal</a:t>
            </a:r>
            <a:endParaRPr lang="en-US" sz="800" dirty="0"/>
          </a:p>
        </p:txBody>
      </p:sp>
      <p:sp>
        <p:nvSpPr>
          <p:cNvPr id="22" name="Text 20"/>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1A1D23"/>
                </a:solidFill>
                <a:latin typeface="Arial" pitchFamily="34" charset="0"/>
                <a:ea typeface="Arial" pitchFamily="34" charset="-122"/>
                <a:cs typeface="Arial"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3"/>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rtlCol="0" anchor="ctr"/>
          <a:lstStyle/>
          <a:p>
            <a:pPr indent="0" marL="0">
              <a:buNone/>
            </a:pPr>
            <a:r>
              <a:rPr lang="en-US" sz="1000" b="1" spc="400" kern="0" dirty="0">
                <a:solidFill>
                  <a:srgbClr val="D4A017"/>
                </a:solidFill>
                <a:latin typeface="Arial" pitchFamily="34" charset="0"/>
                <a:ea typeface="Arial" pitchFamily="34" charset="-122"/>
                <a:cs typeface="Arial" pitchFamily="34" charset="-120"/>
              </a:rPr>
              <a:t>06  /  THE LAUNCH</a:t>
            </a:r>
            <a:endParaRPr lang="en-US" sz="1000" dirty="0"/>
          </a:p>
        </p:txBody>
      </p:sp>
      <p:sp>
        <p:nvSpPr>
          <p:cNvPr id="3" name="Text 1"/>
          <p:cNvSpPr/>
          <p:nvPr/>
        </p:nvSpPr>
        <p:spPr>
          <a:xfrm>
            <a:off x="548640" y="914400"/>
            <a:ext cx="10972800" cy="64008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Diwali is the launch.</a:t>
            </a:r>
            <a:endParaRPr lang="en-US" sz="3400" dirty="0"/>
          </a:p>
        </p:txBody>
      </p:sp>
      <p:sp>
        <p:nvSpPr>
          <p:cNvPr id="4" name="Text 2"/>
          <p:cNvSpPr/>
          <p:nvPr/>
        </p:nvSpPr>
        <p:spPr>
          <a:xfrm>
            <a:off x="548640" y="1554480"/>
            <a:ext cx="10972800" cy="640080"/>
          </a:xfrm>
          <a:prstGeom prst="rect">
            <a:avLst/>
          </a:prstGeom>
          <a:noFill/>
          <a:ln/>
        </p:spPr>
        <p:txBody>
          <a:bodyPr wrap="square" rtlCol="0" anchor="ctr"/>
          <a:lstStyle/>
          <a:p>
            <a:pPr indent="0" marL="0">
              <a:buNone/>
            </a:pPr>
            <a:r>
              <a:rPr lang="en-US" sz="3400" b="1" dirty="0">
                <a:solidFill>
                  <a:srgbClr val="E4002B"/>
                </a:solidFill>
                <a:latin typeface="Arial" pitchFamily="34" charset="0"/>
                <a:ea typeface="Arial" pitchFamily="34" charset="-122"/>
                <a:cs typeface="Arial" pitchFamily="34" charset="-120"/>
              </a:rPr>
              <a:t>The show is the long tail.</a:t>
            </a:r>
            <a:endParaRPr lang="en-US" sz="3400" dirty="0"/>
          </a:p>
        </p:txBody>
      </p:sp>
      <p:sp>
        <p:nvSpPr>
          <p:cNvPr id="5" name="Shape 3"/>
          <p:cNvSpPr/>
          <p:nvPr/>
        </p:nvSpPr>
        <p:spPr>
          <a:xfrm>
            <a:off x="548640" y="2514600"/>
            <a:ext cx="2697480" cy="3017520"/>
          </a:xfrm>
          <a:prstGeom prst="roundRect">
            <a:avLst>
              <a:gd name="adj" fmla="val 2712"/>
            </a:avLst>
          </a:prstGeom>
          <a:solidFill>
            <a:srgbClr val="2A2E38"/>
          </a:solidFill>
          <a:ln w="12700">
            <a:solidFill>
              <a:srgbClr val="3A3E48"/>
            </a:solidFill>
            <a:prstDash val="solid"/>
          </a:ln>
        </p:spPr>
      </p:sp>
      <p:sp>
        <p:nvSpPr>
          <p:cNvPr id="6" name="Shape 4"/>
          <p:cNvSpPr/>
          <p:nvPr/>
        </p:nvSpPr>
        <p:spPr>
          <a:xfrm>
            <a:off x="777240" y="2697480"/>
            <a:ext cx="320040" cy="27432"/>
          </a:xfrm>
          <a:prstGeom prst="rect">
            <a:avLst/>
          </a:prstGeom>
          <a:solidFill>
            <a:srgbClr val="D4A017"/>
          </a:solidFill>
          <a:ln/>
        </p:spPr>
      </p:sp>
      <p:sp>
        <p:nvSpPr>
          <p:cNvPr id="7" name="Text 5"/>
          <p:cNvSpPr/>
          <p:nvPr/>
        </p:nvSpPr>
        <p:spPr>
          <a:xfrm>
            <a:off x="777240" y="2788920"/>
            <a:ext cx="2240280" cy="320040"/>
          </a:xfrm>
          <a:prstGeom prst="rect">
            <a:avLst/>
          </a:prstGeom>
          <a:noFill/>
          <a:ln/>
        </p:spPr>
        <p:txBody>
          <a:bodyPr wrap="square"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DHANTERAS</a:t>
            </a:r>
            <a:endParaRPr lang="en-US" sz="1100" dirty="0"/>
          </a:p>
        </p:txBody>
      </p:sp>
      <p:sp>
        <p:nvSpPr>
          <p:cNvPr id="8" name="Text 6"/>
          <p:cNvSpPr/>
          <p:nvPr/>
        </p:nvSpPr>
        <p:spPr>
          <a:xfrm>
            <a:off x="777240" y="3200400"/>
            <a:ext cx="2240280" cy="8229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Episode 1 premieres</a:t>
            </a:r>
            <a:endParaRPr lang="en-US" sz="1500" dirty="0"/>
          </a:p>
        </p:txBody>
      </p:sp>
      <p:sp>
        <p:nvSpPr>
          <p:cNvPr id="9" name="Text 7"/>
          <p:cNvSpPr/>
          <p:nvPr/>
        </p:nvSpPr>
        <p:spPr>
          <a:xfrm>
            <a:off x="777240" y="4069080"/>
            <a:ext cx="2240280" cy="1371600"/>
          </a:xfrm>
          <a:prstGeom prst="rect">
            <a:avLst/>
          </a:prstGeom>
          <a:noFill/>
          <a:ln/>
        </p:spPr>
        <p:txBody>
          <a:bodyPr wrap="square" rtlCol="0" anchor="ctr"/>
          <a:lstStyle/>
          <a:p>
            <a:pPr indent="0" marL="0">
              <a:buNone/>
            </a:pPr>
            <a:r>
              <a:rPr lang="en-US" sz="1050" dirty="0">
                <a:solidFill>
                  <a:srgbClr val="B8BDC7"/>
                </a:solidFill>
                <a:latin typeface="Arial" pitchFamily="34" charset="0"/>
                <a:ea typeface="Arial" pitchFamily="34" charset="-122"/>
                <a:cs typeface="Arial" pitchFamily="34" charset="-120"/>
              </a:rPr>
              <a:t>The auspicious purchase, reframed as the auspicious future-facing purchase. Cross-genre roadblock.</a:t>
            </a:r>
            <a:endParaRPr lang="en-US" sz="1050" dirty="0"/>
          </a:p>
        </p:txBody>
      </p:sp>
      <p:sp>
        <p:nvSpPr>
          <p:cNvPr id="10" name="Shape 8"/>
          <p:cNvSpPr/>
          <p:nvPr/>
        </p:nvSpPr>
        <p:spPr>
          <a:xfrm>
            <a:off x="3383280" y="2514600"/>
            <a:ext cx="2697480" cy="3017520"/>
          </a:xfrm>
          <a:prstGeom prst="roundRect">
            <a:avLst>
              <a:gd name="adj" fmla="val 2712"/>
            </a:avLst>
          </a:prstGeom>
          <a:solidFill>
            <a:srgbClr val="2A2E38"/>
          </a:solidFill>
          <a:ln w="12700">
            <a:solidFill>
              <a:srgbClr val="3A3E48"/>
            </a:solidFill>
            <a:prstDash val="solid"/>
          </a:ln>
        </p:spPr>
      </p:sp>
      <p:sp>
        <p:nvSpPr>
          <p:cNvPr id="11" name="Shape 9"/>
          <p:cNvSpPr/>
          <p:nvPr/>
        </p:nvSpPr>
        <p:spPr>
          <a:xfrm>
            <a:off x="3611880" y="2697480"/>
            <a:ext cx="320040" cy="27432"/>
          </a:xfrm>
          <a:prstGeom prst="rect">
            <a:avLst/>
          </a:prstGeom>
          <a:solidFill>
            <a:srgbClr val="D4A017"/>
          </a:solidFill>
          <a:ln/>
        </p:spPr>
      </p:sp>
      <p:sp>
        <p:nvSpPr>
          <p:cNvPr id="12" name="Text 10"/>
          <p:cNvSpPr/>
          <p:nvPr/>
        </p:nvSpPr>
        <p:spPr>
          <a:xfrm>
            <a:off x="3611880" y="2788920"/>
            <a:ext cx="2240280" cy="320040"/>
          </a:xfrm>
          <a:prstGeom prst="rect">
            <a:avLst/>
          </a:prstGeom>
          <a:noFill/>
          <a:ln/>
        </p:spPr>
        <p:txBody>
          <a:bodyPr wrap="square"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DIWALI DAY</a:t>
            </a:r>
            <a:endParaRPr lang="en-US" sz="1100" dirty="0"/>
          </a:p>
        </p:txBody>
      </p:sp>
      <p:sp>
        <p:nvSpPr>
          <p:cNvPr id="13" name="Text 11"/>
          <p:cNvSpPr/>
          <p:nvPr/>
        </p:nvSpPr>
        <p:spPr>
          <a:xfrm>
            <a:off x="3611880" y="3200400"/>
            <a:ext cx="2240280" cy="8229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National 60-channel launch</a:t>
            </a:r>
            <a:endParaRPr lang="en-US" sz="1500" dirty="0"/>
          </a:p>
        </p:txBody>
      </p:sp>
      <p:sp>
        <p:nvSpPr>
          <p:cNvPr id="14" name="Text 12"/>
          <p:cNvSpPr/>
          <p:nvPr/>
        </p:nvSpPr>
        <p:spPr>
          <a:xfrm>
            <a:off x="3611880" y="4069080"/>
            <a:ext cx="2240280" cy="1371600"/>
          </a:xfrm>
          <a:prstGeom prst="rect">
            <a:avLst/>
          </a:prstGeom>
          <a:noFill/>
          <a:ln/>
        </p:spPr>
        <p:txBody>
          <a:bodyPr wrap="square" rtlCol="0" anchor="ctr"/>
          <a:lstStyle/>
          <a:p>
            <a:pPr indent="0" marL="0">
              <a:buNone/>
            </a:pPr>
            <a:r>
              <a:rPr lang="en-US" sz="1050" dirty="0">
                <a:solidFill>
                  <a:srgbClr val="B8BDC7"/>
                </a:solidFill>
                <a:latin typeface="Arial" pitchFamily="34" charset="0"/>
                <a:ea typeface="Arial" pitchFamily="34" charset="-122"/>
                <a:cs typeface="Arial" pitchFamily="34" charset="-120"/>
              </a:rPr>
              <a:t>Simultaneous premiere across all 12 language feeds. India TV mothership carries a 1-hour Charged Bharat Special.</a:t>
            </a:r>
            <a:endParaRPr lang="en-US" sz="1050" dirty="0"/>
          </a:p>
        </p:txBody>
      </p:sp>
      <p:sp>
        <p:nvSpPr>
          <p:cNvPr id="15" name="Shape 13"/>
          <p:cNvSpPr/>
          <p:nvPr/>
        </p:nvSpPr>
        <p:spPr>
          <a:xfrm>
            <a:off x="6217920" y="2514600"/>
            <a:ext cx="2697480" cy="3017520"/>
          </a:xfrm>
          <a:prstGeom prst="roundRect">
            <a:avLst>
              <a:gd name="adj" fmla="val 2712"/>
            </a:avLst>
          </a:prstGeom>
          <a:solidFill>
            <a:srgbClr val="2A2E38"/>
          </a:solidFill>
          <a:ln w="12700">
            <a:solidFill>
              <a:srgbClr val="3A3E48"/>
            </a:solidFill>
            <a:prstDash val="solid"/>
          </a:ln>
        </p:spPr>
      </p:sp>
      <p:sp>
        <p:nvSpPr>
          <p:cNvPr id="16" name="Shape 14"/>
          <p:cNvSpPr/>
          <p:nvPr/>
        </p:nvSpPr>
        <p:spPr>
          <a:xfrm>
            <a:off x="6446520" y="2697480"/>
            <a:ext cx="320040" cy="27432"/>
          </a:xfrm>
          <a:prstGeom prst="rect">
            <a:avLst/>
          </a:prstGeom>
          <a:solidFill>
            <a:srgbClr val="D4A017"/>
          </a:solidFill>
          <a:ln/>
        </p:spPr>
      </p:sp>
      <p:sp>
        <p:nvSpPr>
          <p:cNvPr id="17" name="Text 15"/>
          <p:cNvSpPr/>
          <p:nvPr/>
        </p:nvSpPr>
        <p:spPr>
          <a:xfrm>
            <a:off x="6446520" y="2788920"/>
            <a:ext cx="2240280" cy="320040"/>
          </a:xfrm>
          <a:prstGeom prst="rect">
            <a:avLst/>
          </a:prstGeom>
          <a:noFill/>
          <a:ln/>
        </p:spPr>
        <p:txBody>
          <a:bodyPr wrap="square"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BHAI DOOJ</a:t>
            </a:r>
            <a:endParaRPr lang="en-US" sz="1100" dirty="0"/>
          </a:p>
        </p:txBody>
      </p:sp>
      <p:sp>
        <p:nvSpPr>
          <p:cNvPr id="18" name="Text 16"/>
          <p:cNvSpPr/>
          <p:nvPr/>
        </p:nvSpPr>
        <p:spPr>
          <a:xfrm>
            <a:off x="6446520" y="3200400"/>
            <a:ext cx="2240280" cy="8229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Anand Mahindra × host special</a:t>
            </a:r>
            <a:endParaRPr lang="en-US" sz="1500" dirty="0"/>
          </a:p>
        </p:txBody>
      </p:sp>
      <p:sp>
        <p:nvSpPr>
          <p:cNvPr id="19" name="Text 17"/>
          <p:cNvSpPr/>
          <p:nvPr/>
        </p:nvSpPr>
        <p:spPr>
          <a:xfrm>
            <a:off x="6446520" y="4069080"/>
            <a:ext cx="2240280" cy="1371600"/>
          </a:xfrm>
          <a:prstGeom prst="rect">
            <a:avLst/>
          </a:prstGeom>
          <a:noFill/>
          <a:ln/>
        </p:spPr>
        <p:txBody>
          <a:bodyPr wrap="square" rtlCol="0" anchor="ctr"/>
          <a:lstStyle/>
          <a:p>
            <a:pPr indent="0" marL="0">
              <a:buNone/>
            </a:pPr>
            <a:r>
              <a:rPr lang="en-US" sz="1050" dirty="0">
                <a:solidFill>
                  <a:srgbClr val="B8BDC7"/>
                </a:solidFill>
                <a:latin typeface="Arial" pitchFamily="34" charset="0"/>
                <a:ea typeface="Arial" pitchFamily="34" charset="-122"/>
                <a:cs typeface="Arial" pitchFamily="34" charset="-120"/>
              </a:rPr>
              <a:t>Long-form conversation on India's EV future. India TV editorial framing, not brand interview.</a:t>
            </a:r>
            <a:endParaRPr lang="en-US" sz="1050" dirty="0"/>
          </a:p>
        </p:txBody>
      </p:sp>
      <p:sp>
        <p:nvSpPr>
          <p:cNvPr id="20" name="Shape 18"/>
          <p:cNvSpPr/>
          <p:nvPr/>
        </p:nvSpPr>
        <p:spPr>
          <a:xfrm>
            <a:off x="9052560" y="2514600"/>
            <a:ext cx="2697480" cy="3017520"/>
          </a:xfrm>
          <a:prstGeom prst="roundRect">
            <a:avLst>
              <a:gd name="adj" fmla="val 2712"/>
            </a:avLst>
          </a:prstGeom>
          <a:solidFill>
            <a:srgbClr val="2A2E38"/>
          </a:solidFill>
          <a:ln w="12700">
            <a:solidFill>
              <a:srgbClr val="3A3E48"/>
            </a:solidFill>
            <a:prstDash val="solid"/>
          </a:ln>
        </p:spPr>
      </p:sp>
      <p:sp>
        <p:nvSpPr>
          <p:cNvPr id="21" name="Shape 19"/>
          <p:cNvSpPr/>
          <p:nvPr/>
        </p:nvSpPr>
        <p:spPr>
          <a:xfrm>
            <a:off x="9281160" y="2697480"/>
            <a:ext cx="320040" cy="27432"/>
          </a:xfrm>
          <a:prstGeom prst="rect">
            <a:avLst/>
          </a:prstGeom>
          <a:solidFill>
            <a:srgbClr val="D4A017"/>
          </a:solidFill>
          <a:ln/>
        </p:spPr>
      </p:sp>
      <p:sp>
        <p:nvSpPr>
          <p:cNvPr id="22" name="Text 20"/>
          <p:cNvSpPr/>
          <p:nvPr/>
        </p:nvSpPr>
        <p:spPr>
          <a:xfrm>
            <a:off x="9281160" y="2788920"/>
            <a:ext cx="2240280" cy="320040"/>
          </a:xfrm>
          <a:prstGeom prst="rect">
            <a:avLst/>
          </a:prstGeom>
          <a:noFill/>
          <a:ln/>
        </p:spPr>
        <p:txBody>
          <a:bodyPr wrap="square" rtlCol="0" anchor="ctr"/>
          <a:lstStyle/>
          <a:p>
            <a:pPr indent="0" marL="0">
              <a:buNone/>
            </a:pPr>
            <a:r>
              <a:rPr lang="en-US" sz="1100" b="1" spc="300" kern="0" dirty="0">
                <a:solidFill>
                  <a:srgbClr val="D4A017"/>
                </a:solidFill>
                <a:latin typeface="Arial" pitchFamily="34" charset="0"/>
                <a:ea typeface="Arial" pitchFamily="34" charset="-122"/>
                <a:cs typeface="Arial" pitchFamily="34" charset="-120"/>
              </a:rPr>
              <a:t>WEEKS 3–13</a:t>
            </a:r>
            <a:endParaRPr lang="en-US" sz="1100" dirty="0"/>
          </a:p>
        </p:txBody>
      </p:sp>
      <p:sp>
        <p:nvSpPr>
          <p:cNvPr id="23" name="Text 21"/>
          <p:cNvSpPr/>
          <p:nvPr/>
        </p:nvSpPr>
        <p:spPr>
          <a:xfrm>
            <a:off x="9281160" y="3200400"/>
            <a:ext cx="2240280" cy="8229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Weekly episodes, weekly conversations</a:t>
            </a:r>
            <a:endParaRPr lang="en-US" sz="1500" dirty="0"/>
          </a:p>
        </p:txBody>
      </p:sp>
      <p:sp>
        <p:nvSpPr>
          <p:cNvPr id="24" name="Text 22"/>
          <p:cNvSpPr/>
          <p:nvPr/>
        </p:nvSpPr>
        <p:spPr>
          <a:xfrm>
            <a:off x="9281160" y="4069080"/>
            <a:ext cx="2240280" cy="1371600"/>
          </a:xfrm>
          <a:prstGeom prst="rect">
            <a:avLst/>
          </a:prstGeom>
          <a:noFill/>
          <a:ln/>
        </p:spPr>
        <p:txBody>
          <a:bodyPr wrap="square" rtlCol="0" anchor="ctr"/>
          <a:lstStyle/>
          <a:p>
            <a:pPr indent="0" marL="0">
              <a:buNone/>
            </a:pPr>
            <a:r>
              <a:rPr lang="en-US" sz="1050" dirty="0">
                <a:solidFill>
                  <a:srgbClr val="B8BDC7"/>
                </a:solidFill>
                <a:latin typeface="Arial" pitchFamily="34" charset="0"/>
                <a:ea typeface="Arial" pitchFamily="34" charset="-122"/>
                <a:cs typeface="Arial" pitchFamily="34" charset="-120"/>
              </a:rPr>
              <a:t>One episode per week for 11 weeks. Sustained category leadership through the winter buying season.</a:t>
            </a:r>
            <a:endParaRPr lang="en-US" sz="1050" dirty="0"/>
          </a:p>
        </p:txBody>
      </p:sp>
      <p:sp>
        <p:nvSpPr>
          <p:cNvPr id="25" name="Text 23"/>
          <p:cNvSpPr/>
          <p:nvPr/>
        </p:nvSpPr>
        <p:spPr>
          <a:xfrm>
            <a:off x="548640" y="5806440"/>
            <a:ext cx="11064240" cy="457200"/>
          </a:xfrm>
          <a:prstGeom prst="rect">
            <a:avLst/>
          </a:prstGeom>
          <a:noFill/>
          <a:ln/>
        </p:spPr>
        <p:txBody>
          <a:bodyPr wrap="square" rtlCol="0" anchor="ctr"/>
          <a:lstStyle/>
          <a:p>
            <a:pPr algn="ctr" indent="0" marL="0">
              <a:buNone/>
            </a:pPr>
            <a:r>
              <a:rPr lang="en-US" sz="1600" i="1" dirty="0">
                <a:solidFill>
                  <a:srgbClr val="FFFFFF"/>
                </a:solidFill>
                <a:latin typeface="Cambria" pitchFamily="34" charset="0"/>
                <a:ea typeface="Cambria" pitchFamily="34" charset="-122"/>
                <a:cs typeface="Cambria" pitchFamily="34" charset="-120"/>
              </a:rPr>
              <a:t>One Diwali. Twelve weeks of category leadership. One story Hindi India keeps returning to.</a:t>
            </a:r>
            <a:endParaRPr lang="en-US" sz="1600" dirty="0"/>
          </a:p>
        </p:txBody>
      </p:sp>
      <p:sp>
        <p:nvSpPr>
          <p:cNvPr id="26" name="Text 24"/>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8A8F9A"/>
                </a:solidFill>
                <a:latin typeface="Arial" pitchFamily="34" charset="0"/>
                <a:ea typeface="Arial" pitchFamily="34" charset="-122"/>
                <a:cs typeface="Arial" pitchFamily="34" charset="-120"/>
              </a:rPr>
              <a:t>MAHINDRA × VETO   |   CHARGED BHARAT   |   Confidential Proposal</a:t>
            </a:r>
            <a:endParaRPr lang="en-US" sz="800" dirty="0"/>
          </a:p>
        </p:txBody>
      </p:sp>
      <p:sp>
        <p:nvSpPr>
          <p:cNvPr id="27" name="Text 25"/>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rtlCol="0" anchor="ctr"/>
          <a:lstStyle/>
          <a:p>
            <a:pPr indent="0" marL="0">
              <a:buNone/>
            </a:pPr>
            <a:r>
              <a:rPr lang="en-US" sz="1000" b="1" spc="400" kern="0" dirty="0">
                <a:solidFill>
                  <a:srgbClr val="E4002B"/>
                </a:solidFill>
                <a:latin typeface="Arial" pitchFamily="34" charset="0"/>
                <a:ea typeface="Arial" pitchFamily="34" charset="-122"/>
                <a:cs typeface="Arial" pitchFamily="34" charset="-120"/>
              </a:rPr>
              <a:t>07  /  THE FRANCHISE</a:t>
            </a:r>
            <a:endParaRPr lang="en-US" sz="1000" dirty="0"/>
          </a:p>
        </p:txBody>
      </p:sp>
      <p:sp>
        <p:nvSpPr>
          <p:cNvPr id="3" name="Text 1"/>
          <p:cNvSpPr/>
          <p:nvPr/>
        </p:nvSpPr>
        <p:spPr>
          <a:xfrm>
            <a:off x="548640" y="914400"/>
            <a:ext cx="10972800" cy="640080"/>
          </a:xfrm>
          <a:prstGeom prst="rect">
            <a:avLst/>
          </a:prstGeom>
          <a:noFill/>
          <a:ln/>
        </p:spPr>
        <p:txBody>
          <a:bodyPr wrap="square" rtlCol="0" anchor="ctr"/>
          <a:lstStyle/>
          <a:p>
            <a:pPr indent="0" marL="0">
              <a:buNone/>
            </a:pPr>
            <a:r>
              <a:rPr lang="en-US" sz="3200" b="1" dirty="0">
                <a:solidFill>
                  <a:srgbClr val="1A1D23"/>
                </a:solidFill>
                <a:latin typeface="Arial" pitchFamily="34" charset="0"/>
                <a:ea typeface="Arial" pitchFamily="34" charset="-122"/>
                <a:cs typeface="Arial" pitchFamily="34" charset="-120"/>
              </a:rPr>
              <a:t>Charged Bharat lives beyond the show.</a:t>
            </a:r>
            <a:endParaRPr lang="en-US" sz="3200" dirty="0"/>
          </a:p>
        </p:txBody>
      </p:sp>
      <p:sp>
        <p:nvSpPr>
          <p:cNvPr id="4" name="Text 2"/>
          <p:cNvSpPr/>
          <p:nvPr/>
        </p:nvSpPr>
        <p:spPr>
          <a:xfrm>
            <a:off x="548640" y="1554480"/>
            <a:ext cx="10972800" cy="365760"/>
          </a:xfrm>
          <a:prstGeom prst="rect">
            <a:avLst/>
          </a:prstGeom>
          <a:noFill/>
          <a:ln/>
        </p:spPr>
        <p:txBody>
          <a:bodyPr wrap="square" rtlCol="0" anchor="ctr"/>
          <a:lstStyle/>
          <a:p>
            <a:pPr indent="0" marL="0">
              <a:buNone/>
            </a:pPr>
            <a:r>
              <a:rPr lang="en-US" sz="1400" i="1" dirty="0">
                <a:solidFill>
                  <a:srgbClr val="5A5F6A"/>
                </a:solidFill>
                <a:latin typeface="Arial" pitchFamily="34" charset="0"/>
                <a:ea typeface="Arial" pitchFamily="34" charset="-122"/>
                <a:cs typeface="Arial" pitchFamily="34" charset="-120"/>
              </a:rPr>
              <a:t>Five ecosystem extensions. All included. All jointly owned.</a:t>
            </a:r>
            <a:endParaRPr lang="en-US" sz="1400" dirty="0"/>
          </a:p>
        </p:txBody>
      </p:sp>
      <p:sp>
        <p:nvSpPr>
          <p:cNvPr id="5" name="Shape 3"/>
          <p:cNvSpPr/>
          <p:nvPr/>
        </p:nvSpPr>
        <p:spPr>
          <a:xfrm>
            <a:off x="548640" y="2148840"/>
            <a:ext cx="3657600" cy="1965960"/>
          </a:xfrm>
          <a:prstGeom prst="roundRect">
            <a:avLst>
              <a:gd name="adj" fmla="val 3721"/>
            </a:avLst>
          </a:prstGeom>
          <a:solidFill>
            <a:srgbClr val="FFFFFF"/>
          </a:solidFill>
          <a:ln w="12700">
            <a:solidFill>
              <a:srgbClr val="E5E1D8"/>
            </a:solidFill>
            <a:prstDash val="solid"/>
          </a:ln>
        </p:spPr>
      </p:sp>
      <p:sp>
        <p:nvSpPr>
          <p:cNvPr id="6" name="Shape 4"/>
          <p:cNvSpPr/>
          <p:nvPr/>
        </p:nvSpPr>
        <p:spPr>
          <a:xfrm>
            <a:off x="822960" y="2331720"/>
            <a:ext cx="228600" cy="36576"/>
          </a:xfrm>
          <a:prstGeom prst="rect">
            <a:avLst/>
          </a:prstGeom>
          <a:solidFill>
            <a:srgbClr val="D4A017"/>
          </a:solidFill>
          <a:ln/>
        </p:spPr>
      </p:sp>
      <p:sp>
        <p:nvSpPr>
          <p:cNvPr id="7" name="Text 5"/>
          <p:cNvSpPr/>
          <p:nvPr/>
        </p:nvSpPr>
        <p:spPr>
          <a:xfrm>
            <a:off x="822960" y="2423160"/>
            <a:ext cx="3108960" cy="457200"/>
          </a:xfrm>
          <a:prstGeom prst="rect">
            <a:avLst/>
          </a:prstGeom>
          <a:noFill/>
          <a:ln/>
        </p:spPr>
        <p:txBody>
          <a:bodyPr wrap="square" rtlCol="0" anchor="ctr"/>
          <a:lstStyle/>
          <a:p>
            <a:pPr indent="0" marL="0">
              <a:buNone/>
            </a:pPr>
            <a:r>
              <a:rPr lang="en-US" sz="1200" b="1" spc="200" kern="0" dirty="0">
                <a:solidFill>
                  <a:srgbClr val="1A1D23"/>
                </a:solidFill>
                <a:latin typeface="Arial" pitchFamily="34" charset="0"/>
                <a:ea typeface="Arial" pitchFamily="34" charset="-122"/>
                <a:cs typeface="Arial" pitchFamily="34" charset="-120"/>
              </a:rPr>
              <a:t>EV OBJECTION LIBRARY</a:t>
            </a:r>
            <a:endParaRPr lang="en-US" sz="1200" dirty="0"/>
          </a:p>
        </p:txBody>
      </p:sp>
      <p:sp>
        <p:nvSpPr>
          <p:cNvPr id="8" name="Text 6"/>
          <p:cNvSpPr/>
          <p:nvPr/>
        </p:nvSpPr>
        <p:spPr>
          <a:xfrm>
            <a:off x="822960" y="2880360"/>
            <a:ext cx="3108960" cy="1143000"/>
          </a:xfrm>
          <a:prstGeom prst="rect">
            <a:avLst/>
          </a:prstGeom>
          <a:noFill/>
          <a:ln/>
        </p:spPr>
        <p:txBody>
          <a:bodyPr wrap="square" rtlCol="0" anchor="ctr"/>
          <a:lstStyle/>
          <a:p>
            <a:pPr indent="0" marL="0">
              <a:buNone/>
            </a:pPr>
            <a:r>
              <a:rPr lang="en-US" sz="1100" dirty="0">
                <a:solidFill>
                  <a:srgbClr val="5A5F6A"/>
                </a:solidFill>
                <a:latin typeface="Arial" pitchFamily="34" charset="0"/>
                <a:ea typeface="Arial" pitchFamily="34" charset="-122"/>
                <a:cs typeface="Arial" pitchFamily="34" charset="-120"/>
              </a:rPr>
              <a:t>Interactive microsite where viewers submit real EV questions. Future episodes answer the top-voted ones. Generates first-party data for Mahindra. Content pipeline for VETO.</a:t>
            </a:r>
            <a:endParaRPr lang="en-US" sz="1100" dirty="0"/>
          </a:p>
        </p:txBody>
      </p:sp>
      <p:sp>
        <p:nvSpPr>
          <p:cNvPr id="9" name="Shape 7"/>
          <p:cNvSpPr/>
          <p:nvPr/>
        </p:nvSpPr>
        <p:spPr>
          <a:xfrm>
            <a:off x="4343400" y="2148840"/>
            <a:ext cx="3657600" cy="1965960"/>
          </a:xfrm>
          <a:prstGeom prst="roundRect">
            <a:avLst>
              <a:gd name="adj" fmla="val 3721"/>
            </a:avLst>
          </a:prstGeom>
          <a:solidFill>
            <a:srgbClr val="FFFFFF"/>
          </a:solidFill>
          <a:ln w="12700">
            <a:solidFill>
              <a:srgbClr val="E5E1D8"/>
            </a:solidFill>
            <a:prstDash val="solid"/>
          </a:ln>
        </p:spPr>
      </p:sp>
      <p:sp>
        <p:nvSpPr>
          <p:cNvPr id="10" name="Shape 8"/>
          <p:cNvSpPr/>
          <p:nvPr/>
        </p:nvSpPr>
        <p:spPr>
          <a:xfrm>
            <a:off x="4617720" y="2331720"/>
            <a:ext cx="228600" cy="36576"/>
          </a:xfrm>
          <a:prstGeom prst="rect">
            <a:avLst/>
          </a:prstGeom>
          <a:solidFill>
            <a:srgbClr val="D4A017"/>
          </a:solidFill>
          <a:ln/>
        </p:spPr>
      </p:sp>
      <p:sp>
        <p:nvSpPr>
          <p:cNvPr id="11" name="Text 9"/>
          <p:cNvSpPr/>
          <p:nvPr/>
        </p:nvSpPr>
        <p:spPr>
          <a:xfrm>
            <a:off x="4617720" y="2423160"/>
            <a:ext cx="3108960" cy="457200"/>
          </a:xfrm>
          <a:prstGeom prst="rect">
            <a:avLst/>
          </a:prstGeom>
          <a:noFill/>
          <a:ln/>
        </p:spPr>
        <p:txBody>
          <a:bodyPr wrap="square" rtlCol="0" anchor="ctr"/>
          <a:lstStyle/>
          <a:p>
            <a:pPr indent="0" marL="0">
              <a:buNone/>
            </a:pPr>
            <a:r>
              <a:rPr lang="en-US" sz="1200" b="1" spc="200" kern="0" dirty="0">
                <a:solidFill>
                  <a:srgbClr val="1A1D23"/>
                </a:solidFill>
                <a:latin typeface="Arial" pitchFamily="34" charset="0"/>
                <a:ea typeface="Arial" pitchFamily="34" charset="-122"/>
                <a:cs typeface="Arial" pitchFamily="34" charset="-120"/>
              </a:rPr>
              <a:t>DEALER NETWORK LOOP</a:t>
            </a:r>
            <a:endParaRPr lang="en-US" sz="1200" dirty="0"/>
          </a:p>
        </p:txBody>
      </p:sp>
      <p:sp>
        <p:nvSpPr>
          <p:cNvPr id="12" name="Text 10"/>
          <p:cNvSpPr/>
          <p:nvPr/>
        </p:nvSpPr>
        <p:spPr>
          <a:xfrm>
            <a:off x="4617720" y="2880360"/>
            <a:ext cx="3108960" cy="1143000"/>
          </a:xfrm>
          <a:prstGeom prst="rect">
            <a:avLst/>
          </a:prstGeom>
          <a:noFill/>
          <a:ln/>
        </p:spPr>
        <p:txBody>
          <a:bodyPr wrap="square" rtlCol="0" anchor="ctr"/>
          <a:lstStyle/>
          <a:p>
            <a:pPr indent="0" marL="0">
              <a:buNone/>
            </a:pPr>
            <a:r>
              <a:rPr lang="en-US" sz="1100" dirty="0">
                <a:solidFill>
                  <a:srgbClr val="5A5F6A"/>
                </a:solidFill>
                <a:latin typeface="Arial" pitchFamily="34" charset="0"/>
                <a:ea typeface="Arial" pitchFamily="34" charset="-122"/>
                <a:cs typeface="Arial" pitchFamily="34" charset="-120"/>
              </a:rPr>
              <a:t>Every Mahindra showroom runs Charged Bharat episodes on-screen. The customer walking in has already seen the objection tested and answered.</a:t>
            </a:r>
            <a:endParaRPr lang="en-US" sz="1100" dirty="0"/>
          </a:p>
        </p:txBody>
      </p:sp>
      <p:sp>
        <p:nvSpPr>
          <p:cNvPr id="13" name="Shape 11"/>
          <p:cNvSpPr/>
          <p:nvPr/>
        </p:nvSpPr>
        <p:spPr>
          <a:xfrm>
            <a:off x="8138160" y="2148840"/>
            <a:ext cx="3657600" cy="1965960"/>
          </a:xfrm>
          <a:prstGeom prst="roundRect">
            <a:avLst>
              <a:gd name="adj" fmla="val 3721"/>
            </a:avLst>
          </a:prstGeom>
          <a:solidFill>
            <a:srgbClr val="FFFFFF"/>
          </a:solidFill>
          <a:ln w="12700">
            <a:solidFill>
              <a:srgbClr val="E5E1D8"/>
            </a:solidFill>
            <a:prstDash val="solid"/>
          </a:ln>
        </p:spPr>
      </p:sp>
      <p:sp>
        <p:nvSpPr>
          <p:cNvPr id="14" name="Shape 12"/>
          <p:cNvSpPr/>
          <p:nvPr/>
        </p:nvSpPr>
        <p:spPr>
          <a:xfrm>
            <a:off x="8412480" y="2331720"/>
            <a:ext cx="228600" cy="36576"/>
          </a:xfrm>
          <a:prstGeom prst="rect">
            <a:avLst/>
          </a:prstGeom>
          <a:solidFill>
            <a:srgbClr val="D4A017"/>
          </a:solidFill>
          <a:ln/>
        </p:spPr>
      </p:sp>
      <p:sp>
        <p:nvSpPr>
          <p:cNvPr id="15" name="Text 13"/>
          <p:cNvSpPr/>
          <p:nvPr/>
        </p:nvSpPr>
        <p:spPr>
          <a:xfrm>
            <a:off x="8412480" y="2423160"/>
            <a:ext cx="3108960" cy="457200"/>
          </a:xfrm>
          <a:prstGeom prst="rect">
            <a:avLst/>
          </a:prstGeom>
          <a:noFill/>
          <a:ln/>
        </p:spPr>
        <p:txBody>
          <a:bodyPr wrap="square" rtlCol="0" anchor="ctr"/>
          <a:lstStyle/>
          <a:p>
            <a:pPr indent="0" marL="0">
              <a:buNone/>
            </a:pPr>
            <a:r>
              <a:rPr lang="en-US" sz="1200" b="1" spc="200" kern="0" dirty="0">
                <a:solidFill>
                  <a:srgbClr val="1A1D23"/>
                </a:solidFill>
                <a:latin typeface="Arial" pitchFamily="34" charset="0"/>
                <a:ea typeface="Arial" pitchFamily="34" charset="-122"/>
                <a:cs typeface="Arial" pitchFamily="34" charset="-120"/>
              </a:rPr>
              <a:t>SOCIAL CUTDOWN ENGINE</a:t>
            </a:r>
            <a:endParaRPr lang="en-US" sz="1200" dirty="0"/>
          </a:p>
        </p:txBody>
      </p:sp>
      <p:sp>
        <p:nvSpPr>
          <p:cNvPr id="16" name="Text 14"/>
          <p:cNvSpPr/>
          <p:nvPr/>
        </p:nvSpPr>
        <p:spPr>
          <a:xfrm>
            <a:off x="8412480" y="2880360"/>
            <a:ext cx="3108960" cy="1143000"/>
          </a:xfrm>
          <a:prstGeom prst="rect">
            <a:avLst/>
          </a:prstGeom>
          <a:noFill/>
          <a:ln/>
        </p:spPr>
        <p:txBody>
          <a:bodyPr wrap="square" rtlCol="0" anchor="ctr"/>
          <a:lstStyle/>
          <a:p>
            <a:pPr indent="0" marL="0">
              <a:buNone/>
            </a:pPr>
            <a:r>
              <a:rPr lang="en-US" sz="1100" dirty="0">
                <a:solidFill>
                  <a:srgbClr val="5A5F6A"/>
                </a:solidFill>
                <a:latin typeface="Arial" pitchFamily="34" charset="0"/>
                <a:ea typeface="Arial" pitchFamily="34" charset="-122"/>
                <a:cs typeface="Arial" pitchFamily="34" charset="-120"/>
              </a:rPr>
              <a:t>Weekly Reels, YouTube Shorts, and X clips distributed across VETO and Mahindra channels. Organic reach layered on paid.</a:t>
            </a:r>
            <a:endParaRPr lang="en-US" sz="1100" dirty="0"/>
          </a:p>
        </p:txBody>
      </p:sp>
      <p:sp>
        <p:nvSpPr>
          <p:cNvPr id="17" name="Shape 15"/>
          <p:cNvSpPr/>
          <p:nvPr/>
        </p:nvSpPr>
        <p:spPr>
          <a:xfrm>
            <a:off x="2468880" y="4251960"/>
            <a:ext cx="3657600" cy="1965960"/>
          </a:xfrm>
          <a:prstGeom prst="roundRect">
            <a:avLst>
              <a:gd name="adj" fmla="val 3721"/>
            </a:avLst>
          </a:prstGeom>
          <a:solidFill>
            <a:srgbClr val="FFFFFF"/>
          </a:solidFill>
          <a:ln w="12700">
            <a:solidFill>
              <a:srgbClr val="E5E1D8"/>
            </a:solidFill>
            <a:prstDash val="solid"/>
          </a:ln>
        </p:spPr>
      </p:sp>
      <p:sp>
        <p:nvSpPr>
          <p:cNvPr id="18" name="Shape 16"/>
          <p:cNvSpPr/>
          <p:nvPr/>
        </p:nvSpPr>
        <p:spPr>
          <a:xfrm>
            <a:off x="2743200" y="4434840"/>
            <a:ext cx="228600" cy="36576"/>
          </a:xfrm>
          <a:prstGeom prst="rect">
            <a:avLst/>
          </a:prstGeom>
          <a:solidFill>
            <a:srgbClr val="D4A017"/>
          </a:solidFill>
          <a:ln/>
        </p:spPr>
      </p:sp>
      <p:sp>
        <p:nvSpPr>
          <p:cNvPr id="19" name="Text 17"/>
          <p:cNvSpPr/>
          <p:nvPr/>
        </p:nvSpPr>
        <p:spPr>
          <a:xfrm>
            <a:off x="2743200" y="4526280"/>
            <a:ext cx="3108960" cy="457200"/>
          </a:xfrm>
          <a:prstGeom prst="rect">
            <a:avLst/>
          </a:prstGeom>
          <a:noFill/>
          <a:ln/>
        </p:spPr>
        <p:txBody>
          <a:bodyPr wrap="square" rtlCol="0" anchor="ctr"/>
          <a:lstStyle/>
          <a:p>
            <a:pPr indent="0" marL="0">
              <a:buNone/>
            </a:pPr>
            <a:r>
              <a:rPr lang="en-US" sz="1200" b="1" spc="200" kern="0" dirty="0">
                <a:solidFill>
                  <a:srgbClr val="1A1D23"/>
                </a:solidFill>
                <a:latin typeface="Arial" pitchFamily="34" charset="0"/>
                <a:ea typeface="Arial" pitchFamily="34" charset="-122"/>
                <a:cs typeface="Arial" pitchFamily="34" charset="-120"/>
              </a:rPr>
              <a:t>SEASON 2 UGC CONTEST</a:t>
            </a:r>
            <a:endParaRPr lang="en-US" sz="1200" dirty="0"/>
          </a:p>
        </p:txBody>
      </p:sp>
      <p:sp>
        <p:nvSpPr>
          <p:cNvPr id="20" name="Text 18"/>
          <p:cNvSpPr/>
          <p:nvPr/>
        </p:nvSpPr>
        <p:spPr>
          <a:xfrm>
            <a:off x="2743200" y="4983480"/>
            <a:ext cx="3108960" cy="1143000"/>
          </a:xfrm>
          <a:prstGeom prst="rect">
            <a:avLst/>
          </a:prstGeom>
          <a:noFill/>
          <a:ln/>
        </p:spPr>
        <p:txBody>
          <a:bodyPr wrap="square" rtlCol="0" anchor="ctr"/>
          <a:lstStyle/>
          <a:p>
            <a:pPr indent="0" marL="0">
              <a:buNone/>
            </a:pPr>
            <a:r>
              <a:rPr lang="en-US" sz="1100" dirty="0">
                <a:solidFill>
                  <a:srgbClr val="5A5F6A"/>
                </a:solidFill>
                <a:latin typeface="Arial" pitchFamily="34" charset="0"/>
                <a:ea typeface="Arial" pitchFamily="34" charset="-122"/>
                <a:cs typeface="Arial" pitchFamily="34" charset="-120"/>
              </a:rPr>
              <a:t>"Charged Bharat: My Route" — three winning families get a Mahindra EV road-trip experience filmed as Season 2. UGC becomes owned content.</a:t>
            </a:r>
            <a:endParaRPr lang="en-US" sz="1100" dirty="0"/>
          </a:p>
        </p:txBody>
      </p:sp>
      <p:sp>
        <p:nvSpPr>
          <p:cNvPr id="21" name="Shape 19"/>
          <p:cNvSpPr/>
          <p:nvPr/>
        </p:nvSpPr>
        <p:spPr>
          <a:xfrm>
            <a:off x="6263640" y="4251960"/>
            <a:ext cx="3657600" cy="1965960"/>
          </a:xfrm>
          <a:prstGeom prst="roundRect">
            <a:avLst>
              <a:gd name="adj" fmla="val 3721"/>
            </a:avLst>
          </a:prstGeom>
          <a:solidFill>
            <a:srgbClr val="FFFFFF"/>
          </a:solidFill>
          <a:ln w="12700">
            <a:solidFill>
              <a:srgbClr val="E5E1D8"/>
            </a:solidFill>
            <a:prstDash val="solid"/>
          </a:ln>
        </p:spPr>
      </p:sp>
      <p:sp>
        <p:nvSpPr>
          <p:cNvPr id="22" name="Shape 20"/>
          <p:cNvSpPr/>
          <p:nvPr/>
        </p:nvSpPr>
        <p:spPr>
          <a:xfrm>
            <a:off x="6537960" y="4434840"/>
            <a:ext cx="228600" cy="36576"/>
          </a:xfrm>
          <a:prstGeom prst="rect">
            <a:avLst/>
          </a:prstGeom>
          <a:solidFill>
            <a:srgbClr val="D4A017"/>
          </a:solidFill>
          <a:ln/>
        </p:spPr>
      </p:sp>
      <p:sp>
        <p:nvSpPr>
          <p:cNvPr id="23" name="Text 21"/>
          <p:cNvSpPr/>
          <p:nvPr/>
        </p:nvSpPr>
        <p:spPr>
          <a:xfrm>
            <a:off x="6537960" y="4526280"/>
            <a:ext cx="3108960" cy="457200"/>
          </a:xfrm>
          <a:prstGeom prst="rect">
            <a:avLst/>
          </a:prstGeom>
          <a:noFill/>
          <a:ln/>
        </p:spPr>
        <p:txBody>
          <a:bodyPr wrap="square" rtlCol="0" anchor="ctr"/>
          <a:lstStyle/>
          <a:p>
            <a:pPr indent="0" marL="0">
              <a:buNone/>
            </a:pPr>
            <a:r>
              <a:rPr lang="en-US" sz="1200" b="1" spc="200" kern="0" dirty="0">
                <a:solidFill>
                  <a:srgbClr val="1A1D23"/>
                </a:solidFill>
                <a:latin typeface="Arial" pitchFamily="34" charset="0"/>
                <a:ea typeface="Arial" pitchFamily="34" charset="-122"/>
                <a:cs typeface="Arial" pitchFamily="34" charset="-120"/>
              </a:rPr>
              <a:t>INDEPENDENT MEASUREMENT</a:t>
            </a:r>
            <a:endParaRPr lang="en-US" sz="1200" dirty="0"/>
          </a:p>
        </p:txBody>
      </p:sp>
      <p:sp>
        <p:nvSpPr>
          <p:cNvPr id="24" name="Text 22"/>
          <p:cNvSpPr/>
          <p:nvPr/>
        </p:nvSpPr>
        <p:spPr>
          <a:xfrm>
            <a:off x="6537960" y="4983480"/>
            <a:ext cx="3108960" cy="1143000"/>
          </a:xfrm>
          <a:prstGeom prst="rect">
            <a:avLst/>
          </a:prstGeom>
          <a:noFill/>
          <a:ln/>
        </p:spPr>
        <p:txBody>
          <a:bodyPr wrap="square" rtlCol="0" anchor="ctr"/>
          <a:lstStyle/>
          <a:p>
            <a:pPr indent="0" marL="0">
              <a:buNone/>
            </a:pPr>
            <a:r>
              <a:rPr lang="en-US" sz="1100" dirty="0">
                <a:solidFill>
                  <a:srgbClr val="5A5F6A"/>
                </a:solidFill>
                <a:latin typeface="Arial" pitchFamily="34" charset="0"/>
                <a:ea typeface="Arial" pitchFamily="34" charset="-122"/>
                <a:cs typeface="Arial" pitchFamily="34" charset="-120"/>
              </a:rPr>
              <a:t>Pre- and post-show brand tracker by a neutral research partner. Benchmark shift in Hindi India EV perception. A number Mahindra can defend internally.</a:t>
            </a:r>
            <a:endParaRPr lang="en-US" sz="1100" dirty="0"/>
          </a:p>
        </p:txBody>
      </p:sp>
      <p:sp>
        <p:nvSpPr>
          <p:cNvPr id="25" name="Text 23"/>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5A5F6A"/>
                </a:solidFill>
                <a:latin typeface="Arial" pitchFamily="34" charset="0"/>
                <a:ea typeface="Arial" pitchFamily="34" charset="-122"/>
                <a:cs typeface="Arial" pitchFamily="34" charset="-120"/>
              </a:rPr>
              <a:t>MAHINDRA × VETO   |   CHARGED BHARAT   |   Confidential Proposal</a:t>
            </a:r>
            <a:endParaRPr lang="en-US" sz="800" dirty="0"/>
          </a:p>
        </p:txBody>
      </p:sp>
      <p:sp>
        <p:nvSpPr>
          <p:cNvPr id="26" name="Text 24"/>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1A1D23"/>
                </a:solidFill>
                <a:latin typeface="Arial" pitchFamily="34" charset="0"/>
                <a:ea typeface="Arial" pitchFamily="34" charset="-122"/>
                <a:cs typeface="Arial"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indent="0" marL="0">
              <a:buNone/>
            </a:pPr>
            <a:r>
              <a:rPr lang="en-US" sz="1000" b="1" spc="400" kern="0" dirty="0">
                <a:solidFill>
                  <a:srgbClr val="E4002B"/>
                </a:solidFill>
                <a:latin typeface="Arial" pitchFamily="34" charset="0"/>
                <a:ea typeface="Arial" pitchFamily="34" charset="-122"/>
                <a:cs typeface="Arial" pitchFamily="34" charset="-120"/>
              </a:rPr>
              <a:t>08  /  THE COMMERCIAL FRAMEWORK</a:t>
            </a:r>
            <a:endParaRPr lang="en-US" sz="1000" dirty="0"/>
          </a:p>
        </p:txBody>
      </p:sp>
      <p:sp>
        <p:nvSpPr>
          <p:cNvPr id="3" name="Text 1"/>
          <p:cNvSpPr/>
          <p:nvPr/>
        </p:nvSpPr>
        <p:spPr>
          <a:xfrm>
            <a:off x="548640" y="914400"/>
            <a:ext cx="10972800" cy="640080"/>
          </a:xfrm>
          <a:prstGeom prst="rect">
            <a:avLst/>
          </a:prstGeom>
          <a:noFill/>
          <a:ln/>
        </p:spPr>
        <p:txBody>
          <a:bodyPr wrap="square" rtlCol="0" anchor="ctr"/>
          <a:lstStyle/>
          <a:p>
            <a:pPr indent="0" marL="0">
              <a:buNone/>
            </a:pPr>
            <a:r>
              <a:rPr lang="en-US" sz="3200" b="1" dirty="0">
                <a:solidFill>
                  <a:srgbClr val="1A1D23"/>
                </a:solidFill>
                <a:latin typeface="Arial" pitchFamily="34" charset="0"/>
                <a:ea typeface="Arial" pitchFamily="34" charset="-122"/>
                <a:cs typeface="Arial" pitchFamily="34" charset="-120"/>
              </a:rPr>
              <a:t>This is a partnership. Priced as one.</a:t>
            </a:r>
            <a:endParaRPr lang="en-US" sz="3200" dirty="0"/>
          </a:p>
        </p:txBody>
      </p:sp>
      <p:sp>
        <p:nvSpPr>
          <p:cNvPr id="4" name="Text 2"/>
          <p:cNvSpPr/>
          <p:nvPr/>
        </p:nvSpPr>
        <p:spPr>
          <a:xfrm>
            <a:off x="548640" y="1554480"/>
            <a:ext cx="10972800" cy="365760"/>
          </a:xfrm>
          <a:prstGeom prst="rect">
            <a:avLst/>
          </a:prstGeom>
          <a:noFill/>
          <a:ln/>
        </p:spPr>
        <p:txBody>
          <a:bodyPr wrap="square" rtlCol="0" anchor="ctr"/>
          <a:lstStyle/>
          <a:p>
            <a:pPr indent="0" marL="0">
              <a:buNone/>
            </a:pPr>
            <a:r>
              <a:rPr lang="en-US" sz="1300" i="1" dirty="0">
                <a:solidFill>
                  <a:srgbClr val="5A5F6A"/>
                </a:solidFill>
                <a:latin typeface="Arial" pitchFamily="34" charset="0"/>
                <a:ea typeface="Arial" pitchFamily="34" charset="-122"/>
                <a:cs typeface="Arial" pitchFamily="34" charset="-120"/>
              </a:rPr>
              <a:t>Three tiers of co-investment. Every tier includes IP ownership rights — the size determines the scope.</a:t>
            </a:r>
            <a:endParaRPr lang="en-US" sz="1300" dirty="0"/>
          </a:p>
        </p:txBody>
      </p:sp>
      <p:sp>
        <p:nvSpPr>
          <p:cNvPr id="5" name="Shape 3"/>
          <p:cNvSpPr/>
          <p:nvPr/>
        </p:nvSpPr>
        <p:spPr>
          <a:xfrm>
            <a:off x="548640" y="2148840"/>
            <a:ext cx="3657600" cy="3977640"/>
          </a:xfrm>
          <a:prstGeom prst="roundRect">
            <a:avLst>
              <a:gd name="adj" fmla="val 2500"/>
            </a:avLst>
          </a:prstGeom>
          <a:solidFill>
            <a:srgbClr val="FFFFFF"/>
          </a:solidFill>
          <a:ln w="12700">
            <a:solidFill>
              <a:srgbClr val="E5E1D8"/>
            </a:solidFill>
            <a:prstDash val="solid"/>
          </a:ln>
        </p:spPr>
      </p:sp>
      <p:sp>
        <p:nvSpPr>
          <p:cNvPr id="6" name="Shape 4"/>
          <p:cNvSpPr/>
          <p:nvPr/>
        </p:nvSpPr>
        <p:spPr>
          <a:xfrm>
            <a:off x="822960" y="2331720"/>
            <a:ext cx="274320" cy="36576"/>
          </a:xfrm>
          <a:prstGeom prst="rect">
            <a:avLst/>
          </a:prstGeom>
          <a:solidFill>
            <a:srgbClr val="E4002B"/>
          </a:solidFill>
          <a:ln/>
        </p:spPr>
      </p:sp>
      <p:sp>
        <p:nvSpPr>
          <p:cNvPr id="7" name="Text 5"/>
          <p:cNvSpPr/>
          <p:nvPr/>
        </p:nvSpPr>
        <p:spPr>
          <a:xfrm>
            <a:off x="822960" y="2423160"/>
            <a:ext cx="3108960" cy="411480"/>
          </a:xfrm>
          <a:prstGeom prst="rect">
            <a:avLst/>
          </a:prstGeom>
          <a:noFill/>
          <a:ln/>
        </p:spPr>
        <p:txBody>
          <a:bodyPr wrap="square" rtlCol="0" anchor="ctr"/>
          <a:lstStyle/>
          <a:p>
            <a:pPr indent="0" marL="0">
              <a:buNone/>
            </a:pPr>
            <a:r>
              <a:rPr lang="en-US" sz="1400" b="1" spc="200" kern="0" dirty="0">
                <a:solidFill>
                  <a:srgbClr val="1A1D23"/>
                </a:solidFill>
                <a:latin typeface="Arial" pitchFamily="34" charset="0"/>
                <a:ea typeface="Arial" pitchFamily="34" charset="-122"/>
                <a:cs typeface="Arial" pitchFamily="34" charset="-120"/>
              </a:rPr>
              <a:t>FOUNDING PARTNER</a:t>
            </a:r>
            <a:endParaRPr lang="en-US" sz="1400" dirty="0"/>
          </a:p>
        </p:txBody>
      </p:sp>
      <p:sp>
        <p:nvSpPr>
          <p:cNvPr id="8" name="Text 6"/>
          <p:cNvSpPr/>
          <p:nvPr/>
        </p:nvSpPr>
        <p:spPr>
          <a:xfrm>
            <a:off x="822960" y="2880360"/>
            <a:ext cx="3108960" cy="320040"/>
          </a:xfrm>
          <a:prstGeom prst="rect">
            <a:avLst/>
          </a:prstGeom>
          <a:noFill/>
          <a:ln/>
        </p:spPr>
        <p:txBody>
          <a:bodyPr wrap="square" rtlCol="0" anchor="ctr"/>
          <a:lstStyle/>
          <a:p>
            <a:pPr indent="0" marL="0">
              <a:buNone/>
            </a:pPr>
            <a:r>
              <a:rPr lang="en-US" sz="1000" i="1" dirty="0">
                <a:solidFill>
                  <a:srgbClr val="5A5F6A"/>
                </a:solidFill>
                <a:latin typeface="Cambria" pitchFamily="34" charset="0"/>
                <a:ea typeface="Cambria" pitchFamily="34" charset="-122"/>
                <a:cs typeface="Cambria" pitchFamily="34" charset="-120"/>
              </a:rPr>
              <a:t>Investment range: on discussion</a:t>
            </a:r>
            <a:endParaRPr lang="en-US" sz="1000" dirty="0"/>
          </a:p>
        </p:txBody>
      </p:sp>
      <p:sp>
        <p:nvSpPr>
          <p:cNvPr id="9" name="Shape 7"/>
          <p:cNvSpPr/>
          <p:nvPr/>
        </p:nvSpPr>
        <p:spPr>
          <a:xfrm>
            <a:off x="822960" y="3246120"/>
            <a:ext cx="3108960" cy="9144"/>
          </a:xfrm>
          <a:prstGeom prst="rect">
            <a:avLst/>
          </a:prstGeom>
          <a:solidFill>
            <a:srgbClr val="E5E1D8"/>
          </a:solidFill>
          <a:ln/>
        </p:spPr>
      </p:sp>
      <p:sp>
        <p:nvSpPr>
          <p:cNvPr id="10" name="Text 8"/>
          <p:cNvSpPr/>
          <p:nvPr/>
        </p:nvSpPr>
        <p:spPr>
          <a:xfrm>
            <a:off x="822960" y="3383280"/>
            <a:ext cx="3200400" cy="2286000"/>
          </a:xfrm>
          <a:prstGeom prst="rect">
            <a:avLst/>
          </a:prstGeom>
          <a:noFill/>
          <a:ln/>
        </p:spPr>
        <p:txBody>
          <a:bodyPr wrap="square" rtlCol="0" anchor="ctr"/>
          <a:lstStyle/>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Full 60-channel + 12-language distribution</a:t>
            </a:r>
            <a:endParaRPr lang="en-US" sz="1100" dirty="0"/>
          </a:p>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Season 1 co-owned IP + first refusal on Season 2</a:t>
            </a:r>
            <a:endParaRPr lang="en-US" sz="1100" dirty="0"/>
          </a:p>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Dealer network + CRM usage rights</a:t>
            </a:r>
            <a:endParaRPr lang="en-US" sz="1100" dirty="0"/>
          </a:p>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Anand Mahindra × host launch special</a:t>
            </a:r>
            <a:endParaRPr lang="en-US" sz="1100" dirty="0"/>
          </a:p>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Full ecosystem extensions (all 5)</a:t>
            </a:r>
            <a:endParaRPr lang="en-US" sz="1100" dirty="0"/>
          </a:p>
        </p:txBody>
      </p:sp>
      <p:sp>
        <p:nvSpPr>
          <p:cNvPr id="11" name="Shape 9"/>
          <p:cNvSpPr/>
          <p:nvPr/>
        </p:nvSpPr>
        <p:spPr>
          <a:xfrm>
            <a:off x="4343400" y="2148840"/>
            <a:ext cx="3657600" cy="3977640"/>
          </a:xfrm>
          <a:prstGeom prst="roundRect">
            <a:avLst>
              <a:gd name="adj" fmla="val 2500"/>
            </a:avLst>
          </a:prstGeom>
          <a:solidFill>
            <a:srgbClr val="1A1D23"/>
          </a:solidFill>
          <a:ln w="12700">
            <a:solidFill>
              <a:srgbClr val="1A1D23"/>
            </a:solidFill>
            <a:prstDash val="solid"/>
          </a:ln>
        </p:spPr>
      </p:sp>
      <p:sp>
        <p:nvSpPr>
          <p:cNvPr id="12" name="Shape 10"/>
          <p:cNvSpPr/>
          <p:nvPr/>
        </p:nvSpPr>
        <p:spPr>
          <a:xfrm>
            <a:off x="4617720" y="2331720"/>
            <a:ext cx="274320" cy="36576"/>
          </a:xfrm>
          <a:prstGeom prst="rect">
            <a:avLst/>
          </a:prstGeom>
          <a:solidFill>
            <a:srgbClr val="D4A017"/>
          </a:solidFill>
          <a:ln/>
        </p:spPr>
      </p:sp>
      <p:sp>
        <p:nvSpPr>
          <p:cNvPr id="13" name="Text 11"/>
          <p:cNvSpPr/>
          <p:nvPr/>
        </p:nvSpPr>
        <p:spPr>
          <a:xfrm>
            <a:off x="4617720" y="2423160"/>
            <a:ext cx="3108960" cy="411480"/>
          </a:xfrm>
          <a:prstGeom prst="rect">
            <a:avLst/>
          </a:prstGeom>
          <a:noFill/>
          <a:ln/>
        </p:spPr>
        <p:txBody>
          <a:bodyPr wrap="square" rtlCol="0" anchor="ctr"/>
          <a:lstStyle/>
          <a:p>
            <a:pPr indent="0" marL="0">
              <a:buNone/>
            </a:pPr>
            <a:r>
              <a:rPr lang="en-US" sz="1400" b="1" spc="200" kern="0" dirty="0">
                <a:solidFill>
                  <a:srgbClr val="FFFFFF"/>
                </a:solidFill>
                <a:latin typeface="Arial" pitchFamily="34" charset="0"/>
                <a:ea typeface="Arial" pitchFamily="34" charset="-122"/>
                <a:cs typeface="Arial" pitchFamily="34" charset="-120"/>
              </a:rPr>
              <a:t>PRESENTING PARTNER</a:t>
            </a:r>
            <a:endParaRPr lang="en-US" sz="1400" dirty="0"/>
          </a:p>
        </p:txBody>
      </p:sp>
      <p:sp>
        <p:nvSpPr>
          <p:cNvPr id="14" name="Text 12"/>
          <p:cNvSpPr/>
          <p:nvPr/>
        </p:nvSpPr>
        <p:spPr>
          <a:xfrm>
            <a:off x="4617720" y="2880360"/>
            <a:ext cx="3108960" cy="320040"/>
          </a:xfrm>
          <a:prstGeom prst="rect">
            <a:avLst/>
          </a:prstGeom>
          <a:noFill/>
          <a:ln/>
        </p:spPr>
        <p:txBody>
          <a:bodyPr wrap="square" rtlCol="0" anchor="ctr"/>
          <a:lstStyle/>
          <a:p>
            <a:pPr indent="0" marL="0">
              <a:buNone/>
            </a:pPr>
            <a:r>
              <a:rPr lang="en-US" sz="1000" i="1" dirty="0">
                <a:solidFill>
                  <a:srgbClr val="D4A017"/>
                </a:solidFill>
                <a:latin typeface="Cambria" pitchFamily="34" charset="0"/>
                <a:ea typeface="Cambria" pitchFamily="34" charset="-122"/>
                <a:cs typeface="Cambria" pitchFamily="34" charset="-120"/>
              </a:rPr>
              <a:t>Investment range: on discussion</a:t>
            </a:r>
            <a:endParaRPr lang="en-US" sz="1000" dirty="0"/>
          </a:p>
        </p:txBody>
      </p:sp>
      <p:sp>
        <p:nvSpPr>
          <p:cNvPr id="15" name="Shape 13"/>
          <p:cNvSpPr/>
          <p:nvPr/>
        </p:nvSpPr>
        <p:spPr>
          <a:xfrm>
            <a:off x="4617720" y="3246120"/>
            <a:ext cx="3108960" cy="9144"/>
          </a:xfrm>
          <a:prstGeom prst="rect">
            <a:avLst/>
          </a:prstGeom>
          <a:solidFill>
            <a:srgbClr val="3A3E48"/>
          </a:solidFill>
          <a:ln/>
        </p:spPr>
      </p:sp>
      <p:sp>
        <p:nvSpPr>
          <p:cNvPr id="16" name="Text 14"/>
          <p:cNvSpPr/>
          <p:nvPr/>
        </p:nvSpPr>
        <p:spPr>
          <a:xfrm>
            <a:off x="4617720" y="3383280"/>
            <a:ext cx="3200400" cy="2286000"/>
          </a:xfrm>
          <a:prstGeom prst="rect">
            <a:avLst/>
          </a:prstGeom>
          <a:noFill/>
          <a:ln/>
        </p:spPr>
        <p:txBody>
          <a:bodyPr wrap="square" rtlCol="0" anchor="ctr"/>
          <a:lstStyle/>
          <a:p>
            <a:pPr marL="342900" indent="-342900">
              <a:spcAft>
                <a:spcPts val="600"/>
              </a:spcAft>
              <a:buSzPct val="100000"/>
              <a:buChar char="■"/>
            </a:pPr>
            <a:r>
              <a:rPr lang="en-US" sz="1100" dirty="0">
                <a:solidFill>
                  <a:srgbClr val="D8DDE5"/>
                </a:solidFill>
                <a:latin typeface="Arial" pitchFamily="34" charset="0"/>
                <a:ea typeface="Arial" pitchFamily="34" charset="-122"/>
                <a:cs typeface="Arial" pitchFamily="34" charset="-120"/>
              </a:rPr>
              <a:t>8-language distribution across 45+ channels</a:t>
            </a:r>
            <a:endParaRPr lang="en-US" sz="1100" dirty="0"/>
          </a:p>
          <a:p>
            <a:pPr marL="342900" indent="-342900">
              <a:spcAft>
                <a:spcPts val="600"/>
              </a:spcAft>
              <a:buSzPct val="100000"/>
              <a:buChar char="■"/>
            </a:pPr>
            <a:r>
              <a:rPr lang="en-US" sz="1100" dirty="0">
                <a:solidFill>
                  <a:srgbClr val="D8DDE5"/>
                </a:solidFill>
                <a:latin typeface="Arial" pitchFamily="34" charset="0"/>
                <a:ea typeface="Arial" pitchFamily="34" charset="-122"/>
                <a:cs typeface="Arial" pitchFamily="34" charset="-120"/>
              </a:rPr>
              <a:t>Season 1 co-owned IP</a:t>
            </a:r>
            <a:endParaRPr lang="en-US" sz="1100" dirty="0"/>
          </a:p>
          <a:p>
            <a:pPr marL="342900" indent="-342900">
              <a:spcAft>
                <a:spcPts val="600"/>
              </a:spcAft>
              <a:buSzPct val="100000"/>
              <a:buChar char="■"/>
            </a:pPr>
            <a:r>
              <a:rPr lang="en-US" sz="1100" dirty="0">
                <a:solidFill>
                  <a:srgbClr val="D8DDE5"/>
                </a:solidFill>
                <a:latin typeface="Arial" pitchFamily="34" charset="0"/>
                <a:ea typeface="Arial" pitchFamily="34" charset="-122"/>
                <a:cs typeface="Arial" pitchFamily="34" charset="-120"/>
              </a:rPr>
              <a:t>Dealer network usage rights</a:t>
            </a:r>
            <a:endParaRPr lang="en-US" sz="1100" dirty="0"/>
          </a:p>
          <a:p>
            <a:pPr marL="342900" indent="-342900">
              <a:spcAft>
                <a:spcPts val="600"/>
              </a:spcAft>
              <a:buSzPct val="100000"/>
              <a:buChar char="■"/>
            </a:pPr>
            <a:r>
              <a:rPr lang="en-US" sz="1100" dirty="0">
                <a:solidFill>
                  <a:srgbClr val="D8DDE5"/>
                </a:solidFill>
                <a:latin typeface="Arial" pitchFamily="34" charset="0"/>
                <a:ea typeface="Arial" pitchFamily="34" charset="-122"/>
                <a:cs typeface="Arial" pitchFamily="34" charset="-120"/>
              </a:rPr>
              <a:t>Ecosystem extensions (4 of 5)</a:t>
            </a:r>
            <a:endParaRPr lang="en-US" sz="1100" dirty="0"/>
          </a:p>
          <a:p>
            <a:pPr marL="342900" indent="-342900">
              <a:spcAft>
                <a:spcPts val="600"/>
              </a:spcAft>
              <a:buSzPct val="100000"/>
              <a:buChar char="■"/>
            </a:pPr>
            <a:r>
              <a:rPr lang="en-US" sz="1100" dirty="0">
                <a:solidFill>
                  <a:srgbClr val="D8DDE5"/>
                </a:solidFill>
                <a:latin typeface="Arial" pitchFamily="34" charset="0"/>
                <a:ea typeface="Arial" pitchFamily="34" charset="-122"/>
                <a:cs typeface="Arial" pitchFamily="34" charset="-120"/>
              </a:rPr>
              <a:t>Presenting credit on all show assets</a:t>
            </a:r>
            <a:endParaRPr lang="en-US" sz="1100" dirty="0"/>
          </a:p>
        </p:txBody>
      </p:sp>
      <p:sp>
        <p:nvSpPr>
          <p:cNvPr id="17" name="Shape 15"/>
          <p:cNvSpPr/>
          <p:nvPr/>
        </p:nvSpPr>
        <p:spPr>
          <a:xfrm>
            <a:off x="8138160" y="2148840"/>
            <a:ext cx="3657600" cy="3977640"/>
          </a:xfrm>
          <a:prstGeom prst="roundRect">
            <a:avLst>
              <a:gd name="adj" fmla="val 2500"/>
            </a:avLst>
          </a:prstGeom>
          <a:solidFill>
            <a:srgbClr val="FFFFFF"/>
          </a:solidFill>
          <a:ln w="12700">
            <a:solidFill>
              <a:srgbClr val="E5E1D8"/>
            </a:solidFill>
            <a:prstDash val="solid"/>
          </a:ln>
        </p:spPr>
      </p:sp>
      <p:sp>
        <p:nvSpPr>
          <p:cNvPr id="18" name="Shape 16"/>
          <p:cNvSpPr/>
          <p:nvPr/>
        </p:nvSpPr>
        <p:spPr>
          <a:xfrm>
            <a:off x="8412480" y="2331720"/>
            <a:ext cx="274320" cy="36576"/>
          </a:xfrm>
          <a:prstGeom prst="rect">
            <a:avLst/>
          </a:prstGeom>
          <a:solidFill>
            <a:srgbClr val="E4002B"/>
          </a:solidFill>
          <a:ln/>
        </p:spPr>
      </p:sp>
      <p:sp>
        <p:nvSpPr>
          <p:cNvPr id="19" name="Text 17"/>
          <p:cNvSpPr/>
          <p:nvPr/>
        </p:nvSpPr>
        <p:spPr>
          <a:xfrm>
            <a:off x="8412480" y="2423160"/>
            <a:ext cx="3108960" cy="411480"/>
          </a:xfrm>
          <a:prstGeom prst="rect">
            <a:avLst/>
          </a:prstGeom>
          <a:noFill/>
          <a:ln/>
        </p:spPr>
        <p:txBody>
          <a:bodyPr wrap="square" rtlCol="0" anchor="ctr"/>
          <a:lstStyle/>
          <a:p>
            <a:pPr indent="0" marL="0">
              <a:buNone/>
            </a:pPr>
            <a:r>
              <a:rPr lang="en-US" sz="1400" b="1" spc="200" kern="0" dirty="0">
                <a:solidFill>
                  <a:srgbClr val="1A1D23"/>
                </a:solidFill>
                <a:latin typeface="Arial" pitchFamily="34" charset="0"/>
                <a:ea typeface="Arial" pitchFamily="34" charset="-122"/>
                <a:cs typeface="Arial" pitchFamily="34" charset="-120"/>
              </a:rPr>
              <a:t>CATEGORY PARTNER</a:t>
            </a:r>
            <a:endParaRPr lang="en-US" sz="1400" dirty="0"/>
          </a:p>
        </p:txBody>
      </p:sp>
      <p:sp>
        <p:nvSpPr>
          <p:cNvPr id="20" name="Text 18"/>
          <p:cNvSpPr/>
          <p:nvPr/>
        </p:nvSpPr>
        <p:spPr>
          <a:xfrm>
            <a:off x="8412480" y="2880360"/>
            <a:ext cx="3108960" cy="320040"/>
          </a:xfrm>
          <a:prstGeom prst="rect">
            <a:avLst/>
          </a:prstGeom>
          <a:noFill/>
          <a:ln/>
        </p:spPr>
        <p:txBody>
          <a:bodyPr wrap="square" rtlCol="0" anchor="ctr"/>
          <a:lstStyle/>
          <a:p>
            <a:pPr indent="0" marL="0">
              <a:buNone/>
            </a:pPr>
            <a:r>
              <a:rPr lang="en-US" sz="1000" i="1" dirty="0">
                <a:solidFill>
                  <a:srgbClr val="5A5F6A"/>
                </a:solidFill>
                <a:latin typeface="Cambria" pitchFamily="34" charset="0"/>
                <a:ea typeface="Cambria" pitchFamily="34" charset="-122"/>
                <a:cs typeface="Cambria" pitchFamily="34" charset="-120"/>
              </a:rPr>
              <a:t>Investment range: on discussion</a:t>
            </a:r>
            <a:endParaRPr lang="en-US" sz="1000" dirty="0"/>
          </a:p>
        </p:txBody>
      </p:sp>
      <p:sp>
        <p:nvSpPr>
          <p:cNvPr id="21" name="Shape 19"/>
          <p:cNvSpPr/>
          <p:nvPr/>
        </p:nvSpPr>
        <p:spPr>
          <a:xfrm>
            <a:off x="8412480" y="3246120"/>
            <a:ext cx="3108960" cy="9144"/>
          </a:xfrm>
          <a:prstGeom prst="rect">
            <a:avLst/>
          </a:prstGeom>
          <a:solidFill>
            <a:srgbClr val="E5E1D8"/>
          </a:solidFill>
          <a:ln/>
        </p:spPr>
      </p:sp>
      <p:sp>
        <p:nvSpPr>
          <p:cNvPr id="22" name="Text 20"/>
          <p:cNvSpPr/>
          <p:nvPr/>
        </p:nvSpPr>
        <p:spPr>
          <a:xfrm>
            <a:off x="8412480" y="3383280"/>
            <a:ext cx="3200400" cy="2286000"/>
          </a:xfrm>
          <a:prstGeom prst="rect">
            <a:avLst/>
          </a:prstGeom>
          <a:noFill/>
          <a:ln/>
        </p:spPr>
        <p:txBody>
          <a:bodyPr wrap="square" rtlCol="0" anchor="ctr"/>
          <a:lstStyle/>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6-language distribution across 30+ channels</a:t>
            </a:r>
            <a:endParaRPr lang="en-US" sz="1100" dirty="0"/>
          </a:p>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Season 1 sponsorship-plus (attribution rights)</a:t>
            </a:r>
            <a:endParaRPr lang="en-US" sz="1100" dirty="0"/>
          </a:p>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Ecosystem extensions (3 of 5)</a:t>
            </a:r>
            <a:endParaRPr lang="en-US" sz="1100" dirty="0"/>
          </a:p>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Category-exclusive lockout</a:t>
            </a:r>
            <a:endParaRPr lang="en-US" sz="1100" dirty="0"/>
          </a:p>
          <a:p>
            <a:pPr marL="342900" indent="-342900">
              <a:spcAft>
                <a:spcPts val="600"/>
              </a:spcAft>
              <a:buSzPct val="100000"/>
              <a:buChar char="■"/>
            </a:pPr>
            <a:r>
              <a:rPr lang="en-US" sz="1100" dirty="0">
                <a:solidFill>
                  <a:srgbClr val="1A1D23"/>
                </a:solidFill>
                <a:latin typeface="Arial" pitchFamily="34" charset="0"/>
                <a:ea typeface="Arial" pitchFamily="34" charset="-122"/>
                <a:cs typeface="Arial" pitchFamily="34" charset="-120"/>
              </a:rPr>
              <a:t>First look at future EV content</a:t>
            </a:r>
            <a:endParaRPr lang="en-US" sz="1100" dirty="0"/>
          </a:p>
        </p:txBody>
      </p:sp>
      <p:sp>
        <p:nvSpPr>
          <p:cNvPr id="23" name="Text 21"/>
          <p:cNvSpPr/>
          <p:nvPr/>
        </p:nvSpPr>
        <p:spPr>
          <a:xfrm>
            <a:off x="548640" y="6263640"/>
            <a:ext cx="11064240" cy="274320"/>
          </a:xfrm>
          <a:prstGeom prst="rect">
            <a:avLst/>
          </a:prstGeom>
          <a:noFill/>
          <a:ln/>
        </p:spPr>
        <p:txBody>
          <a:bodyPr wrap="square" rtlCol="0" anchor="ctr"/>
          <a:lstStyle/>
          <a:p>
            <a:pPr algn="ctr" indent="0" marL="0">
              <a:buNone/>
            </a:pPr>
            <a:r>
              <a:rPr lang="en-US" sz="1000" i="1" dirty="0">
                <a:solidFill>
                  <a:srgbClr val="5A5F6A"/>
                </a:solidFill>
                <a:latin typeface="Cambria" pitchFamily="34" charset="0"/>
                <a:ea typeface="Cambria" pitchFamily="34" charset="-122"/>
                <a:cs typeface="Cambria" pitchFamily="34" charset="-120"/>
              </a:rPr>
              <a:t>All tiers include: co-owned show bible • independent measurement report • category-exclusive lockout for launch quarter</a:t>
            </a:r>
            <a:endParaRPr lang="en-US" sz="1000" dirty="0"/>
          </a:p>
        </p:txBody>
      </p:sp>
      <p:sp>
        <p:nvSpPr>
          <p:cNvPr id="24" name="Text 22"/>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5A5F6A"/>
                </a:solidFill>
                <a:latin typeface="Arial" pitchFamily="34" charset="0"/>
                <a:ea typeface="Arial" pitchFamily="34" charset="-122"/>
                <a:cs typeface="Arial" pitchFamily="34" charset="-120"/>
              </a:rPr>
              <a:t>MAHINDRA × VETO   |   CHARGED BHARAT   |   Confidential Proposal</a:t>
            </a:r>
            <a:endParaRPr lang="en-US" sz="800" dirty="0"/>
          </a:p>
        </p:txBody>
      </p:sp>
      <p:sp>
        <p:nvSpPr>
          <p:cNvPr id="25" name="Text 23"/>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1A1D23"/>
                </a:solidFill>
                <a:latin typeface="Arial" pitchFamily="34" charset="0"/>
                <a:ea typeface="Arial" pitchFamily="34" charset="-122"/>
                <a:cs typeface="Arial"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3"/>
        </a:solidFill>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a:ln/>
        </p:spPr>
        <p:txBody>
          <a:bodyPr wrap="square" rtlCol="0" anchor="ctr"/>
          <a:lstStyle/>
          <a:p>
            <a:pPr indent="0" marL="0">
              <a:buNone/>
            </a:pPr>
            <a:r>
              <a:rPr lang="en-US" sz="1000" b="1" spc="400" kern="0" dirty="0">
                <a:solidFill>
                  <a:srgbClr val="D4A017"/>
                </a:solidFill>
                <a:latin typeface="Arial" pitchFamily="34" charset="0"/>
                <a:ea typeface="Arial" pitchFamily="34" charset="-122"/>
                <a:cs typeface="Arial" pitchFamily="34" charset="-120"/>
              </a:rPr>
              <a:t>09  /  THE ASK</a:t>
            </a:r>
            <a:endParaRPr lang="en-US" sz="1000" dirty="0"/>
          </a:p>
        </p:txBody>
      </p:sp>
      <p:sp>
        <p:nvSpPr>
          <p:cNvPr id="3" name="Text 1"/>
          <p:cNvSpPr/>
          <p:nvPr/>
        </p:nvSpPr>
        <p:spPr>
          <a:xfrm>
            <a:off x="548640" y="960120"/>
            <a:ext cx="10972800" cy="64008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Three asks. Nothing more.</a:t>
            </a:r>
            <a:endParaRPr lang="en-US" sz="3600" dirty="0"/>
          </a:p>
        </p:txBody>
      </p:sp>
      <p:sp>
        <p:nvSpPr>
          <p:cNvPr id="4" name="Text 2"/>
          <p:cNvSpPr/>
          <p:nvPr/>
        </p:nvSpPr>
        <p:spPr>
          <a:xfrm>
            <a:off x="548640" y="2103120"/>
            <a:ext cx="1097280" cy="1051560"/>
          </a:xfrm>
          <a:prstGeom prst="rect">
            <a:avLst/>
          </a:prstGeom>
          <a:noFill/>
          <a:ln/>
        </p:spPr>
        <p:txBody>
          <a:bodyPr wrap="square" rtlCol="0" anchor="t"/>
          <a:lstStyle/>
          <a:p>
            <a:pPr indent="0" marL="0">
              <a:buNone/>
            </a:pPr>
            <a:r>
              <a:rPr lang="en-US" sz="4200" b="1" dirty="0">
                <a:solidFill>
                  <a:srgbClr val="E4002B"/>
                </a:solidFill>
                <a:latin typeface="Arial" pitchFamily="34" charset="0"/>
                <a:ea typeface="Arial" pitchFamily="34" charset="-122"/>
                <a:cs typeface="Arial" pitchFamily="34" charset="-120"/>
              </a:rPr>
              <a:t>01</a:t>
            </a:r>
            <a:endParaRPr lang="en-US" sz="4200" dirty="0"/>
          </a:p>
        </p:txBody>
      </p:sp>
      <p:sp>
        <p:nvSpPr>
          <p:cNvPr id="5" name="Text 3"/>
          <p:cNvSpPr/>
          <p:nvPr/>
        </p:nvSpPr>
        <p:spPr>
          <a:xfrm>
            <a:off x="1737360" y="2148840"/>
            <a:ext cx="9875520" cy="41148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 45-minute working session</a:t>
            </a:r>
            <a:endParaRPr lang="en-US" sz="1900" dirty="0"/>
          </a:p>
        </p:txBody>
      </p:sp>
      <p:sp>
        <p:nvSpPr>
          <p:cNvPr id="6" name="Text 4"/>
          <p:cNvSpPr/>
          <p:nvPr/>
        </p:nvSpPr>
        <p:spPr>
          <a:xfrm>
            <a:off x="1737360" y="2606040"/>
            <a:ext cx="9875520" cy="594360"/>
          </a:xfrm>
          <a:prstGeom prst="rect">
            <a:avLst/>
          </a:prstGeom>
          <a:noFill/>
          <a:ln/>
        </p:spPr>
        <p:txBody>
          <a:bodyPr wrap="square" rtlCol="0" anchor="ctr"/>
          <a:lstStyle/>
          <a:p>
            <a:pPr indent="0" marL="0">
              <a:buNone/>
            </a:pPr>
            <a:r>
              <a:rPr lang="en-US" sz="1250" dirty="0">
                <a:solidFill>
                  <a:srgbClr val="B8BDC7"/>
                </a:solidFill>
                <a:latin typeface="Arial" pitchFamily="34" charset="0"/>
                <a:ea typeface="Arial" pitchFamily="34" charset="-122"/>
                <a:cs typeface="Arial" pitchFamily="34" charset="-120"/>
              </a:rPr>
              <a:t>With Mahindra's marketing, brand and one senior editorial voice. To co-develop the show's editorial guardrails — so credibility positioning is agreed on before production begins.</a:t>
            </a:r>
            <a:endParaRPr lang="en-US" sz="1250" dirty="0"/>
          </a:p>
        </p:txBody>
      </p:sp>
      <p:sp>
        <p:nvSpPr>
          <p:cNvPr id="7" name="Text 5"/>
          <p:cNvSpPr/>
          <p:nvPr/>
        </p:nvSpPr>
        <p:spPr>
          <a:xfrm>
            <a:off x="548640" y="3291840"/>
            <a:ext cx="1097280" cy="1051560"/>
          </a:xfrm>
          <a:prstGeom prst="rect">
            <a:avLst/>
          </a:prstGeom>
          <a:noFill/>
          <a:ln/>
        </p:spPr>
        <p:txBody>
          <a:bodyPr wrap="square" rtlCol="0" anchor="t"/>
          <a:lstStyle/>
          <a:p>
            <a:pPr indent="0" marL="0">
              <a:buNone/>
            </a:pPr>
            <a:r>
              <a:rPr lang="en-US" sz="4200" b="1" dirty="0">
                <a:solidFill>
                  <a:srgbClr val="E4002B"/>
                </a:solidFill>
                <a:latin typeface="Arial" pitchFamily="34" charset="0"/>
                <a:ea typeface="Arial" pitchFamily="34" charset="-122"/>
                <a:cs typeface="Arial" pitchFamily="34" charset="-120"/>
              </a:rPr>
              <a:t>02</a:t>
            </a:r>
            <a:endParaRPr lang="en-US" sz="4200" dirty="0"/>
          </a:p>
        </p:txBody>
      </p:sp>
      <p:sp>
        <p:nvSpPr>
          <p:cNvPr id="8" name="Text 6"/>
          <p:cNvSpPr/>
          <p:nvPr/>
        </p:nvSpPr>
        <p:spPr>
          <a:xfrm>
            <a:off x="1737360" y="3337560"/>
            <a:ext cx="9875520" cy="41148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Tier alignment by mid-September</a:t>
            </a:r>
            <a:endParaRPr lang="en-US" sz="1900" dirty="0"/>
          </a:p>
        </p:txBody>
      </p:sp>
      <p:sp>
        <p:nvSpPr>
          <p:cNvPr id="9" name="Text 7"/>
          <p:cNvSpPr/>
          <p:nvPr/>
        </p:nvSpPr>
        <p:spPr>
          <a:xfrm>
            <a:off x="1737360" y="3794760"/>
            <a:ext cx="9875520" cy="594360"/>
          </a:xfrm>
          <a:prstGeom prst="rect">
            <a:avLst/>
          </a:prstGeom>
          <a:noFill/>
          <a:ln/>
        </p:spPr>
        <p:txBody>
          <a:bodyPr wrap="square" rtlCol="0" anchor="ctr"/>
          <a:lstStyle/>
          <a:p>
            <a:pPr indent="0" marL="0">
              <a:buNone/>
            </a:pPr>
            <a:r>
              <a:rPr lang="en-US" sz="1250" dirty="0">
                <a:solidFill>
                  <a:srgbClr val="B8BDC7"/>
                </a:solidFill>
                <a:latin typeface="Arial" pitchFamily="34" charset="0"/>
                <a:ea typeface="Arial" pitchFamily="34" charset="-122"/>
                <a:cs typeface="Arial" pitchFamily="34" charset="-120"/>
              </a:rPr>
              <a:t>Production kicks off in early October to hit a Dhanteras (November 2026) launch. Tier decision anchors the timeline.</a:t>
            </a:r>
            <a:endParaRPr lang="en-US" sz="1250" dirty="0"/>
          </a:p>
        </p:txBody>
      </p:sp>
      <p:sp>
        <p:nvSpPr>
          <p:cNvPr id="10" name="Text 8"/>
          <p:cNvSpPr/>
          <p:nvPr/>
        </p:nvSpPr>
        <p:spPr>
          <a:xfrm>
            <a:off x="548640" y="4480560"/>
            <a:ext cx="1097280" cy="1051560"/>
          </a:xfrm>
          <a:prstGeom prst="rect">
            <a:avLst/>
          </a:prstGeom>
          <a:noFill/>
          <a:ln/>
        </p:spPr>
        <p:txBody>
          <a:bodyPr wrap="square" rtlCol="0" anchor="t"/>
          <a:lstStyle/>
          <a:p>
            <a:pPr indent="0" marL="0">
              <a:buNone/>
            </a:pPr>
            <a:r>
              <a:rPr lang="en-US" sz="4200" b="1" dirty="0">
                <a:solidFill>
                  <a:srgbClr val="E4002B"/>
                </a:solidFill>
                <a:latin typeface="Arial" pitchFamily="34" charset="0"/>
                <a:ea typeface="Arial" pitchFamily="34" charset="-122"/>
                <a:cs typeface="Arial" pitchFamily="34" charset="-120"/>
              </a:rPr>
              <a:t>03</a:t>
            </a:r>
            <a:endParaRPr lang="en-US" sz="4200" dirty="0"/>
          </a:p>
        </p:txBody>
      </p:sp>
      <p:sp>
        <p:nvSpPr>
          <p:cNvPr id="11" name="Text 9"/>
          <p:cNvSpPr/>
          <p:nvPr/>
        </p:nvSpPr>
        <p:spPr>
          <a:xfrm>
            <a:off x="1737360" y="4526280"/>
            <a:ext cx="9875520" cy="411480"/>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An introduction to Mahindra's dealer + CRM team</a:t>
            </a:r>
            <a:endParaRPr lang="en-US" sz="1900" dirty="0"/>
          </a:p>
        </p:txBody>
      </p:sp>
      <p:sp>
        <p:nvSpPr>
          <p:cNvPr id="12" name="Text 10"/>
          <p:cNvSpPr/>
          <p:nvPr/>
        </p:nvSpPr>
        <p:spPr>
          <a:xfrm>
            <a:off x="1737360" y="4983480"/>
            <a:ext cx="9875520" cy="594360"/>
          </a:xfrm>
          <a:prstGeom prst="rect">
            <a:avLst/>
          </a:prstGeom>
          <a:noFill/>
          <a:ln/>
        </p:spPr>
        <p:txBody>
          <a:bodyPr wrap="square" rtlCol="0" anchor="ctr"/>
          <a:lstStyle/>
          <a:p>
            <a:pPr indent="0" marL="0">
              <a:buNone/>
            </a:pPr>
            <a:r>
              <a:rPr lang="en-US" sz="1250" dirty="0">
                <a:solidFill>
                  <a:srgbClr val="B8BDC7"/>
                </a:solidFill>
                <a:latin typeface="Arial" pitchFamily="34" charset="0"/>
                <a:ea typeface="Arial" pitchFamily="34" charset="-122"/>
                <a:cs typeface="Arial" pitchFamily="34" charset="-120"/>
              </a:rPr>
              <a:t>So the ecosystem extensions — showroom loops, CRM journeys, dealer-locator overlays — are built into existing sales infrastructure, not bolted on later.</a:t>
            </a:r>
            <a:endParaRPr lang="en-US" sz="1250" dirty="0"/>
          </a:p>
        </p:txBody>
      </p:sp>
      <p:sp>
        <p:nvSpPr>
          <p:cNvPr id="13" name="Shape 11"/>
          <p:cNvSpPr/>
          <p:nvPr/>
        </p:nvSpPr>
        <p:spPr>
          <a:xfrm>
            <a:off x="548640" y="5532120"/>
            <a:ext cx="11064240" cy="18288"/>
          </a:xfrm>
          <a:prstGeom prst="rect">
            <a:avLst/>
          </a:prstGeom>
          <a:solidFill>
            <a:srgbClr val="D4A017"/>
          </a:solidFill>
          <a:ln/>
        </p:spPr>
      </p:sp>
      <p:sp>
        <p:nvSpPr>
          <p:cNvPr id="14" name="Text 12"/>
          <p:cNvSpPr/>
          <p:nvPr/>
        </p:nvSpPr>
        <p:spPr>
          <a:xfrm>
            <a:off x="548640" y="5669280"/>
            <a:ext cx="11064240" cy="365760"/>
          </a:xfrm>
          <a:prstGeom prst="rect">
            <a:avLst/>
          </a:prstGeom>
          <a:noFill/>
          <a:ln/>
        </p:spPr>
        <p:txBody>
          <a:bodyPr wrap="square" rtlCol="0" anchor="ctr"/>
          <a:lstStyle/>
          <a:p>
            <a:pPr indent="0" marL="0">
              <a:buNone/>
            </a:pPr>
            <a:r>
              <a:rPr lang="en-US" sz="1500" i="1" dirty="0">
                <a:solidFill>
                  <a:srgbClr val="B8BDC7"/>
                </a:solidFill>
                <a:latin typeface="Cambria" pitchFamily="34" charset="0"/>
                <a:ea typeface="Cambria" pitchFamily="34" charset="-122"/>
                <a:cs typeface="Cambria" pitchFamily="34" charset="-120"/>
              </a:rPr>
              <a:t>Every other pitch this Diwali is asking for your Diwali budget.</a:t>
            </a:r>
            <a:endParaRPr lang="en-US" sz="1500" dirty="0"/>
          </a:p>
        </p:txBody>
      </p:sp>
      <p:sp>
        <p:nvSpPr>
          <p:cNvPr id="15" name="Text 13"/>
          <p:cNvSpPr/>
          <p:nvPr/>
        </p:nvSpPr>
        <p:spPr>
          <a:xfrm>
            <a:off x="548640" y="6035040"/>
            <a:ext cx="11064240" cy="4572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This one is asking to build the next three years of India's EV conversation — with you.</a:t>
            </a:r>
            <a:endParaRPr lang="en-US" sz="1700" dirty="0"/>
          </a:p>
        </p:txBody>
      </p:sp>
      <p:sp>
        <p:nvSpPr>
          <p:cNvPr id="16" name="Text 14"/>
          <p:cNvSpPr/>
          <p:nvPr/>
        </p:nvSpPr>
        <p:spPr>
          <a:xfrm>
            <a:off x="457200" y="6537960"/>
            <a:ext cx="8229600" cy="228600"/>
          </a:xfrm>
          <a:prstGeom prst="rect">
            <a:avLst/>
          </a:prstGeom>
          <a:noFill/>
          <a:ln/>
        </p:spPr>
        <p:txBody>
          <a:bodyPr wrap="square" rtlCol="0" anchor="ctr"/>
          <a:lstStyle/>
          <a:p>
            <a:pPr indent="0" marL="0">
              <a:buNone/>
            </a:pPr>
            <a:r>
              <a:rPr lang="en-US" sz="800" spc="200" kern="0" dirty="0">
                <a:solidFill>
                  <a:srgbClr val="8A8F9A"/>
                </a:solidFill>
                <a:latin typeface="Arial" pitchFamily="34" charset="0"/>
                <a:ea typeface="Arial" pitchFamily="34" charset="-122"/>
                <a:cs typeface="Arial" pitchFamily="34" charset="-120"/>
              </a:rPr>
              <a:t>MAHINDRA × VETO   |   CHARGED BHARAT   |   Confidential Proposal</a:t>
            </a:r>
            <a:endParaRPr lang="en-US" sz="800" dirty="0"/>
          </a:p>
        </p:txBody>
      </p:sp>
      <p:sp>
        <p:nvSpPr>
          <p:cNvPr id="17" name="Text 15"/>
          <p:cNvSpPr/>
          <p:nvPr/>
        </p:nvSpPr>
        <p:spPr>
          <a:xfrm>
            <a:off x="11247120" y="6537960"/>
            <a:ext cx="457200" cy="228600"/>
          </a:xfrm>
          <a:prstGeom prst="rect">
            <a:avLst/>
          </a:prstGeom>
          <a:noFill/>
          <a:ln/>
        </p:spPr>
        <p:txBody>
          <a:bodyPr wrap="square" rtlCol="0" anchor="ctr"/>
          <a:lstStyle/>
          <a:p>
            <a:pPr algn="r" indent="0" marL="0">
              <a:buNone/>
            </a:pPr>
            <a:r>
              <a:rPr lang="en-US" sz="800" b="1" dirty="0">
                <a:solidFill>
                  <a:srgbClr val="FFFFFF"/>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Mahindra x VETO - Charged Bharat</dc:title>
  <dc:subject>PptxGenJS Presentation</dc:subject>
  <dc:creator>PptxGenJS</dc:creator>
  <cp:lastModifiedBy>PptxGenJS</cp:lastModifiedBy>
  <cp:revision>1</cp:revision>
  <dcterms:created xsi:type="dcterms:W3CDTF">2026-08-24T07:47:03Z</dcterms:created>
  <dcterms:modified xsi:type="dcterms:W3CDTF">2026-08-24T07:47:03Z</dcterms:modified>
</cp:coreProperties>
</file>