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68" r:id="rId5"/>
    <p:sldId id="269" r:id="rId6"/>
    <p:sldId id="262" r:id="rId7"/>
    <p:sldId id="270" r:id="rId8"/>
    <p:sldId id="261" r:id="rId9"/>
    <p:sldId id="271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6" autoAdjust="0"/>
    <p:restoredTop sz="96247" autoAdjust="0"/>
  </p:normalViewPr>
  <p:slideViewPr>
    <p:cSldViewPr snapToGrid="0" snapToObjects="1">
      <p:cViewPr varScale="1">
        <p:scale>
          <a:sx n="146" d="100"/>
          <a:sy n="146" d="100"/>
        </p:scale>
        <p:origin x="5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281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" y="25603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1AB89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320040" y="256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320040" y="529699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  ×  Bisleri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320040" y="12344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PARTNERSHIP</a:t>
            </a:r>
            <a:endParaRPr lang="en-US" sz="38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OPPORTUNITY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320040" y="2542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First Serve to Final Highlight.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78823" y="3474720"/>
            <a:ext cx="3474720" cy="0"/>
          </a:xfrm>
          <a:prstGeom prst="line">
            <a:avLst/>
          </a:prstGeom>
          <a:noFill/>
          <a:ln w="19050">
            <a:solidFill>
              <a:srgbClr val="1AB89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" y="3638659"/>
            <a:ext cx="457200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 brings the game. Bisleri brings the refreshment.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6B5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Davis Cup  ·  Exclusively on VETO  ·  Presented by Bisleri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5551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143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1AB89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20040" y="1143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2004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Partnership Works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320040" y="10789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D966"/>
                </a:solidFill>
              </a:rPr>
              <a:t>Because tennis naturally creates refreshment moments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1508760"/>
            <a:ext cx="5029200" cy="0"/>
          </a:xfrm>
          <a:prstGeom prst="line">
            <a:avLst/>
          </a:prstGeom>
          <a:noFill/>
          <a:ln w="19050">
            <a:solidFill>
              <a:srgbClr val="1AB89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2069" y="1668780"/>
            <a:ext cx="1737360" cy="1332409"/>
          </a:xfrm>
          <a:prstGeom prst="rect">
            <a:avLst/>
          </a:prstGeom>
          <a:solidFill>
            <a:srgbClr val="0A5248">
              <a:alpha val="80000"/>
            </a:srgbClr>
          </a:solidFill>
          <a:ln w="12700">
            <a:solidFill>
              <a:srgbClr val="1AB89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0639" y="165277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📺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244929" y="219570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VETO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44929" y="2543989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F3"/>
                </a:solidFill>
              </a:rPr>
              <a:t>Viewing Platform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49139" y="1694416"/>
            <a:ext cx="1737360" cy="1328983"/>
          </a:xfrm>
          <a:prstGeom prst="rect">
            <a:avLst/>
          </a:prstGeom>
          <a:solidFill>
            <a:srgbClr val="0A5248">
              <a:alpha val="80000"/>
            </a:srgbClr>
          </a:solidFill>
          <a:ln w="12700">
            <a:solidFill>
              <a:srgbClr val="1AB89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1999" y="1715317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🎾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4594859" y="2199295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TENNIS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555670" y="2566199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F3"/>
                </a:solidFill>
              </a:rPr>
              <a:t>High-Intensity Sport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397034" y="1668780"/>
            <a:ext cx="1737360" cy="1306123"/>
          </a:xfrm>
          <a:prstGeom prst="rect">
            <a:avLst/>
          </a:prstGeom>
          <a:solidFill>
            <a:srgbClr val="0A5248">
              <a:alpha val="80000"/>
            </a:srgbClr>
          </a:solidFill>
          <a:ln w="12700">
            <a:solidFill>
              <a:srgbClr val="1AB89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397034" y="16687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2408464" y="216484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BISLERI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2397034" y="2543339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F3"/>
                </a:solidFill>
              </a:rPr>
              <a:t>Refreshment Partner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936569" y="2037805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966"/>
                </a:solidFill>
              </a:rPr>
              <a:t>+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4183379" y="1979187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966"/>
                </a:solidFill>
              </a:rPr>
              <a:t>=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244929" y="3638819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000"/>
                </a:solidFill>
              </a:rPr>
              <a:t>A natural fit — hydration + high-intensity sport + live streaming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6B5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VETO × Bisleri  ·  Hydrate the Game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22860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4C430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20040" y="2286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3E3A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0" y="8229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1AB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IDEA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0" y="128016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HYDRATE</a:t>
            </a:r>
            <a:endParaRPr lang="en-US" sz="7200" dirty="0"/>
          </a:p>
          <a:p>
            <a:pPr marL="0" indent="0" algn="ctr">
              <a:lnSpc>
                <a:spcPts val="8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GAME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966"/>
                </a:solidFill>
              </a:rPr>
              <a:t>Play.  Pause.  Refresh.  Return.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286000" y="3931920"/>
            <a:ext cx="4572000" cy="0"/>
          </a:xfrm>
          <a:prstGeom prst="line">
            <a:avLst/>
          </a:prstGeom>
          <a:noFill/>
          <a:ln w="19050">
            <a:solidFill>
              <a:srgbClr val="1AB89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E8F5F3"/>
                </a:solidFill>
              </a:rPr>
              <a:t>Bisleri becomes the brand that keeps the game moving.</a:t>
            </a:r>
            <a:endParaRPr lang="en-US" sz="13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E8F5F3"/>
                </a:solidFill>
              </a:rPr>
              <a:t>This becomes the umbrella idea for all integrations.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6B5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VETO × Bisleri  ·  Hydrate the Game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7D189C2-A109-B353-F244-D247FC7FE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128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084846-D1F1-EE0C-2308-3CA8F5EF1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755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228600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4C430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20040" y="2286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3E3A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20040" y="5029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966"/>
                </a:solidFill>
              </a:rPr>
              <a:t>Concept 02  ·  POST-MATCH CONTENT PROPERTY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320040" y="896112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BISLERI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 REFRESH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320040" y="3150109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FFD966"/>
                </a:solidFill>
              </a:rPr>
              <a:t>Match Highlights presented by Bisleri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20040" y="2670048"/>
            <a:ext cx="4572000" cy="0"/>
          </a:xfrm>
          <a:prstGeom prst="line">
            <a:avLst/>
          </a:prstGeom>
          <a:noFill/>
          <a:ln w="19050">
            <a:solidFill>
              <a:srgbClr val="1AB89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" y="4343400"/>
            <a:ext cx="5029200" cy="274320"/>
          </a:xfrm>
          <a:prstGeom prst="rect">
            <a:avLst/>
          </a:prstGeom>
          <a:solidFill>
            <a:srgbClr val="F4C430">
              <a:alpha val="80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2004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3E3A"/>
                </a:solidFill>
              </a:rPr>
              <a:t>Refresh the match. Relive the moments.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6B5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VETO × Bisleri  ·  Hydrate the Game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9CC04F-F24B-3C84-A86F-1AFBBB871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806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228600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1AB89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20040" y="2286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20040" y="5029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03  ·  HERO CONTENT PROPERTY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320040" y="896112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BISLERI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RALLY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32004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D966"/>
                </a:solidFill>
              </a:rPr>
              <a:t>Rally of the Match, presented by Bisleri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" y="2788920"/>
            <a:ext cx="4114800" cy="0"/>
          </a:xfrm>
          <a:prstGeom prst="line">
            <a:avLst/>
          </a:prstGeom>
          <a:noFill/>
          <a:ln w="19050">
            <a:solidFill>
              <a:srgbClr val="1AB89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F3"/>
                </a:solidFill>
              </a:rPr>
              <a:t>🎬  Best Rally Replay Graphic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3273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F3"/>
                </a:solidFill>
              </a:rPr>
              <a:t>📊  Longest Rally Counter — Powered by Bisleri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36210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F3"/>
                </a:solidFill>
              </a:rPr>
              <a:t>⚡  Shot of the Match branded sting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20040" y="39684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F3"/>
                </a:solidFill>
              </a:rPr>
              <a:t>📱  Social clip + Tournament compilation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" y="4343400"/>
            <a:ext cx="4572000" cy="274320"/>
          </a:xfrm>
          <a:prstGeom prst="rect">
            <a:avLst/>
          </a:prstGeom>
          <a:solidFill>
            <a:srgbClr val="1AB89B">
              <a:alpha val="75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200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Own the moment that keeps the game alive.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6B5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VETO × Bisleri  ·  Hydrate the Game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80BBD6-E9BF-5D90-E7B6-E128C32C6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782" y="0"/>
            <a:ext cx="920278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182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99931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1AB89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20040" y="90787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2004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VETO Ecosystem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320040" y="10789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D966"/>
                </a:solidFill>
              </a:rPr>
              <a:t>One partnership. Every touchpoint.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1508760"/>
            <a:ext cx="5486400" cy="0"/>
          </a:xfrm>
          <a:prstGeom prst="line">
            <a:avLst/>
          </a:prstGeom>
          <a:noFill/>
          <a:ln w="19050">
            <a:solidFill>
              <a:srgbClr val="1AB89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1691640"/>
            <a:ext cx="1280160" cy="2560320"/>
          </a:xfrm>
          <a:prstGeom prst="rect">
            <a:avLst/>
          </a:prstGeom>
          <a:solidFill>
            <a:srgbClr val="0A5248">
              <a:alpha val="85000"/>
            </a:srgbClr>
          </a:solidFill>
          <a:ln w="25400">
            <a:solidFill>
              <a:srgbClr val="1AB89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2331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B89B"/>
                </a:solidFill>
              </a:rPr>
              <a:t>BEFORE MATCH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2788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E8F5F3"/>
                </a:solidFill>
              </a:rPr>
              <a:t>Homepage,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E8F5F3"/>
                </a:solidFill>
              </a:rPr>
              <a:t>Match Page,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E8F5F3"/>
                </a:solidFill>
              </a:rPr>
              <a:t>Promos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37360" y="1691640"/>
            <a:ext cx="1280160" cy="2560320"/>
          </a:xfrm>
          <a:prstGeom prst="rect">
            <a:avLst/>
          </a:prstGeom>
          <a:solidFill>
            <a:srgbClr val="0A5248">
              <a:alpha val="85000"/>
            </a:srgbClr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73736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737360" y="2331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</a:rPr>
              <a:t>DURING MATCH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737360" y="2788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E8F5F3"/>
                </a:solidFill>
              </a:rPr>
              <a:t>Live Branding,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E8F5F3"/>
                </a:solidFill>
              </a:rPr>
              <a:t>Graphics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154680" y="1691640"/>
            <a:ext cx="1280160" cy="2560320"/>
          </a:xfrm>
          <a:prstGeom prst="rect">
            <a:avLst/>
          </a:prstGeom>
          <a:solidFill>
            <a:srgbClr val="0A5248">
              <a:alpha val="85000"/>
            </a:srgbClr>
          </a:solidFill>
          <a:ln w="25400">
            <a:solidFill>
              <a:srgbClr val="FFD96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5468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3154680" y="2331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966"/>
                </a:solidFill>
              </a:rPr>
              <a:t>AFTER MATCH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2788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E8F5F3"/>
                </a:solidFill>
              </a:rPr>
              <a:t>Highlights,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E8F5F3"/>
                </a:solidFill>
              </a:rPr>
              <a:t>Thumbnails,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E8F5F3"/>
                </a:solidFill>
              </a:rPr>
              <a:t>Recap Cards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0" y="1691640"/>
            <a:ext cx="1280160" cy="2560320"/>
          </a:xfrm>
          <a:prstGeom prst="rect">
            <a:avLst/>
          </a:prstGeom>
          <a:solidFill>
            <a:srgbClr val="0A5248">
              <a:alpha val="85000"/>
            </a:srgbClr>
          </a:solidFill>
          <a:ln w="25400">
            <a:solidFill>
              <a:srgbClr val="1AB89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📲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2331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B89B"/>
                </a:solidFill>
              </a:rPr>
              <a:t>BEYOND MATCH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2788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E8F5F3"/>
                </a:solidFill>
              </a:rPr>
              <a:t>Social Clips,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E8F5F3"/>
                </a:solidFill>
              </a:rPr>
              <a:t>Short Videos,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E8F5F3"/>
                </a:solidFill>
              </a:rPr>
              <a:t>Compilations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" y="4389120"/>
            <a:ext cx="5440680" cy="274320"/>
          </a:xfrm>
          <a:prstGeom prst="rect">
            <a:avLst/>
          </a:prstGeom>
          <a:solidFill>
            <a:srgbClr val="1AB89B">
              <a:alpha val="75000"/>
            </a:srgbClr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20040" y="43891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Wherever the fan follows the game, Bisleri follows the fan.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6B5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VETO × Bisleri  ·  Hydrate the Game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22860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4C430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20040" y="2286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3E3A"/>
                </a:solidFill>
              </a:rPr>
              <a:t>09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2004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Amplification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320040" y="10789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D966"/>
                </a:solidFill>
              </a:rPr>
              <a:t>One match. Multiple content moments.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1508760"/>
            <a:ext cx="5029200" cy="0"/>
          </a:xfrm>
          <a:prstGeom prst="line">
            <a:avLst/>
          </a:prstGeom>
          <a:noFill/>
          <a:ln w="19050">
            <a:solidFill>
              <a:srgbClr val="1AB89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11680" y="1728216"/>
            <a:ext cx="1828800" cy="640080"/>
          </a:xfrm>
          <a:prstGeom prst="rect">
            <a:avLst/>
          </a:prstGeom>
          <a:solidFill>
            <a:srgbClr val="1AB89B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011680" y="17282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ONE MATCH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82880" y="2560320"/>
            <a:ext cx="1645920" cy="640080"/>
          </a:xfrm>
          <a:prstGeom prst="rect">
            <a:avLst/>
          </a:prstGeom>
          <a:solidFill>
            <a:srgbClr val="0A5248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288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📺 VETO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82880" y="2907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5F3"/>
                </a:solidFill>
              </a:rPr>
              <a:t>Live + Highlights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82880" y="3383280"/>
            <a:ext cx="1645920" cy="640080"/>
          </a:xfrm>
          <a:prstGeom prst="rect">
            <a:avLst/>
          </a:prstGeom>
          <a:solidFill>
            <a:srgbClr val="0A5248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288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📡 India TV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" y="37307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5F3"/>
                </a:solidFill>
              </a:rPr>
              <a:t>Promos + Sports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103120" y="2834640"/>
            <a:ext cx="1645920" cy="640080"/>
          </a:xfrm>
          <a:prstGeom prst="rect">
            <a:avLst/>
          </a:prstGeom>
          <a:solidFill>
            <a:srgbClr val="0A5248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10312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▶️ YouTube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103120" y="3182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5F3"/>
                </a:solidFill>
              </a:rPr>
              <a:t>Highlights + Shorts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206240" y="2560320"/>
            <a:ext cx="1645920" cy="640080"/>
          </a:xfrm>
          <a:prstGeom prst="rect">
            <a:avLst/>
          </a:prstGeom>
          <a:solidFill>
            <a:srgbClr val="0A5248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0624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📸 Instagram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206240" y="2907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5F3"/>
                </a:solidFill>
              </a:rPr>
              <a:t>Reels + Stories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206240" y="3383280"/>
            <a:ext cx="1645920" cy="640080"/>
          </a:xfrm>
          <a:prstGeom prst="rect">
            <a:avLst/>
          </a:prstGeom>
          <a:solidFill>
            <a:srgbClr val="0A5248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0624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𝕏 X (Twitter)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206240" y="37307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5F3"/>
                </a:solidFill>
              </a:rPr>
              <a:t>Real-time Moments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20040" y="4389120"/>
            <a:ext cx="5394960" cy="274320"/>
          </a:xfrm>
          <a:prstGeom prst="rect">
            <a:avLst/>
          </a:prstGeom>
          <a:solidFill>
            <a:srgbClr val="1AB89B">
              <a:alpha val="75000"/>
            </a:srgbClr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20040" y="4389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once. Amplify everywhere.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6B5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VETO × Bisleri  ·  Hydrate the Game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22860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1AB89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20040" y="2286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2004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Hero Film + Cutdowns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320040" y="10789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D966"/>
                </a:solidFill>
              </a:rPr>
              <a:t>One story. Multiple formats.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1508760"/>
            <a:ext cx="8503920" cy="0"/>
          </a:xfrm>
          <a:prstGeom prst="line">
            <a:avLst/>
          </a:prstGeom>
          <a:noFill/>
          <a:ln w="19050">
            <a:solidFill>
              <a:srgbClr val="1AB89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1691640"/>
            <a:ext cx="3474720" cy="2286000"/>
          </a:xfrm>
          <a:prstGeom prst="rect">
            <a:avLst/>
          </a:prstGeom>
          <a:solidFill>
            <a:srgbClr val="0D6B5E">
              <a:alpha val="85000"/>
            </a:srgbClr>
          </a:solidFill>
          <a:ln w="25400">
            <a:solidFill>
              <a:srgbClr val="1AB89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" y="1737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9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60-SEC HERO FILM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2743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E8F5F3"/>
                </a:solidFill>
              </a:rPr>
              <a:t>Pressure → Rally → Pause</a:t>
            </a:r>
            <a:endParaRPr lang="en-US" sz="13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E8F5F3"/>
                </a:solidFill>
              </a:rPr>
              <a:t>→ Refresh → Return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20040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9A7"/>
                </a:solidFill>
              </a:rPr>
              <a:t>The full arc of the game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023360" y="1691640"/>
            <a:ext cx="1554480" cy="2286000"/>
          </a:xfrm>
          <a:prstGeom prst="rect">
            <a:avLst/>
          </a:prstGeom>
          <a:solidFill>
            <a:srgbClr val="0A5248">
              <a:alpha val="9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2336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23042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RALLY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02336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A7"/>
                </a:solidFill>
              </a:rPr>
              <a:t>20s Cutdown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715000" y="1691640"/>
            <a:ext cx="1554480" cy="2286000"/>
          </a:xfrm>
          <a:prstGeom prst="rect">
            <a:avLst/>
          </a:prstGeom>
          <a:solidFill>
            <a:srgbClr val="0A5248">
              <a:alpha val="9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71500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5715000" y="23042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RESET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A7"/>
                </a:solidFill>
              </a:rPr>
              <a:t>20s Cutdown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406640" y="1691640"/>
            <a:ext cx="1554480" cy="2286000"/>
          </a:xfrm>
          <a:prstGeom prst="rect">
            <a:avLst/>
          </a:prstGeom>
          <a:solidFill>
            <a:srgbClr val="0A5248">
              <a:alpha val="9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0664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7406640" y="23042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MATCH POINT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40664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A7"/>
                </a:solidFill>
              </a:rPr>
              <a:t>20s Cutdown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" y="4187952"/>
            <a:ext cx="8503920" cy="384048"/>
          </a:xfrm>
          <a:prstGeom prst="rect">
            <a:avLst/>
          </a:prstGeom>
          <a:solidFill>
            <a:srgbClr val="1AB89B">
              <a:alpha val="90000"/>
            </a:srgbClr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20040" y="41879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Bisleri — Keep the Game Going.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6B5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VETO × Bisleri  ·  Hydrate the Game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22860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1AB89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20040" y="2286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2004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&amp; KPIs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320040" y="10789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D966"/>
                </a:solidFill>
              </a:rPr>
              <a:t>From visibility to measurable ownership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1508760"/>
            <a:ext cx="5486400" cy="0"/>
          </a:xfrm>
          <a:prstGeom prst="line">
            <a:avLst/>
          </a:prstGeom>
          <a:noFill/>
          <a:ln w="19050">
            <a:solidFill>
              <a:srgbClr val="1AB89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1719072"/>
            <a:ext cx="2651760" cy="1097280"/>
          </a:xfrm>
          <a:prstGeom prst="rect">
            <a:avLst/>
          </a:prstGeom>
          <a:solidFill>
            <a:srgbClr val="0A5248">
              <a:alpha val="85000"/>
            </a:srgbClr>
          </a:solidFill>
          <a:ln w="19050">
            <a:solidFill>
              <a:srgbClr val="1AB89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" y="17922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B89B"/>
                </a:solidFill>
              </a:rPr>
              <a:t>📊  AWARENESS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21762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F3"/>
                </a:solidFill>
              </a:rPr>
              <a:t>Reach, Impressions, Views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54680" y="1719072"/>
            <a:ext cx="2651760" cy="1097280"/>
          </a:xfrm>
          <a:prstGeom prst="rect">
            <a:avLst/>
          </a:prstGeom>
          <a:solidFill>
            <a:srgbClr val="0A5248">
              <a:alpha val="8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54680" y="17922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</a:rPr>
              <a:t>💬  ENGAGEMENT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154680" y="21762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F3"/>
                </a:solidFill>
              </a:rPr>
              <a:t>Watch Time, Shares, Comments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2953512"/>
            <a:ext cx="2651760" cy="1097280"/>
          </a:xfrm>
          <a:prstGeom prst="rect">
            <a:avLst/>
          </a:prstGeom>
          <a:solidFill>
            <a:srgbClr val="0A5248">
              <a:alpha val="85000"/>
            </a:srgbClr>
          </a:solidFill>
          <a:ln w="19050">
            <a:solidFill>
              <a:srgbClr val="FFD96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0040" y="30266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966"/>
                </a:solidFill>
              </a:rPr>
              <a:t>🎬  CONTENT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20040" y="34107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F3"/>
                </a:solidFill>
              </a:rPr>
              <a:t>Highlight Views, Rally Views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154680" y="2953512"/>
            <a:ext cx="2651760" cy="1097280"/>
          </a:xfrm>
          <a:prstGeom prst="rect">
            <a:avLst/>
          </a:prstGeom>
          <a:solidFill>
            <a:srgbClr val="0A5248">
              <a:alpha val="85000"/>
            </a:srgbClr>
          </a:solidFill>
          <a:ln w="19050">
            <a:solidFill>
              <a:srgbClr val="1AB89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54680" y="30266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B89B"/>
                </a:solidFill>
              </a:rPr>
              <a:t>🏆  BRAND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34107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F3"/>
                </a:solidFill>
              </a:rPr>
              <a:t>Recall, Association, Recognition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4370832"/>
            <a:ext cx="5394960" cy="292608"/>
          </a:xfrm>
          <a:prstGeom prst="rect">
            <a:avLst/>
          </a:prstGeom>
          <a:solidFill>
            <a:srgbClr val="F4C430">
              <a:alpha val="80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20040" y="43708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3E3A"/>
                </a:solidFill>
              </a:rPr>
              <a:t>Success is not how often Bisleri appears, but what moment Bisleri owns.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6B5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VETO × Bisleri  ·  Hydrate the Game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4572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" y="82296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4C430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1440" y="76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3E3A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20040" y="5029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Don't just sponsor the game.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Own a part of it.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" y="1691640"/>
            <a:ext cx="4114800" cy="0"/>
          </a:xfrm>
          <a:prstGeom prst="line">
            <a:avLst/>
          </a:prstGeom>
          <a:noFill/>
          <a:ln w="19050">
            <a:solidFill>
              <a:srgbClr val="1AB89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200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66"/>
                </a:solidFill>
              </a:rPr>
              <a:t>⚡  The Bisleri Rally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20040" y="21031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F3"/>
                </a:solidFill>
              </a:rPr>
              <a:t>    Live content property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2304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66"/>
                </a:solidFill>
              </a:rPr>
              <a:t>🎬  Bisleri Match Refresh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2578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F3"/>
                </a:solidFill>
              </a:rPr>
              <a:t>    Post-match content property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27797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66"/>
                </a:solidFill>
              </a:rPr>
              <a:t>📺  VETO Ecosystem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20040" y="30540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F3"/>
                </a:solidFill>
              </a:rPr>
              <a:t>    Before, during &amp; after match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" y="32552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66"/>
                </a:solidFill>
              </a:rPr>
              <a:t>🌐  Cross-platform Reach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" y="35295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F3"/>
                </a:solidFill>
              </a:rPr>
              <a:t>    VETO + India TV + YouTube + Instagram + X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0D6B5E">
              <a:alpha val="95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0" y="431596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BISLERI × VETO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0" y="4681728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66"/>
                </a:solidFill>
              </a:rPr>
              <a:t>HYDRATE THE GAME  ·  From First Serve to Final Highlight.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519</Words>
  <Application>Microsoft Office PowerPoint</Application>
  <PresentationFormat>On-screen Show (16:9)</PresentationFormat>
  <Paragraphs>144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Aryan 😎</cp:lastModifiedBy>
  <cp:revision>5</cp:revision>
  <dcterms:created xsi:type="dcterms:W3CDTF">2026-08-31T10:32:07Z</dcterms:created>
  <dcterms:modified xsi:type="dcterms:W3CDTF">2026-08-31T13:37:37Z</dcterms:modified>
</cp:coreProperties>
</file>