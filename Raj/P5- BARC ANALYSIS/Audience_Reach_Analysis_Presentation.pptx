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IN"/>
              <a:t>Illustrative weekly AMA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TV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W-1</c:v>
                </c:pt>
                <c:pt idx="1">
                  <c:v>W-2</c:v>
                </c:pt>
                <c:pt idx="2">
                  <c:v>W-3</c:v>
                </c:pt>
                <c:pt idx="3">
                  <c:v>W-4</c:v>
                </c:pt>
                <c:pt idx="4">
                  <c:v>W-5</c:v>
                </c:pt>
                <c:pt idx="5">
                  <c:v>W-6</c:v>
                </c:pt>
                <c:pt idx="6">
                  <c:v>W-7</c:v>
                </c:pt>
                <c:pt idx="7">
                  <c:v>W-8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</c:v>
                </c:pt>
                <c:pt idx="1">
                  <c:v>74</c:v>
                </c:pt>
                <c:pt idx="2">
                  <c:v>71</c:v>
                </c:pt>
                <c:pt idx="3">
                  <c:v>79</c:v>
                </c:pt>
                <c:pt idx="4">
                  <c:v>76</c:v>
                </c:pt>
                <c:pt idx="5">
                  <c:v>82</c:v>
                </c:pt>
                <c:pt idx="6">
                  <c:v>80</c:v>
                </c:pt>
                <c:pt idx="7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35-486E-9085-97FD59BB24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Aaj Tak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W-1</c:v>
                </c:pt>
                <c:pt idx="1">
                  <c:v>W-2</c:v>
                </c:pt>
                <c:pt idx="2">
                  <c:v>W-3</c:v>
                </c:pt>
                <c:pt idx="3">
                  <c:v>W-4</c:v>
                </c:pt>
                <c:pt idx="4">
                  <c:v>W-5</c:v>
                </c:pt>
                <c:pt idx="5">
                  <c:v>W-6</c:v>
                </c:pt>
                <c:pt idx="6">
                  <c:v>W-7</c:v>
                </c:pt>
                <c:pt idx="7">
                  <c:v>W-8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82</c:v>
                </c:pt>
                <c:pt idx="1">
                  <c:v>78</c:v>
                </c:pt>
                <c:pt idx="2">
                  <c:v>86</c:v>
                </c:pt>
                <c:pt idx="3">
                  <c:v>81</c:v>
                </c:pt>
                <c:pt idx="4">
                  <c:v>88</c:v>
                </c:pt>
                <c:pt idx="5">
                  <c:v>84</c:v>
                </c:pt>
                <c:pt idx="6">
                  <c:v>90</c:v>
                </c:pt>
                <c:pt idx="7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35-486E-9085-97FD59BB24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News18 India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W-1</c:v>
                </c:pt>
                <c:pt idx="1">
                  <c:v>W-2</c:v>
                </c:pt>
                <c:pt idx="2">
                  <c:v>W-3</c:v>
                </c:pt>
                <c:pt idx="3">
                  <c:v>W-4</c:v>
                </c:pt>
                <c:pt idx="4">
                  <c:v>W-5</c:v>
                </c:pt>
                <c:pt idx="5">
                  <c:v>W-6</c:v>
                </c:pt>
                <c:pt idx="6">
                  <c:v>W-7</c:v>
                </c:pt>
                <c:pt idx="7">
                  <c:v>W-8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60</c:v>
                </c:pt>
                <c:pt idx="1">
                  <c:v>65</c:v>
                </c:pt>
                <c:pt idx="2">
                  <c:v>63</c:v>
                </c:pt>
                <c:pt idx="3">
                  <c:v>69</c:v>
                </c:pt>
                <c:pt idx="4">
                  <c:v>66</c:v>
                </c:pt>
                <c:pt idx="5">
                  <c:v>70</c:v>
                </c:pt>
                <c:pt idx="6">
                  <c:v>72</c:v>
                </c:pt>
                <c:pt idx="7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35-486E-9085-97FD59BB2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t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Audience, Reach &amp; Loyalty</a:t>
            </a:r>
            <a:br/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2DEEC"/>
                </a:solidFill>
                <a:latin typeface="Aptos"/>
              </a:defRPr>
            </a:pPr>
            <a:r>
              <a:t>Weekly channel ranking, cross-metric analysis and regional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4160520"/>
            <a:ext cx="2880360" cy="201168"/>
          </a:xfrm>
          <a:prstGeom prst="round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727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4727448"/>
            <a:ext cx="3533241" cy="201168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294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TSV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5294376"/>
            <a:ext cx="2381097" cy="201168"/>
          </a:xfrm>
          <a:prstGeom prst="roundRect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5989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BED2"/>
                </a:solidFill>
                <a:latin typeface="Aptos"/>
              </a:defRPr>
            </a:pPr>
            <a:r>
              <a:t>20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t>1. Data Scope &amp; Key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Define the analysis universe before comparing channels and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63039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66AD"/>
                </a:solidFill>
                <a:latin typeface="Aptos"/>
              </a:defRPr>
            </a:pPr>
            <a:r>
              <a:t>8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Period: W-1 to W-8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1463039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66A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9202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Regions / markets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48072" y="1463039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66A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9202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Channels in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42631" y="1463039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66AD"/>
                </a:solidFill>
                <a:latin typeface="Aptos"/>
              </a:defRPr>
            </a:pPr>
            <a:r>
              <a:t>06:00–24:00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19202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Primary time band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32588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7192" y="1463039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66AD"/>
                </a:solidFill>
                <a:latin typeface="Aptos"/>
              </a:defRPr>
            </a:pPr>
            <a:r>
              <a:t>01:00–05:00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19202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Night band excluded / low audience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788920"/>
            <a:ext cx="347472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2788920"/>
            <a:ext cx="73152" cy="2331720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2953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Core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355848"/>
            <a:ext cx="31089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• AMA (000s)</a:t>
            </a:r>
            <a:br/>
            <a:r>
              <a:t>• TSV / time-spent metric (10-min basis)</a:t>
            </a:r>
            <a:br/>
            <a:r>
              <a:t>• Viewing Minutes</a:t>
            </a:r>
            <a:br/>
            <a:r>
              <a:t>• Cumulative Reach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788920"/>
            <a:ext cx="347472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2788920"/>
            <a:ext cx="73152" cy="233172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44568" y="2953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Audience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355848"/>
            <a:ext cx="31089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rPr dirty="0"/>
              <a:t>• Target audience: as defined in source data</a:t>
            </a:r>
            <a:br>
              <a:rPr dirty="0"/>
            </a:br>
            <a:r>
              <a:rPr dirty="0"/>
              <a:t>• Hindi news channels combined</a:t>
            </a:r>
            <a:br>
              <a:rPr dirty="0"/>
            </a:br>
            <a:r>
              <a:rPr dirty="0"/>
              <a:t>• South-side markets excluded per working note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788920"/>
            <a:ext cx="347472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2440" y="2788920"/>
            <a:ext cx="73152" cy="2331720"/>
          </a:xfrm>
          <a:prstGeom prst="rect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3608" y="2953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Data grain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355848"/>
            <a:ext cx="31089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rPr dirty="0"/>
              <a:t>Region × Channel × Week × Time band</a:t>
            </a:r>
            <a:br>
              <a:rPr dirty="0"/>
            </a:br>
            <a:br>
              <a:rPr dirty="0"/>
            </a:br>
            <a:r>
              <a:rPr dirty="0"/>
              <a:t>Use the same filters across all metrics so rankings remain comparable.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Note: Replace the scope values above if the final dataset uses a different target audience definition.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514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t>2. Analysis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Five views turn the raw channel metrics into actionable audience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88C"/>
                </a:solidFill>
                <a:latin typeface="Aptos"/>
              </a:defRPr>
            </a:pPr>
            <a:r>
              <a:t>Audience &amp; Reach Analysis  |  Draft framework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530352" cy="530352"/>
          </a:xfrm>
          <a:prstGeom prst="ellipse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35607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075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Weekly AMA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1673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B37"/>
                </a:solidFill>
                <a:latin typeface="Aptos"/>
              </a:defRPr>
            </a:pPr>
            <a:r>
              <a:t>Track channel rank and movement across W-1 to W-8.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1856231"/>
            <a:ext cx="27432" cy="429768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286000"/>
            <a:ext cx="530352" cy="530352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768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Reach vs 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7685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B37"/>
                </a:solidFill>
                <a:latin typeface="Aptos"/>
              </a:defRPr>
            </a:pPr>
            <a:r>
              <a:t>Identify channels combining broad reach with strong average audience.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816352"/>
            <a:ext cx="27432" cy="429768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246120"/>
            <a:ext cx="530352" cy="530352"/>
          </a:xfrm>
          <a:prstGeom prst="ellipse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3558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369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Reach vs TSV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23697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B37"/>
                </a:solidFill>
                <a:latin typeface="Aptos"/>
              </a:defRPr>
            </a:pPr>
            <a:r>
              <a:t>Assess reach alongside time spent / loyalty.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3776472"/>
            <a:ext cx="27432" cy="429768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4206240"/>
            <a:ext cx="530352" cy="530352"/>
          </a:xfrm>
          <a:prstGeom prst="ellipse">
            <a:avLst/>
          </a:prstGeom>
          <a:solidFill>
            <a:srgbClr val="39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31596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1970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AMA vs TSV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19709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B37"/>
                </a:solidFill>
                <a:latin typeface="Aptos"/>
              </a:defRPr>
            </a:pPr>
            <a:r>
              <a:t>Find channels that are strong on both audience and engagement.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736592"/>
            <a:ext cx="27432" cy="429768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" y="5166360"/>
            <a:ext cx="530352" cy="530352"/>
          </a:xfrm>
          <a:prstGeom prst="ellipse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27608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572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Regional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15721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B37"/>
                </a:solidFill>
                <a:latin typeface="Aptos"/>
              </a:defRPr>
            </a:pPr>
            <a:r>
              <a:t>Identify regions with high AMA, TSV, viewing minutes and cumulative 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t>3. Weekly AMA Analysis &amp; Channel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Compare weekly AMA (000s) and translate the movement into channel rank.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88C"/>
                </a:solidFill>
                <a:latin typeface="Aptos"/>
              </a:defRPr>
            </a:pPr>
            <a:r>
              <a:t>Audience &amp; Reach Analysis  |  Draft framework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6629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52360" y="1417320"/>
          <a:ext cx="4114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AMA (000s)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Aaj Tak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India 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News18 India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News24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Key output: weekly rank, rank movement, leading channel and the channels consistently near the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t>4. Reach vs AMA — Audience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Use a scatter plot to separate broad-reach channels from high-average-audience channels.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88C"/>
                </a:solidFill>
                <a:latin typeface="Aptos"/>
              </a:defRPr>
            </a:pPr>
            <a:r>
              <a:t>Audience &amp; Reach Analysis  |  Draft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6400800" cy="4434840"/>
          </a:xfrm>
          <a:prstGeom prst="rect">
            <a:avLst/>
          </a:prstGeom>
          <a:solidFill>
            <a:srgbClr val="F9FBF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5742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243E"/>
                </a:solidFill>
                <a:latin typeface="Aptos"/>
              </a:defRPr>
            </a:pPr>
            <a:r>
              <a:t>Reach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243E"/>
                </a:solidFill>
                <a:latin typeface="Aptos"/>
              </a:defRPr>
            </a:pPr>
            <a:r>
              <a:t>AMA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325880"/>
            <a:ext cx="13716" cy="443484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543300"/>
            <a:ext cx="6400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87568" y="2485339"/>
            <a:ext cx="164592" cy="164592"/>
          </a:xfrm>
          <a:prstGeom prst="ellipse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9592" y="249448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India TV</a:t>
            </a:r>
          </a:p>
        </p:txBody>
      </p:sp>
      <p:sp>
        <p:nvSpPr>
          <p:cNvPr id="13" name="Oval 12"/>
          <p:cNvSpPr/>
          <p:nvPr/>
        </p:nvSpPr>
        <p:spPr>
          <a:xfrm>
            <a:off x="6327648" y="1997506"/>
            <a:ext cx="164592" cy="164592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200665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Aaj Tak</a:t>
            </a:r>
          </a:p>
        </p:txBody>
      </p:sp>
      <p:sp>
        <p:nvSpPr>
          <p:cNvPr id="15" name="Oval 14"/>
          <p:cNvSpPr/>
          <p:nvPr/>
        </p:nvSpPr>
        <p:spPr>
          <a:xfrm>
            <a:off x="5111496" y="3017520"/>
            <a:ext cx="164592" cy="164592"/>
          </a:xfrm>
          <a:prstGeom prst="ellipse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302666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News18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3239261"/>
            <a:ext cx="164592" cy="164592"/>
          </a:xfrm>
          <a:prstGeom prst="ellipse">
            <a:avLst/>
          </a:prstGeom>
          <a:solidFill>
            <a:srgbClr val="39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15384" y="3248405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News24</a:t>
            </a:r>
          </a:p>
        </p:txBody>
      </p:sp>
      <p:sp>
        <p:nvSpPr>
          <p:cNvPr id="19" name="Oval 18"/>
          <p:cNvSpPr/>
          <p:nvPr/>
        </p:nvSpPr>
        <p:spPr>
          <a:xfrm>
            <a:off x="2871216" y="3993184"/>
            <a:ext cx="164592" cy="164592"/>
          </a:xfrm>
          <a:prstGeom prst="ellipse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63240" y="40023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Channel X</a:t>
            </a:r>
          </a:p>
        </p:txBody>
      </p:sp>
      <p:sp>
        <p:nvSpPr>
          <p:cNvPr id="21" name="Oval 20"/>
          <p:cNvSpPr/>
          <p:nvPr/>
        </p:nvSpPr>
        <p:spPr>
          <a:xfrm>
            <a:off x="2295144" y="4569714"/>
            <a:ext cx="164592" cy="164592"/>
          </a:xfrm>
          <a:prstGeom prst="ellipse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87168" y="457885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Channel 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417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How to read the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1874519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Top-right: high AMA + high reach — strongest audience scale.</a:t>
            </a:r>
          </a:p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High reach / lower AMA: broad awareness but weaker average audience.</a:t>
            </a:r>
          </a:p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High AMA / lower reach: concentrated but strong audience.</a:t>
            </a:r>
          </a:p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Bottom-left: lower priority for audience-scale opportunity.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343400"/>
            <a:ext cx="384048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43800" y="4343400"/>
            <a:ext cx="73152" cy="118872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44968" y="4507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Primary 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4910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Identify channels that combine strong audience size with broad 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t>5. Reach vs TSV — Reach &amp;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Evaluate whether broad reach is translating into stronger time-spent / loyalty.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88C"/>
                </a:solidFill>
                <a:latin typeface="Aptos"/>
              </a:defRPr>
            </a:pPr>
            <a:r>
              <a:t>Audience &amp; Reach Analysis  |  Draft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Illustrative positioning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309360" cy="3566160"/>
          </a:xfrm>
          <a:prstGeom prst="rect">
            <a:avLst/>
          </a:prstGeom>
          <a:solidFill>
            <a:srgbClr val="F9FBF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77640" y="1828800"/>
            <a:ext cx="13716" cy="35661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611880"/>
            <a:ext cx="630936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243E"/>
                </a:solidFill>
                <a:latin typeface="Aptos"/>
              </a:defRPr>
            </a:pPr>
            <a:r>
              <a:t>Reach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3337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243E"/>
                </a:solidFill>
                <a:latin typeface="Aptos"/>
              </a:defRPr>
            </a:pPr>
            <a:r>
              <a:t>TSV →</a:t>
            </a:r>
          </a:p>
        </p:txBody>
      </p:sp>
      <p:sp>
        <p:nvSpPr>
          <p:cNvPr id="12" name="Oval 11"/>
          <p:cNvSpPr/>
          <p:nvPr/>
        </p:nvSpPr>
        <p:spPr>
          <a:xfrm>
            <a:off x="5661964" y="2531059"/>
            <a:ext cx="164592" cy="164592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3988" y="254020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Aaj Tak</a:t>
            </a:r>
          </a:p>
        </p:txBody>
      </p:sp>
      <p:sp>
        <p:nvSpPr>
          <p:cNvPr id="14" name="Oval 13"/>
          <p:cNvSpPr/>
          <p:nvPr/>
        </p:nvSpPr>
        <p:spPr>
          <a:xfrm>
            <a:off x="5031028" y="3101644"/>
            <a:ext cx="164592" cy="164592"/>
          </a:xfrm>
          <a:prstGeom prst="ellipse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23052" y="31107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India TV</a:t>
            </a:r>
          </a:p>
        </p:txBody>
      </p:sp>
      <p:sp>
        <p:nvSpPr>
          <p:cNvPr id="16" name="Oval 15"/>
          <p:cNvSpPr/>
          <p:nvPr/>
        </p:nvSpPr>
        <p:spPr>
          <a:xfrm>
            <a:off x="6040526" y="3814876"/>
            <a:ext cx="164592" cy="164592"/>
          </a:xfrm>
          <a:prstGeom prst="ellipse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2550" y="38240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News18</a:t>
            </a:r>
          </a:p>
        </p:txBody>
      </p:sp>
      <p:sp>
        <p:nvSpPr>
          <p:cNvPr id="18" name="Oval 17"/>
          <p:cNvSpPr/>
          <p:nvPr/>
        </p:nvSpPr>
        <p:spPr>
          <a:xfrm>
            <a:off x="3579876" y="2816352"/>
            <a:ext cx="164592" cy="164592"/>
          </a:xfrm>
          <a:prstGeom prst="ellipse">
            <a:avLst/>
          </a:prstGeom>
          <a:solidFill>
            <a:srgbClr val="39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71900" y="282549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News24</a:t>
            </a:r>
          </a:p>
        </p:txBody>
      </p:sp>
      <p:sp>
        <p:nvSpPr>
          <p:cNvPr id="20" name="Oval 19"/>
          <p:cNvSpPr/>
          <p:nvPr/>
        </p:nvSpPr>
        <p:spPr>
          <a:xfrm>
            <a:off x="2507284" y="4242816"/>
            <a:ext cx="164592" cy="164592"/>
          </a:xfrm>
          <a:prstGeom prst="ellipse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9308" y="4251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32B37"/>
                </a:solidFill>
                <a:latin typeface="Aptos"/>
              </a:defRPr>
            </a:pPr>
            <a:r>
              <a:t>Channel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874519"/>
            <a:ext cx="3886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High reach + high TSV: strongest combination of brand reach and loyalty.</a:t>
            </a:r>
          </a:p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High reach + low TSV: awareness is high, but engagement needs attention.</a:t>
            </a:r>
          </a:p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Low reach + high TSV: smaller base with strong loyalty.</a:t>
            </a:r>
          </a:p>
          <a:p>
            <a:pPr>
              <a:spcAft>
                <a:spcPts val="1000"/>
              </a:spcAft>
              <a:defRPr sz="1150">
                <a:solidFill>
                  <a:srgbClr val="232B37"/>
                </a:solidFill>
                <a:latin typeface="Aptos"/>
              </a:defRPr>
            </a:pPr>
            <a:r>
              <a:t>• Low reach + low TSV: lower immediate opportunity.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480560"/>
            <a:ext cx="3840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43800" y="4480560"/>
            <a:ext cx="73152" cy="1143000"/>
          </a:xfrm>
          <a:prstGeom prst="rect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4968" y="4645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Primary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5047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Rank channels on reach and loyalty together — not reach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t>7. Regional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Compare the same audience metrics across regions to identify high-potential markets.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88C"/>
                </a:solidFill>
                <a:latin typeface="Aptos"/>
              </a:defRPr>
            </a:pPr>
            <a:r>
              <a:t>Audience &amp; Reach Analysis  |  Draft framework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72237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Leading Channel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AMA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TSV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Cum. Reach</a:t>
                      </a:r>
                    </a:p>
                  </a:txBody>
                  <a:tcPr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HSM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Aaj Tak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WB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News24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HSM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Aaj Tak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News18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Region 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Leading channel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Region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Leading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253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788C"/>
                </a:solidFill>
                <a:latin typeface="Aptos"/>
              </a:defRPr>
            </a:pPr>
            <a:r>
              <a:t>The handwritten notes include a few regional examples; final values should be populated from the source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43E"/>
                </a:solidFill>
                <a:latin typeface="Aptos"/>
              </a:defRPr>
            </a:pPr>
            <a:r>
              <a:t>Regional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• Which regions have the highest AMA?</a:t>
            </a:r>
          </a:p>
          <a:p>
            <a:pPr>
              <a:spcAft>
                <a:spcPts val="10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• Where is TSV strongest?</a:t>
            </a:r>
          </a:p>
          <a:p>
            <a:pPr>
              <a:spcAft>
                <a:spcPts val="10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• Which regions deliver the highest cumulative reach?</a:t>
            </a:r>
          </a:p>
          <a:p>
            <a:pPr>
              <a:spcAft>
                <a:spcPts val="10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• Are the leading channels consistent across regions?</a:t>
            </a:r>
          </a:p>
          <a:p>
            <a:pPr>
              <a:spcAft>
                <a:spcPts val="1000"/>
              </a:spcAft>
              <a:defRPr sz="1120">
                <a:solidFill>
                  <a:srgbClr val="232B37"/>
                </a:solidFill>
                <a:latin typeface="Aptos"/>
              </a:defRPr>
            </a:pPr>
            <a:r>
              <a:t>• Where is there a gap between audience and loyalty?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892040"/>
            <a:ext cx="32004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4892040"/>
            <a:ext cx="73152" cy="8686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50566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5458968"/>
            <a:ext cx="28346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Region-wise opportunity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E"/>
                </a:solidFill>
                <a:latin typeface="Aptos Display"/>
              </a:defRPr>
            </a:pPr>
            <a:r>
              <a:t>8. Summary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6868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88C"/>
                </a:solidFill>
                <a:latin typeface="Aptos"/>
              </a:defRPr>
            </a:pPr>
            <a:r>
              <a:t>The final report should convert the analysis into a simple decision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88C"/>
                </a:solidFill>
                <a:latin typeface="Aptos"/>
              </a:defRPr>
            </a:pPr>
            <a:r>
              <a:t>Audience &amp; Reach Analysis  |  Draft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658368" cy="457200"/>
          </a:xfrm>
          <a:prstGeom prst="roundRect">
            <a:avLst/>
          </a:prstGeom>
          <a:solidFill>
            <a:srgbClr val="276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658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G</a:t>
            </a:r>
            <a:r>
              <a:rPr lang="en-US" dirty="0"/>
              <a:t>raph</a:t>
            </a:r>
            <a:r>
              <a:rPr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Channel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216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Which channels lead on AMA and how rankings change week to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658368" cy="457200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30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Reach + 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305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Which channels combine higher reach with higher audience.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658368" cy="457200"/>
          </a:xfrm>
          <a:prstGeom prst="roundRect">
            <a:avLst/>
          </a:prstGeom>
          <a:solidFill>
            <a:srgbClr val="39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449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Audience + loyalty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44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Which channels are strong on both viewership and loyalty / TSV.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77639"/>
            <a:ext cx="658368" cy="457200"/>
          </a:xfrm>
          <a:prstGeom prst="roundRect">
            <a:avLst/>
          </a:prstGeom>
          <a:solidFill>
            <a:srgbClr val="E2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069079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59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Best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9593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Identify channels with big audience + high loyalty.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658368" cy="457200"/>
          </a:xfrm>
          <a:prstGeom prst="roundRect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983479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73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43E"/>
                </a:solidFill>
                <a:latin typeface="Aptos"/>
              </a:defRPr>
            </a:pPr>
            <a:r>
              <a:t>Regional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8737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7"/>
                </a:solidFill>
                <a:latin typeface="Aptos"/>
              </a:defRPr>
            </a:pPr>
            <a:r>
              <a:t>Show region-wise AMA, TSV, viewing minutes and cumulative reach.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88C"/>
                </a:solidFill>
                <a:latin typeface="Aptos"/>
              </a:defRPr>
            </a:pPr>
            <a:r>
              <a:t>Recommended final dashboard flow: Overview → Weekly Ranking → Reach/AMA → Reach/TSV → AMA/TSV → Regional Analysis → Key Takeaways.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812</Words>
  <Application>Microsoft Office PowerPoint</Application>
  <PresentationFormat>Widescreen</PresentationFormat>
  <Paragraphs>168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😎</cp:lastModifiedBy>
  <cp:revision>3</cp:revision>
  <dcterms:created xsi:type="dcterms:W3CDTF">2013-01-27T09:14:16Z</dcterms:created>
  <dcterms:modified xsi:type="dcterms:W3CDTF">2026-08-20T11:02:06Z</dcterms:modified>
  <cp:category/>
</cp:coreProperties>
</file>