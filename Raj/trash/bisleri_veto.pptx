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59" r:id="rId5"/>
    <p:sldId id="263" r:id="rId6"/>
    <p:sldId id="265" r:id="rId7"/>
    <p:sldId id="260" r:id="rId8"/>
    <p:sldId id="262" r:id="rId9"/>
    <p:sldId id="266" r:id="rId10"/>
    <p:sldId id="267" r:id="rId11"/>
    <p:sldId id="268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60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2A45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1E4870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-365760"/>
            <a:ext cx="2011680" cy="2011680"/>
          </a:xfrm>
          <a:prstGeom prst="ellipse">
            <a:avLst/>
          </a:prstGeom>
          <a:solidFill>
            <a:srgbClr val="2A5F8A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3200400"/>
            <a:ext cx="1463040" cy="146304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" y="3840480"/>
            <a:ext cx="914400" cy="9144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</a:rPr>
              <a:t>VETO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C8E8"/>
                </a:solidFill>
              </a:rPr>
              <a:t>OTT Platform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×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BISLERI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8229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Refreshing Indian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Audience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11480" y="77724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2286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4D8"/>
                </a:solidFill>
              </a:rPr>
              <a:t>Brand integration proposal 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2788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8DC"/>
                </a:solidFill>
              </a:rPr>
              <a:t>Building Brand Love Through Entertainment,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8DC"/>
                </a:solidFill>
              </a:rPr>
              <a:t>Engagement &amp; Digital Experiences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1 · WHAT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</a:rPr>
              <a:t>The Opportunity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580"/>
                </a:solidFill>
              </a:rPr>
              <a:t>The Future of Advertising is Engagement, Not Interruption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0040" y="1572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5E"/>
                </a:solidFill>
              </a:rPr>
              <a:t>Entertain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3408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580"/>
                </a:solidFill>
              </a:rPr>
              <a:t>Consumers choose content that entertains them — not ads they skip.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5087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00400" y="1572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5E"/>
                </a:solidFill>
              </a:rPr>
              <a:t>Connect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3408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580"/>
                </a:solidFill>
              </a:rPr>
              <a:t>Brands that tell stories build lasting emotional bonds.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80760" y="1572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5E"/>
                </a:solidFill>
              </a:rPr>
              <a:t>Experience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3408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580"/>
                </a:solidFill>
              </a:rPr>
              <a:t>Create moments people remember long after seeing them.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401568"/>
            <a:ext cx="8503920" cy="54864"/>
          </a:xfrm>
          <a:prstGeom prst="rect">
            <a:avLst/>
          </a:prstGeom>
          <a:solidFill>
            <a:srgbClr val="DAE8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</a:rPr>
              <a:t>Opportunity for Bisleri: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3858768"/>
            <a:ext cx="2560320" cy="347472"/>
          </a:xfrm>
          <a:prstGeom prst="rect">
            <a:avLst/>
          </a:prstGeom>
          <a:solidFill>
            <a:srgbClr val="E2ED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6580"/>
                </a:solidFill>
              </a:rPr>
              <a:t>"A bottle of water"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38587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3858768"/>
            <a:ext cx="5303520" cy="347472"/>
          </a:xfrm>
          <a:prstGeom prst="rect">
            <a:avLst/>
          </a:prstGeom>
          <a:solidFill>
            <a:srgbClr val="E8F8F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651"/>
                </a:solidFill>
              </a:rPr>
              <a:t>"A brand connected with every refreshing moment of life"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2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</a:rPr>
              <a:t>Product Activation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06240" cy="1783080"/>
          </a:xfrm>
          <a:prstGeom prst="rect">
            <a:avLst/>
          </a:prstGeom>
          <a:solidFill>
            <a:srgbClr val="F9FAFC"/>
          </a:solidFill>
          <a:ln/>
          <a:effectLst>
            <a:outerShdw blurRad="635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73152" cy="1783080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886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BAA"/>
                </a:solidFill>
              </a:rPr>
              <a:t>Bisleri Water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234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Campaign: "Hydrate Your Day"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270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</a:rPr>
              <a:t>Themes: Health · Fitness · Travel · Everyday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196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580"/>
                </a:solidFill>
              </a:rPr>
              <a:t>Goal: Increase daily usage association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206240" cy="1783080"/>
          </a:xfrm>
          <a:prstGeom prst="rect">
            <a:avLst/>
          </a:prstGeom>
          <a:solidFill>
            <a:srgbClr val="F9FAFC"/>
          </a:solidFill>
          <a:ln/>
          <a:effectLst>
            <a:outerShdw blurRad="635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73152" cy="1783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886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</a:rPr>
              <a:t>Vedica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234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Campaign: "Pure Luxury"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5270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</a:rPr>
              <a:t>Themes: Premium lifestyle · Wellness · Nature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8196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580"/>
                </a:solidFill>
              </a:rPr>
              <a:t>Goal: Build premium perception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697480"/>
            <a:ext cx="4206240" cy="1783080"/>
          </a:xfrm>
          <a:prstGeom prst="rect">
            <a:avLst/>
          </a:prstGeom>
          <a:solidFill>
            <a:srgbClr val="F9FAFC"/>
          </a:solidFill>
          <a:ln/>
          <a:effectLst>
            <a:outerShdw blurRad="635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97480"/>
            <a:ext cx="73152" cy="17830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2807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Bisleri Soda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Campaign: "Mix The Moment"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447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</a:rPr>
              <a:t>Themes: Food experiences · Celebrations · Hospitality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7398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580"/>
                </a:solidFill>
              </a:rPr>
              <a:t>Goal: Increase consumption occasions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4206240" cy="1783080"/>
          </a:xfrm>
          <a:prstGeom prst="rect">
            <a:avLst/>
          </a:prstGeom>
          <a:solidFill>
            <a:srgbClr val="F9FAFC"/>
          </a:solidFill>
          <a:ln/>
          <a:effectLst>
            <a:outerShdw blurRad="635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97480"/>
            <a:ext cx="73152" cy="17830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37760" y="2807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51"/>
                </a:solidFill>
              </a:rPr>
              <a:t>Limonata &amp; Pop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Campaign: "Refresh Your Mood"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3447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</a:rPr>
              <a:t>Themes: Youth · Music · Gaming · Entertainment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37398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580"/>
                </a:solidFill>
              </a:rPr>
              <a:t>Goal: Connect with younger audiences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9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C5E"/>
                </a:solidFill>
              </a:rPr>
              <a:t>Current Brand Opportunity: Expanding Consumer Perception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3474720" cy="1554480"/>
          </a:xfrm>
          <a:prstGeom prst="rect">
            <a:avLst/>
          </a:prstGeom>
          <a:solidFill>
            <a:srgbClr val="F0F0F0"/>
          </a:solidFill>
          <a:ln/>
          <a:effectLst>
            <a:outerShdw blurRad="762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5760" y="749808"/>
            <a:ext cx="3474720" cy="329184"/>
          </a:xfrm>
          <a:prstGeom prst="rect">
            <a:avLst/>
          </a:prstGeom>
          <a:solidFill>
            <a:srgbClr val="4A65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70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Consumer sees Bisleri as: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</a:rPr>
              <a:t>"Water Brand"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749808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303520" y="749808"/>
            <a:ext cx="3474720" cy="1554480"/>
          </a:xfrm>
          <a:prstGeom prst="rect">
            <a:avLst/>
          </a:prstGeom>
          <a:solidFill>
            <a:srgbClr val="E8F8F2"/>
          </a:solidFill>
          <a:ln/>
          <a:effectLst>
            <a:outerShdw blurRad="76200" dist="25400" dir="16200000" algn="bl" rotWithShape="0">
              <a:srgbClr val="AADDCC">
                <a:alpha val="7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03520" y="749808"/>
            <a:ext cx="3474720" cy="329184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FUTURE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170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Consumer sees Bisleri as: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417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51"/>
                </a:solidFill>
              </a:rPr>
              <a:t>"Refreshment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A651"/>
                </a:solidFill>
              </a:rPr>
              <a:t>Lifestyle Brand"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48716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</a:rPr>
              <a:t>Create More Occasions Where Consumers Think About Bisleri: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2670048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11480" y="287121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☀️ Morning Hydration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871216"/>
            <a:ext cx="2670048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291840" y="287121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✈️ Travel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871216"/>
            <a:ext cx="2670048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72200" y="287121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🏋️ Fitness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493008"/>
            <a:ext cx="2670048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11480" y="349300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🍽️ Food Moments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493008"/>
            <a:ext cx="2670048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291840" y="349300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🎉 Parties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3493008"/>
            <a:ext cx="2670048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DDEE">
                <a:alpha val="7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72200" y="349300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🎬 Entertainment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4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C5E"/>
                </a:solidFill>
              </a:rPr>
              <a:t>Content Strategy: "Refresh Every Moment"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580"/>
                </a:solidFill>
              </a:rPr>
              <a:t>A branded content ecosystem on Veto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67004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BBCCDD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2670048" cy="457200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" y="100584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Short Videos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50876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9933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</a:rPr>
              <a:t>Refresh Stories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4871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6580"/>
                </a:solidFill>
              </a:rPr>
              <a:t>Duration: 30 sec – 3 min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78892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580"/>
                </a:solidFill>
              </a:rPr>
              <a:t>Travel · Food · Fitness · Youth lifestyle · Family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3401568"/>
            <a:ext cx="2487168" cy="54864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349300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580"/>
                </a:solidFill>
              </a:rPr>
              <a:t>Integration: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6941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BAA"/>
                </a:solidFill>
              </a:rPr>
              <a:t>Bisleri Water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67004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BBCC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05840"/>
            <a:ext cx="2670048" cy="4572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00400" y="100584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Entertainment Shows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150876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19933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</a:rPr>
              <a:t>India's Refresh Challenge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28416" y="24871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6580"/>
                </a:solidFill>
              </a:rPr>
              <a:t>Duration: Series format(4-5min)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279577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580"/>
                </a:solidFill>
              </a:rPr>
              <a:t>Fun reality-style challenges with participant energy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3401568"/>
            <a:ext cx="2487168" cy="54864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91840" y="349300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580"/>
                </a:solidFill>
              </a:rPr>
              <a:t>Integration: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6941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51"/>
                </a:solidFill>
              </a:rPr>
              <a:t>Water · Pop · Limonata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1005840"/>
            <a:ext cx="267004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BBCCDD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005840"/>
            <a:ext cx="2670048" cy="4572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80760" y="100584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Food &amp; Lifestyle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150876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19933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</a:rPr>
              <a:t>Perfect Pairings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4871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6580"/>
                </a:solidFill>
              </a:rPr>
              <a:t>Duration: Evergreen content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278892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580"/>
                </a:solidFill>
              </a:rPr>
              <a:t>Food · Restaurants · Recipes · Celebrations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2200" y="3401568"/>
            <a:ext cx="2487168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2200" y="349300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580"/>
                </a:solidFill>
              </a:rPr>
              <a:t>Integration: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36941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3FA0"/>
                </a:solidFill>
              </a:rPr>
              <a:t>Bisleri Soda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8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531" y="73152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4632" y="19659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C5E"/>
                </a:solidFill>
              </a:rPr>
              <a:t>Veto Distribution Strategy: Consumer Touchpoints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BBCCDD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2651760" cy="5486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777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Veto OTT Platform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" y="1554480"/>
            <a:ext cx="146304" cy="146304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Branded shows &amp; series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" y="2212848"/>
            <a:ext cx="146304" cy="146304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" y="21214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Short-form videos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2871216"/>
            <a:ext cx="146304" cy="146304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" y="27797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Product stories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" y="3529584"/>
            <a:ext cx="146304" cy="146304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" y="34381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Interactive campaigns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7772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BBCC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777240"/>
            <a:ext cx="2651760" cy="548640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00400" y="777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📣  Social Amplification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1554480"/>
            <a:ext cx="146304" cy="146304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84448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Instagram Reels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64992" y="2212848"/>
            <a:ext cx="146304" cy="146304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84448" y="21214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YouTube Shorts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01568" y="2834640"/>
            <a:ext cx="146304" cy="146304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648456" y="2768673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Trending formats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10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· WHY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Veto?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</a:rPr>
              <a:t>A Subscription-Free OTT Platform Built for Mass Digital Consumption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2651760" cy="2560320"/>
          </a:xfrm>
          <a:prstGeom prst="rect">
            <a:avLst/>
          </a:prstGeom>
          <a:solidFill>
            <a:srgbClr val="1E48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" y="15727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29768" y="210312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" y="223113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Easy Consumer Access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" y="2743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8E8"/>
                </a:solidFill>
              </a:rPr>
              <a:t>No subscription barrier. More users can discover content and engage with brands freely.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44752"/>
            <a:ext cx="2651760" cy="2560320"/>
          </a:xfrm>
          <a:prstGeom prst="rect">
            <a:avLst/>
          </a:prstGeom>
          <a:solidFill>
            <a:srgbClr val="1E48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10128" y="15727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310128" y="210312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10128" y="223113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Entertainment-Led Brand Connection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2743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8E8"/>
                </a:solidFill>
              </a:rPr>
              <a:t>Instead of ads consumers skip — create content where the brand naturally belongs.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444752"/>
            <a:ext cx="2651760" cy="2560320"/>
          </a:xfrm>
          <a:prstGeom prst="rect">
            <a:avLst/>
          </a:prstGeom>
          <a:solidFill>
            <a:srgbClr val="1E487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0488" y="15727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190488" y="210312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90488" y="223113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Longer Consumer Engagement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90488" y="2743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8E8"/>
                </a:solidFill>
              </a:rPr>
              <a:t>OTT allows brands to create shows, short videos, stories and interactive experiences.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5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A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3 · HOW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Bisleri Refresh Ecosystem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</a:rPr>
              <a:t>A Growth Framework Built on Attraction, Engagement &amp; Conversion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8503920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" y="144475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ATTRACT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44475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Pull consumers in with entertaining content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066544"/>
            <a:ext cx="7955280" cy="5303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06654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ENGAGE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066544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Build time spent and emotional resonance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2688336"/>
            <a:ext cx="7406640" cy="530352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68833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INFLUENCE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268833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Shape brand perception and product awareness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43000" y="3310128"/>
            <a:ext cx="6858000" cy="5303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34440" y="331012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31012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Drive consideration and purchase intent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417320" y="3931920"/>
            <a:ext cx="6309360" cy="530352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08760" y="39319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RETAIN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39319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Build loyal, repeat consumers and advocates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7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A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Consumer Journey: From Discovery to Loyalty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914400"/>
            <a:ext cx="914400" cy="9144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9144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9019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Discover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8E8"/>
                </a:solidFill>
              </a:rPr>
              <a:t>Find Veto content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84248" y="914400"/>
            <a:ext cx="914400" cy="9144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83080" y="9144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19019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Watch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8E8"/>
                </a:solidFill>
              </a:rPr>
              <a:t>Engage with shows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01568" y="914400"/>
            <a:ext cx="914400" cy="9144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0" y="9144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9019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Interact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8E8"/>
                </a:solidFill>
              </a:rPr>
              <a:t>Participate &amp; share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18888" y="914400"/>
            <a:ext cx="914400" cy="9144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9144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19019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Remember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8E8"/>
                </a:solidFill>
              </a:rPr>
              <a:t>Brand stays top-of-mind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6208" y="914400"/>
            <a:ext cx="914400" cy="9144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0" y="9144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19019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Choose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8E8"/>
                </a:solidFill>
              </a:rPr>
              <a:t>Select Bisleri products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53528" y="91440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52360" y="9144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19019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8E8"/>
                </a:solidFill>
              </a:rPr>
              <a:t>Become an advocate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2926080"/>
            <a:ext cx="8412480" cy="1463040"/>
          </a:xfrm>
          <a:prstGeom prst="rect">
            <a:avLst/>
          </a:prstGeom>
          <a:solidFill>
            <a:srgbClr val="1A3A55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" y="2926080"/>
            <a:ext cx="73152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4360" y="2999232"/>
            <a:ext cx="8092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</a:rPr>
              <a:t>"We don't just place Bisleri inside content.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</a:rPr>
              <a:t>We create content where consumers naturally experience Bisleri."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11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 · IMPACT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</a:rPr>
              <a:t>Expected Business Impact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73152" cy="16916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" y="1252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" y="12527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</a:rPr>
              <a:t>Brand Recall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" y="19476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</a:rPr>
              <a:t>Consumers remember Bisleri beyond water — across all occasions and touchpoints.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73152" cy="169164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19472" y="1252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559552" y="12527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</a:rPr>
              <a:t>Portfolio Awareness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19472" y="19476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</a:rPr>
              <a:t>Drive discovery of Vedica, Soda, Limonata &amp; Pop to new digital audiences.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73152" cy="169164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" y="30815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🧑‍💻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" y="30815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51"/>
                </a:solidFill>
              </a:rPr>
              <a:t>Youth Engagement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" y="37764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</a:rPr>
              <a:t>Build relevance among Gen Z, Millennials and digital-first consumers.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73152" cy="1691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19472" y="30815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💖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559552" y="30815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Stronger Relationship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919472" y="37764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</a:rPr>
              <a:t>Move from transactional purchase to emotional brand connection.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12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</a:rPr>
              <a:t>Measurement Framework: Success Metrics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43891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7772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7772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WE MEASURE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7772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INDICATOR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8503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261872"/>
            <a:ext cx="64008" cy="5943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261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</a:rPr>
              <a:t>Reach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12618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Views &amp; Impressions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126187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8503920" cy="5943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1920240"/>
            <a:ext cx="64008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Engagement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1920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Watch Time, Likes &amp; Shares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8503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578608"/>
            <a:ext cx="64008" cy="594360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25786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BAA"/>
                </a:solidFill>
              </a:rPr>
              <a:t>Interest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25786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Searches &amp; Product Page Visits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57860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" y="3236976"/>
            <a:ext cx="8503920" cy="5943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236976"/>
            <a:ext cx="64008" cy="5943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323697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651"/>
                </a:solidFill>
              </a:rPr>
              <a:t>Community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468880" y="323697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Participation &amp; UGC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323697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20040" y="3895344"/>
            <a:ext cx="8503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3895344"/>
            <a:ext cx="64008" cy="5943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38953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</a:rPr>
              <a:t>Brand Growth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468880" y="389534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Recall &amp; Preference Scores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389534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580"/>
                </a:solidFill>
              </a:rPr>
              <a:t>13 / 14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548640"/>
            <a:ext cx="3200400" cy="3200400"/>
          </a:xfrm>
          <a:prstGeom prst="ellipse">
            <a:avLst/>
          </a:prstGeom>
          <a:solidFill>
            <a:srgbClr val="1E4870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731520" y="2743200"/>
            <a:ext cx="2286000" cy="228600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</a:rPr>
              <a:t>VETO + BISLERI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Building India's First Refreshment Entertainment Ecosystem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1901952"/>
            <a:ext cx="7315200" cy="54864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50" i="1" dirty="0">
                <a:solidFill>
                  <a:srgbClr val="C0DCF0"/>
                </a:solidFill>
              </a:rPr>
              <a:t>"We don't just place Bisleri inside content.</a:t>
            </a:r>
            <a:endParaRPr lang="en-US" sz="14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50" i="1" dirty="0">
                <a:solidFill>
                  <a:srgbClr val="C0DCF0"/>
                </a:solidFill>
              </a:rPr>
              <a:t>We create content where consumers naturally experience Bisleri."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286000" y="3611880"/>
            <a:ext cx="4572000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86000" y="3611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Let's Build Something Refreshing Together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8AA0"/>
                </a:solidFill>
              </a:rPr>
              <a:t>Confidential | Partnership Proposal 2025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728</Words>
  <Application>Microsoft Office PowerPoint</Application>
  <PresentationFormat>On-screen Show (16:9)</PresentationFormat>
  <Paragraphs>203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😎</cp:lastModifiedBy>
  <cp:revision>2</cp:revision>
  <dcterms:created xsi:type="dcterms:W3CDTF">2026-09-02T06:03:00Z</dcterms:created>
  <dcterms:modified xsi:type="dcterms:W3CDTF">2026-09-02T13:50:32Z</dcterms:modified>
</cp:coreProperties>
</file>