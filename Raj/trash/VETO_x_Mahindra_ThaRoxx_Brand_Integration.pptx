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125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2.pn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1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rot="5400000" flipH="1">
            <a:off x="7315200" y="0"/>
            <a:ext cx="4937760" cy="6858000"/>
          </a:xfrm>
          <a:prstGeom prst="triangle">
            <a:avLst/>
          </a:prstGeom>
          <a:solidFill>
            <a:srgbClr val="D7431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D7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MAHINDRA XUV 7XO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6000"/>
              </a:lnSpc>
              <a:buNone/>
            </a:pPr>
            <a:r>
              <a:rPr lang="en-US" sz="58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RISE.</a:t>
            </a:r>
            <a:endParaRPr lang="en-US" sz="5800" dirty="0"/>
          </a:p>
          <a:p>
            <a:pPr marL="0" indent="0">
              <a:lnSpc>
                <a:spcPts val="6000"/>
              </a:lnSpc>
              <a:buNone/>
            </a:pPr>
            <a:r>
              <a:rPr lang="en-US" sz="58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DEFY.</a:t>
            </a:r>
            <a:endParaRPr lang="en-US" sz="5800" dirty="0"/>
          </a:p>
          <a:p>
            <a:pPr marL="0" indent="0">
              <a:lnSpc>
                <a:spcPts val="6000"/>
              </a:lnSpc>
              <a:buNone/>
            </a:pPr>
            <a:r>
              <a:rPr lang="en-US" sz="58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PROVE.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457200" cy="45720"/>
          </a:xfrm>
          <a:prstGeom prst="rect">
            <a:avLst/>
          </a:prstGeom>
          <a:solidFill>
            <a:srgbClr val="D7431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0749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original entertainment properties built around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spirit of Thar Roxx.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06840" y="2377440"/>
            <a:ext cx="1097280" cy="1097280"/>
          </a:xfrm>
          <a:prstGeom prst="ellipse">
            <a:avLst/>
          </a:prstGeom>
          <a:solidFill>
            <a:srgbClr val="191512"/>
          </a:solidFill>
          <a:ln/>
        </p:spPr>
      </p:sp>
      <p:pic>
        <p:nvPicPr>
          <p:cNvPr id="10" name="Image 0" descr="/home/claude/build/icons/mount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133" y="2662733"/>
            <a:ext cx="526694" cy="52669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378440" y="3383280"/>
            <a:ext cx="658368" cy="658368"/>
          </a:xfrm>
          <a:prstGeom prst="ellipse">
            <a:avLst/>
          </a:prstGeom>
          <a:solidFill>
            <a:srgbClr val="191512"/>
          </a:solidFill>
          <a:ln/>
        </p:spPr>
      </p:sp>
      <p:pic>
        <p:nvPicPr>
          <p:cNvPr id="12" name="Image 1" descr="/home/claude/build/icons/fistrai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199" y="3561039"/>
            <a:ext cx="302849" cy="30284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549640" y="3931920"/>
            <a:ext cx="566928" cy="566928"/>
          </a:xfrm>
          <a:prstGeom prst="ellipse">
            <a:avLst/>
          </a:prstGeom>
          <a:solidFill>
            <a:srgbClr val="191512"/>
          </a:solidFill>
          <a:ln/>
        </p:spPr>
      </p:sp>
      <p:pic>
        <p:nvPicPr>
          <p:cNvPr id="14" name="Image 2" descr="/home/claude/build/icons/flagchecke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2711" y="4084991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5320" y="51206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kern="0" spc="1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TOUGHNESS  ·  RESILIENCE  ·  HUMAN ACHIEVEMENT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MAHINDRA XUV 7XO|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THAR ROXX IS MORE</a:t>
            </a:r>
            <a:endParaRPr lang="en-US" sz="38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AN SUV.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6949440" cy="1417320"/>
          </a:xfrm>
          <a:prstGeom prst="rect">
            <a:avLst/>
          </a:prstGeom>
          <a:solidFill>
            <a:srgbClr val="241E1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468880"/>
            <a:ext cx="6309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“Some people don't wait for the road to be ready.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rise anyway.”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can turn brand philosophy into entertainment about: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389120"/>
            <a:ext cx="18973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89120"/>
            <a:ext cx="18973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RISE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83764" y="4389120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83764" y="438912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CHALLENGE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07508" y="4389120"/>
            <a:ext cx="199339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7508" y="4389120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PROVE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777240" cy="777240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14" name="Image 0" descr="/home/claude/build/icons/arrow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5360670"/>
            <a:ext cx="388620" cy="3886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2880" y="60167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527048" y="5554980"/>
            <a:ext cx="2706624" cy="0"/>
          </a:xfrm>
          <a:prstGeom prst="line">
            <a:avLst/>
          </a:prstGeom>
          <a:noFill/>
          <a:ln w="19050">
            <a:solidFill>
              <a:srgbClr val="6B605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343400" y="5166360"/>
            <a:ext cx="777240" cy="777240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18" name="Image 1" descr="/home/claude/build/icons/fistrai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710" y="5360670"/>
            <a:ext cx="388620" cy="3886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86200" y="60167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230368" y="5554980"/>
            <a:ext cx="2706624" cy="0"/>
          </a:xfrm>
          <a:prstGeom prst="line">
            <a:avLst/>
          </a:prstGeom>
          <a:noFill/>
          <a:ln w="19050">
            <a:solidFill>
              <a:srgbClr val="6B6055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8046720" y="5166360"/>
            <a:ext cx="777240" cy="777240"/>
          </a:xfrm>
          <a:prstGeom prst="ellipse">
            <a:avLst/>
          </a:prstGeom>
          <a:solidFill>
            <a:srgbClr val="D7431C"/>
          </a:solidFill>
          <a:ln/>
        </p:spPr>
      </p:sp>
      <p:pic>
        <p:nvPicPr>
          <p:cNvPr id="22" name="Image 2" descr="/home/claude/build/icons/troph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030" y="5360670"/>
            <a:ext cx="388620" cy="3886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589520" y="60167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MAHINDRA THAR ROXX  |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7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CONTENT TERRITORY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PRODUCT ATTRIBUTE</a:t>
            </a:r>
            <a:endParaRPr lang="en-US" sz="34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ENTERTAINMENT IP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241E19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TOUGHNESS</a:t>
            </a:r>
            <a:endParaRPr lang="en-US" sz="1200" dirty="0"/>
          </a:p>
        </p:txBody>
      </p:sp>
      <p:pic>
        <p:nvPicPr>
          <p:cNvPr id="6" name="Image 0" descr="/home/claude/build/icons/chevron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2569464"/>
            <a:ext cx="219456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10712" y="23317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241E19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10712" y="23317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pic>
        <p:nvPicPr>
          <p:cNvPr id="9" name="Image 1" descr="/home/claude/build/icons/chevron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69464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81344" y="23317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241E19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81344" y="23317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ACHIEVEMENT</a:t>
            </a:r>
            <a:endParaRPr lang="en-US" sz="1200" dirty="0"/>
          </a:p>
        </p:txBody>
      </p:sp>
      <p:pic>
        <p:nvPicPr>
          <p:cNvPr id="12" name="Image 2" descr="/home/claude/build/icons/chevron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569464"/>
            <a:ext cx="219456" cy="2194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951976" y="23317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D7431C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951976" y="23317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40080" y="33375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simply demonstrating what Thar Roxx can do, we create content around people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situations that embody what Thar Roxx stands for.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34340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241E19"/>
          </a:solidFill>
          <a:ln/>
        </p:spPr>
      </p:sp>
      <p:sp>
        <p:nvSpPr>
          <p:cNvPr id="17" name="Text 12"/>
          <p:cNvSpPr/>
          <p:nvPr/>
        </p:nvSpPr>
        <p:spPr>
          <a:xfrm>
            <a:off x="86868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7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3246120" y="4544568"/>
            <a:ext cx="548640" cy="548640"/>
          </a:xfrm>
          <a:prstGeom prst="ellipse">
            <a:avLst/>
          </a:prstGeom>
          <a:solidFill>
            <a:srgbClr val="2E241D"/>
          </a:solidFill>
          <a:ln/>
        </p:spPr>
      </p:sp>
      <p:pic>
        <p:nvPicPr>
          <p:cNvPr id="19" name="Image 3" descr="/home/claude/build/icons/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68172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52120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389120" y="434340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241E19"/>
          </a:solidFill>
          <a:ln/>
        </p:spPr>
      </p:sp>
      <p:sp>
        <p:nvSpPr>
          <p:cNvPr id="22" name="Text 16"/>
          <p:cNvSpPr/>
          <p:nvPr/>
        </p:nvSpPr>
        <p:spPr>
          <a:xfrm>
            <a:off x="461772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7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Shape 17"/>
          <p:cNvSpPr/>
          <p:nvPr/>
        </p:nvSpPr>
        <p:spPr>
          <a:xfrm>
            <a:off x="6995160" y="4544568"/>
            <a:ext cx="548640" cy="548640"/>
          </a:xfrm>
          <a:prstGeom prst="ellipse">
            <a:avLst/>
          </a:prstGeom>
          <a:solidFill>
            <a:srgbClr val="2E241D"/>
          </a:solidFill>
          <a:ln/>
        </p:spPr>
      </p:sp>
      <p:pic>
        <p:nvPicPr>
          <p:cNvPr id="24" name="Image 4" descr="/home/claude/build/icons/troph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68172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617720" y="52120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8138160" y="434340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241E19"/>
          </a:solidFill>
          <a:ln/>
        </p:spPr>
      </p:sp>
      <p:sp>
        <p:nvSpPr>
          <p:cNvPr id="27" name="Text 20"/>
          <p:cNvSpPr/>
          <p:nvPr/>
        </p:nvSpPr>
        <p:spPr>
          <a:xfrm>
            <a:off x="836676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7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10744200" y="4544568"/>
            <a:ext cx="548640" cy="548640"/>
          </a:xfrm>
          <a:prstGeom prst="ellipse">
            <a:avLst/>
          </a:prstGeom>
          <a:solidFill>
            <a:srgbClr val="2E241D"/>
          </a:solidFill>
          <a:ln/>
        </p:spPr>
      </p:sp>
      <p:pic>
        <p:nvPicPr>
          <p:cNvPr id="29" name="Image 5" descr="/home/claude/build/icons/hamm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0" y="468172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366760" y="52120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MAHINDRA THAR ROXX  | 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41E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7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371600" cy="1371600"/>
          </a:xfrm>
          <a:prstGeom prst="ellipse">
            <a:avLst/>
          </a:prstGeom>
          <a:solidFill>
            <a:srgbClr val="D7431C"/>
          </a:solidFill>
          <a:ln/>
        </p:spPr>
      </p:sp>
      <p:pic>
        <p:nvPicPr>
          <p:cNvPr id="5" name="Image 0" descr="/home/claude/build/icon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40817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517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</a:t>
            </a:r>
            <a:endParaRPr lang="en-US" sz="2700" dirty="0"/>
          </a:p>
          <a:p>
            <a:pPr marL="0" indent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02920" y="37947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A79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"Built to Rise. Just Like Them."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5029200"/>
            <a:ext cx="3246120" cy="1280160"/>
          </a:xfrm>
          <a:prstGeom prst="roundRect">
            <a:avLst>
              <a:gd name="adj" fmla="val 4286"/>
            </a:avLst>
          </a:prstGeom>
          <a:solidFill>
            <a:srgbClr val="2E241D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5148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7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5422392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documentary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episodes × 12–15 minutes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3484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16552" y="80467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people don't wait for the road to be ready.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43484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PROTAGONISTS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34840" y="21945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2103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 athlete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38160" y="21945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2103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First-generation entrepreneur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34840" y="26517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2560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innovator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38160" y="26517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21" name="Text 18"/>
          <p:cNvSpPr/>
          <p:nvPr/>
        </p:nvSpPr>
        <p:spPr>
          <a:xfrm>
            <a:off x="8366760" y="2560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Craftsman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434840" y="31089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0" y="3017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community leader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138160" y="31089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3017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rebuilding after setbacks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434840" y="4023360"/>
            <a:ext cx="7223760" cy="18288"/>
          </a:xfrm>
          <a:prstGeom prst="rect">
            <a:avLst/>
          </a:prstGeom>
          <a:solidFill>
            <a:srgbClr val="3A2F27"/>
          </a:solidFill>
          <a:ln/>
        </p:spPr>
      </p:sp>
      <p:sp>
        <p:nvSpPr>
          <p:cNvPr id="29" name="Shape 26"/>
          <p:cNvSpPr/>
          <p:nvPr/>
        </p:nvSpPr>
        <p:spPr>
          <a:xfrm>
            <a:off x="4434840" y="5120640"/>
            <a:ext cx="7223760" cy="1188720"/>
          </a:xfrm>
          <a:prstGeom prst="rect">
            <a:avLst/>
          </a:prstGeom>
          <a:solidFill>
            <a:srgbClr val="241E19"/>
          </a:solidFill>
          <a:ln/>
        </p:spPr>
      </p:sp>
      <p:sp>
        <p:nvSpPr>
          <p:cNvPr id="30" name="Text 27"/>
          <p:cNvSpPr/>
          <p:nvPr/>
        </p:nvSpPr>
        <p:spPr>
          <a:xfrm>
            <a:off x="4709160" y="528523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ROLE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709160" y="55321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THEIR REAL WORLD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709160" y="5943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workshop, a farm, a training ground, a 5 AM workplace — not staged.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MAHINDRA THAR ROXX  | 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 — RISE STORIES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IS</a:t>
            </a:r>
            <a:endParaRPr lang="en-US" sz="32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80744" y="2148840"/>
            <a:ext cx="658368" cy="658368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5" name="Image 0" descr="/home/claude/build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23134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16936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057400" y="2478024"/>
            <a:ext cx="1554480" cy="0"/>
          </a:xfrm>
          <a:prstGeom prst="line">
            <a:avLst/>
          </a:prstGeom>
          <a:noFill/>
          <a:ln w="15875">
            <a:solidFill>
              <a:srgbClr val="6B605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639312" y="2148840"/>
            <a:ext cx="658368" cy="658368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9" name="Image 1" descr="/home/claude/build/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31343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98648" y="2916936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15968" y="2478024"/>
            <a:ext cx="1554480" cy="0"/>
          </a:xfrm>
          <a:prstGeom prst="line">
            <a:avLst/>
          </a:prstGeom>
          <a:noFill/>
          <a:ln w="15875">
            <a:solidFill>
              <a:srgbClr val="6B6055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897880" y="2148840"/>
            <a:ext cx="658368" cy="658368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13" name="Image 2" descr="/home/claude/build/icons/fistrai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231343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57216" y="2916936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574536" y="2478024"/>
            <a:ext cx="1554480" cy="0"/>
          </a:xfrm>
          <a:prstGeom prst="line">
            <a:avLst/>
          </a:prstGeom>
          <a:noFill/>
          <a:ln w="15875">
            <a:solidFill>
              <a:srgbClr val="6B6055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8156448" y="2148840"/>
            <a:ext cx="658368" cy="658368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17" name="Image 3" descr="/home/claude/build/icons/arrow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31343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15784" y="2916936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THE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8833104" y="2478024"/>
            <a:ext cx="1554480" cy="0"/>
          </a:xfrm>
          <a:prstGeom prst="line">
            <a:avLst/>
          </a:prstGeom>
          <a:noFill/>
          <a:ln w="15875">
            <a:solidFill>
              <a:srgbClr val="6B6055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10415016" y="2148840"/>
            <a:ext cx="658368" cy="658368"/>
          </a:xfrm>
          <a:prstGeom prst="ellipse">
            <a:avLst/>
          </a:prstGeom>
          <a:solidFill>
            <a:srgbClr val="D7431C"/>
          </a:solidFill>
          <a:ln/>
        </p:spPr>
      </p:sp>
      <p:pic>
        <p:nvPicPr>
          <p:cNvPr id="21" name="Image 4" descr="/home/claude/build/icons/troph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9608" y="2313432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74352" y="2916936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AT THE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241E19"/>
          </a:solidFill>
          <a:ln/>
        </p:spPr>
      </p:sp>
      <p:sp>
        <p:nvSpPr>
          <p:cNvPr id="24" name="Text 17"/>
          <p:cNvSpPr/>
          <p:nvPr/>
        </p:nvSpPr>
        <p:spPr>
          <a:xfrm>
            <a:off x="914400" y="4005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7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ROLE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914400" y="42519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“Thar Roxx becomes a visual symbol of the same resilience demonstrated by the protagonist.”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64008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EXTENSIONS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1458468" y="5440680"/>
            <a:ext cx="502920" cy="502920"/>
          </a:xfrm>
          <a:prstGeom prst="ellipse">
            <a:avLst/>
          </a:prstGeom>
          <a:solidFill>
            <a:srgbClr val="2E241D"/>
          </a:solidFill>
          <a:ln/>
        </p:spPr>
      </p:sp>
      <p:pic>
        <p:nvPicPr>
          <p:cNvPr id="28" name="Image 5" descr="/home/claude/build/icons/mob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4198" y="5566410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0080" y="60350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sec social films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3717036" y="5440680"/>
            <a:ext cx="502920" cy="502920"/>
          </a:xfrm>
          <a:prstGeom prst="ellipse">
            <a:avLst/>
          </a:prstGeom>
          <a:solidFill>
            <a:srgbClr val="2E241D"/>
          </a:solidFill>
          <a:ln/>
        </p:spPr>
      </p:sp>
      <p:pic>
        <p:nvPicPr>
          <p:cNvPr id="31" name="Image 6" descr="/home/claude/build/icons/commen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2766" y="5566410"/>
            <a:ext cx="251460" cy="2514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898648" y="60350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Protagonist quotes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975604" y="5440680"/>
            <a:ext cx="502920" cy="502920"/>
          </a:xfrm>
          <a:prstGeom prst="ellipse">
            <a:avLst/>
          </a:prstGeom>
          <a:solidFill>
            <a:srgbClr val="2E241D"/>
          </a:solidFill>
          <a:ln/>
        </p:spPr>
      </p:sp>
      <p:pic>
        <p:nvPicPr>
          <p:cNvPr id="34" name="Image 7" descr="/home/claude/build/icons/ey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1334" y="5566410"/>
            <a:ext cx="251460" cy="2514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57216" y="60350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Behind-the-scenes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8234172" y="5440680"/>
            <a:ext cx="502920" cy="502920"/>
          </a:xfrm>
          <a:prstGeom prst="ellipse">
            <a:avLst/>
          </a:prstGeom>
          <a:solidFill>
            <a:srgbClr val="2E241D"/>
          </a:solidFill>
          <a:ln/>
        </p:spPr>
      </p:sp>
      <p:pic>
        <p:nvPicPr>
          <p:cNvPr id="37" name="Image 8" descr="/home/claude/build/icons/st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9902" y="5566410"/>
            <a:ext cx="251460" cy="25146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415784" y="60350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Inspirational reels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10492740" y="5440680"/>
            <a:ext cx="502920" cy="502920"/>
          </a:xfrm>
          <a:prstGeom prst="ellipse">
            <a:avLst/>
          </a:prstGeom>
          <a:solidFill>
            <a:srgbClr val="2E241D"/>
          </a:solidFill>
          <a:ln/>
        </p:spPr>
      </p:sp>
      <p:pic>
        <p:nvPicPr>
          <p:cNvPr id="40" name="Image 9" descr="/home/claude/build/icons/userfriend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18470" y="5566410"/>
            <a:ext cx="251460" cy="25146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674352" y="60350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nominations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MAHINDRA THAR ROXX  |  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41E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7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371600" cy="1371600"/>
          </a:xfrm>
          <a:prstGeom prst="ellipse">
            <a:avLst/>
          </a:prstGeom>
          <a:solidFill>
            <a:srgbClr val="D7431C"/>
          </a:solidFill>
          <a:ln/>
        </p:spPr>
      </p:sp>
      <p:pic>
        <p:nvPicPr>
          <p:cNvPr id="5" name="Image 0" descr="/home/claude/build/icons/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40817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517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THAR ROXX</a:t>
            </a:r>
            <a:endParaRPr lang="en-US" sz="2700" dirty="0"/>
          </a:p>
          <a:p>
            <a:pPr marL="0" indent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02920" y="37947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A79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Isn't a Drive. It's a Dare."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5029200"/>
            <a:ext cx="3246120" cy="1280160"/>
          </a:xfrm>
          <a:prstGeom prst="roundRect">
            <a:avLst>
              <a:gd name="adj" fmla="val 4286"/>
            </a:avLst>
          </a:prstGeom>
          <a:solidFill>
            <a:srgbClr val="2E241D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5148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7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5422392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competition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eps × 30–45 min + live finale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3484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16552" y="80467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enter an arena that tests control, power, endurance, teamwork and instinct.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43484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CATEGORIES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34840" y="21945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2103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38160" y="21945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2103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34840" y="26517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2560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38160" y="26517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21" name="Text 18"/>
          <p:cNvSpPr/>
          <p:nvPr/>
        </p:nvSpPr>
        <p:spPr>
          <a:xfrm>
            <a:off x="8366760" y="2560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434840" y="31089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0" y="3017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Instinct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138160" y="31089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3017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eliminations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434840" y="4023360"/>
            <a:ext cx="7223760" cy="18288"/>
          </a:xfrm>
          <a:prstGeom prst="rect">
            <a:avLst/>
          </a:prstGeom>
          <a:solidFill>
            <a:srgbClr val="3A2F27"/>
          </a:solidFill>
          <a:ln/>
        </p:spPr>
      </p:sp>
      <p:sp>
        <p:nvSpPr>
          <p:cNvPr id="27" name="Text 24"/>
          <p:cNvSpPr/>
          <p:nvPr/>
        </p:nvSpPr>
        <p:spPr>
          <a:xfrm>
            <a:off x="4434840" y="4206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434840" y="44805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D74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tell the audience Thar Roxx is capable. Show them.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434840" y="5120640"/>
            <a:ext cx="7223760" cy="1188720"/>
          </a:xfrm>
          <a:prstGeom prst="rect">
            <a:avLst/>
          </a:prstGeom>
          <a:solidFill>
            <a:srgbClr val="241E19"/>
          </a:solidFill>
          <a:ln/>
        </p:spPr>
      </p:sp>
      <p:sp>
        <p:nvSpPr>
          <p:cNvPr id="30" name="Text 27"/>
          <p:cNvSpPr/>
          <p:nvPr/>
        </p:nvSpPr>
        <p:spPr>
          <a:xfrm>
            <a:off x="4709160" y="528523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ROLE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709160" y="55321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BEING TESTED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709160" y="5943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capability proven live, through the challenge — not narrated.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MAHINDRA THAR ROXX  |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 — THAR ROXX ARENA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IT.</a:t>
            </a:r>
            <a:endParaRPr lang="en-US" sz="34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SAY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139696" cy="1417320"/>
          </a:xfrm>
          <a:prstGeom prst="roundRect">
            <a:avLst>
              <a:gd name="adj" fmla="val 3871"/>
            </a:avLst>
          </a:prstGeom>
          <a:solidFill>
            <a:srgbClr val="241E19"/>
          </a:solidFill>
          <a:ln/>
        </p:spPr>
      </p:sp>
      <p:sp>
        <p:nvSpPr>
          <p:cNvPr id="5" name="Shape 3"/>
          <p:cNvSpPr/>
          <p:nvPr/>
        </p:nvSpPr>
        <p:spPr>
          <a:xfrm>
            <a:off x="1458468" y="2286000"/>
            <a:ext cx="502920" cy="502920"/>
          </a:xfrm>
          <a:prstGeom prst="ellipse">
            <a:avLst/>
          </a:prstGeom>
          <a:solidFill>
            <a:srgbClr val="2E241D"/>
          </a:solidFill>
          <a:ln/>
        </p:spPr>
      </p:sp>
      <p:pic>
        <p:nvPicPr>
          <p:cNvPr id="6" name="Image 0" descr="/home/claude/build/icons/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198" y="24117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98648" y="2103120"/>
            <a:ext cx="2139696" cy="1417320"/>
          </a:xfrm>
          <a:prstGeom prst="roundRect">
            <a:avLst>
              <a:gd name="adj" fmla="val 3871"/>
            </a:avLst>
          </a:prstGeom>
          <a:solidFill>
            <a:srgbClr val="241E19"/>
          </a:solidFill>
          <a:ln/>
        </p:spPr>
      </p:sp>
      <p:sp>
        <p:nvSpPr>
          <p:cNvPr id="9" name="Shape 6"/>
          <p:cNvSpPr/>
          <p:nvPr/>
        </p:nvSpPr>
        <p:spPr>
          <a:xfrm>
            <a:off x="3717036" y="2286000"/>
            <a:ext cx="502920" cy="502920"/>
          </a:xfrm>
          <a:prstGeom prst="ellipse">
            <a:avLst/>
          </a:prstGeom>
          <a:solidFill>
            <a:srgbClr val="2E241D"/>
          </a:solidFill>
          <a:ln/>
        </p:spPr>
      </p:sp>
      <p:pic>
        <p:nvPicPr>
          <p:cNvPr id="10" name="Image 1" descr="/home/claude/build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766" y="24117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90088" y="292608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157216" y="2103120"/>
            <a:ext cx="2139696" cy="1417320"/>
          </a:xfrm>
          <a:prstGeom prst="roundRect">
            <a:avLst>
              <a:gd name="adj" fmla="val 3871"/>
            </a:avLst>
          </a:prstGeom>
          <a:solidFill>
            <a:srgbClr val="241E19"/>
          </a:solidFill>
          <a:ln/>
        </p:spPr>
      </p:sp>
      <p:sp>
        <p:nvSpPr>
          <p:cNvPr id="13" name="Shape 9"/>
          <p:cNvSpPr/>
          <p:nvPr/>
        </p:nvSpPr>
        <p:spPr>
          <a:xfrm>
            <a:off x="5975604" y="2286000"/>
            <a:ext cx="502920" cy="502920"/>
          </a:xfrm>
          <a:prstGeom prst="ellipse">
            <a:avLst/>
          </a:prstGeom>
          <a:solidFill>
            <a:srgbClr val="2E241D"/>
          </a:solidFill>
          <a:ln/>
        </p:spPr>
      </p:sp>
      <p:pic>
        <p:nvPicPr>
          <p:cNvPr id="14" name="Image 2" descr="/home/claude/build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1334" y="241173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48656" y="292608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415784" y="2103120"/>
            <a:ext cx="2139696" cy="1417320"/>
          </a:xfrm>
          <a:prstGeom prst="roundRect">
            <a:avLst>
              <a:gd name="adj" fmla="val 3871"/>
            </a:avLst>
          </a:prstGeom>
          <a:solidFill>
            <a:srgbClr val="241E19"/>
          </a:solidFill>
          <a:ln/>
        </p:spPr>
      </p:sp>
      <p:sp>
        <p:nvSpPr>
          <p:cNvPr id="17" name="Shape 12"/>
          <p:cNvSpPr/>
          <p:nvPr/>
        </p:nvSpPr>
        <p:spPr>
          <a:xfrm>
            <a:off x="8234172" y="2286000"/>
            <a:ext cx="502920" cy="502920"/>
          </a:xfrm>
          <a:prstGeom prst="ellipse">
            <a:avLst/>
          </a:prstGeom>
          <a:solidFill>
            <a:srgbClr val="2E241D"/>
          </a:solidFill>
          <a:ln/>
        </p:spPr>
      </p:sp>
      <p:pic>
        <p:nvPicPr>
          <p:cNvPr id="18" name="Image 3" descr="/home/claude/build/icons/handshelp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9902" y="241173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07224" y="292608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674352" y="2103120"/>
            <a:ext cx="2139696" cy="1417320"/>
          </a:xfrm>
          <a:prstGeom prst="roundRect">
            <a:avLst>
              <a:gd name="adj" fmla="val 3871"/>
            </a:avLst>
          </a:prstGeom>
          <a:solidFill>
            <a:srgbClr val="D7431C"/>
          </a:solidFill>
          <a:ln/>
        </p:spPr>
      </p:sp>
      <p:sp>
        <p:nvSpPr>
          <p:cNvPr id="21" name="Shape 15"/>
          <p:cNvSpPr/>
          <p:nvPr/>
        </p:nvSpPr>
        <p:spPr>
          <a:xfrm>
            <a:off x="10492740" y="2286000"/>
            <a:ext cx="502920" cy="502920"/>
          </a:xfrm>
          <a:prstGeom prst="ellipse">
            <a:avLst/>
          </a:prstGeom>
          <a:solidFill>
            <a:srgbClr val="191512"/>
          </a:solidFill>
          <a:ln/>
        </p:spPr>
      </p:sp>
      <p:pic>
        <p:nvPicPr>
          <p:cNvPr id="22" name="Image 4" descr="/home/claude/build/icons/flagchecke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8470" y="241173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65792" y="292608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TEST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64008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INTEGRATIONS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40080" y="416052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40080" y="416052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obstacle arena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3429000" y="416052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429000" y="416052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416052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217920" y="416052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teams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9006840" y="416052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006840" y="416052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Celebrity participants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40080" y="472744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40080" y="472744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voting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3429000" y="472744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3429000" y="472744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challenges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6217920" y="472744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217920" y="472744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finale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9006840" y="472744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2F27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9006840" y="472744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activation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640080" y="55321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241E19"/>
          </a:solidFill>
          <a:ln/>
        </p:spPr>
      </p:sp>
      <p:sp>
        <p:nvSpPr>
          <p:cNvPr id="42" name="Text 35"/>
          <p:cNvSpPr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an entertainment property first — vehicle demonstration is built naturally into the challenge.</a:t>
            </a:r>
            <a:endParaRPr lang="en-US" sz="1350" dirty="0"/>
          </a:p>
        </p:txBody>
      </p:sp>
      <p:sp>
        <p:nvSpPr>
          <p:cNvPr id="43" name="Text 36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MAHINDRA THAR ROXX  |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41E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7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371600" cy="1371600"/>
          </a:xfrm>
          <a:prstGeom prst="ellipse">
            <a:avLst/>
          </a:prstGeom>
          <a:solidFill>
            <a:srgbClr val="D7431C"/>
          </a:solidFill>
          <a:ln/>
        </p:spPr>
      </p:sp>
      <p:pic>
        <p:nvPicPr>
          <p:cNvPr id="5" name="Image 0" descr="/home/claude/build/icons/ham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40817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517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RISE</a:t>
            </a:r>
            <a:endParaRPr lang="en-US" sz="2700" dirty="0"/>
          </a:p>
          <a:p>
            <a:pPr marL="0" indent="0">
              <a:lnSpc>
                <a:spcPts val="29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02920" y="37947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A79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"Rise to What Comes Next."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5029200"/>
            <a:ext cx="3246120" cy="1280160"/>
          </a:xfrm>
          <a:prstGeom prst="roundRect">
            <a:avLst>
              <a:gd name="adj" fmla="val 4286"/>
            </a:avLst>
          </a:prstGeom>
          <a:solidFill>
            <a:srgbClr val="2E241D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5148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7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5422392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experiment /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· 6 × 15–20 min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3484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16552" y="80467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people or communities face a difficult real-world challenge — limited time, limited resources.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43484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CHALLENGES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34840" y="21945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2103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team preparing for a tournament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38160" y="21945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2103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 launching first business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34840" y="26517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2560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transforming unused space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38160" y="2651760"/>
            <a:ext cx="82296" cy="82296"/>
          </a:xfrm>
          <a:prstGeom prst="ellipse">
            <a:avLst/>
          </a:prstGeom>
          <a:solidFill>
            <a:srgbClr val="D7431C"/>
          </a:solidFill>
          <a:ln/>
        </p:spPr>
      </p:sp>
      <p:sp>
        <p:nvSpPr>
          <p:cNvPr id="21" name="Text 18"/>
          <p:cNvSpPr/>
          <p:nvPr/>
        </p:nvSpPr>
        <p:spPr>
          <a:xfrm>
            <a:off x="8366760" y="2560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solving a local problem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434840" y="4023360"/>
            <a:ext cx="7223760" cy="18288"/>
          </a:xfrm>
          <a:prstGeom prst="rect">
            <a:avLst/>
          </a:prstGeom>
          <a:solidFill>
            <a:srgbClr val="3A2F27"/>
          </a:solidFill>
          <a:ln/>
        </p:spPr>
      </p:sp>
      <p:sp>
        <p:nvSpPr>
          <p:cNvPr id="23" name="Text 20"/>
          <p:cNvSpPr/>
          <p:nvPr/>
        </p:nvSpPr>
        <p:spPr>
          <a:xfrm>
            <a:off x="4434840" y="4206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434840" y="44805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D74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effort remains the hero — Thar Roxx is the enabler.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434840" y="5120640"/>
            <a:ext cx="7223760" cy="1188720"/>
          </a:xfrm>
          <a:prstGeom prst="rect">
            <a:avLst/>
          </a:prstGeom>
          <a:solidFill>
            <a:srgbClr val="241E19"/>
          </a:solidFill>
          <a:ln/>
        </p:spPr>
      </p:sp>
      <p:sp>
        <p:nvSpPr>
          <p:cNvPr id="26" name="Text 23"/>
          <p:cNvSpPr/>
          <p:nvPr/>
        </p:nvSpPr>
        <p:spPr>
          <a:xfrm>
            <a:off x="4709160" y="528523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ROLE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709160" y="55321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ENABLER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709160" y="5943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equipment, moving people, supporting execution of the mission.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MAHINDRA THAR ROXX  |  Brand Integration Proposal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3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 — THE RISE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IS REAL.</a:t>
            </a:r>
            <a:endParaRPr lang="en-US" sz="30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9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REAL.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02436" y="2103120"/>
            <a:ext cx="658368" cy="658368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5" name="Image 0" descr="/home/claude/build/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" y="226771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71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879092" y="2432304"/>
            <a:ext cx="1197864" cy="0"/>
          </a:xfrm>
          <a:prstGeom prst="line">
            <a:avLst/>
          </a:prstGeom>
          <a:noFill/>
          <a:ln w="15875">
            <a:solidFill>
              <a:srgbClr val="6B605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104388" y="2103120"/>
            <a:ext cx="658368" cy="658368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9" name="Image 1" descr="/home/claude/build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980" y="226771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42032" y="2871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DEADLINE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781044" y="2432304"/>
            <a:ext cx="1197864" cy="0"/>
          </a:xfrm>
          <a:prstGeom prst="line">
            <a:avLst/>
          </a:prstGeom>
          <a:noFill/>
          <a:ln w="15875">
            <a:solidFill>
              <a:srgbClr val="6B6055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006340" y="2103120"/>
            <a:ext cx="658368" cy="658368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13" name="Image 2" descr="/home/claude/build/icons/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932" y="226771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43984" y="2871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682996" y="2432304"/>
            <a:ext cx="1197864" cy="0"/>
          </a:xfrm>
          <a:prstGeom prst="line">
            <a:avLst/>
          </a:prstGeom>
          <a:noFill/>
          <a:ln w="15875">
            <a:solidFill>
              <a:srgbClr val="6B6055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908292" y="2103120"/>
            <a:ext cx="658368" cy="658368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17" name="Image 3" descr="/home/claude/build/icons/fi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884" y="226771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45936" y="2871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SETBACK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4948" y="2432304"/>
            <a:ext cx="1197864" cy="0"/>
          </a:xfrm>
          <a:prstGeom prst="line">
            <a:avLst/>
          </a:prstGeom>
          <a:noFill/>
          <a:ln w="15875">
            <a:solidFill>
              <a:srgbClr val="6B6055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8810244" y="2103120"/>
            <a:ext cx="658368" cy="658368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21" name="Image 4" descr="/home/claude/build/icons/arrow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4836" y="2267712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47888" y="2871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9486900" y="2432304"/>
            <a:ext cx="1197864" cy="0"/>
          </a:xfrm>
          <a:prstGeom prst="line">
            <a:avLst/>
          </a:prstGeom>
          <a:noFill/>
          <a:ln w="15875">
            <a:solidFill>
              <a:srgbClr val="6B6055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10712196" y="2103120"/>
            <a:ext cx="658368" cy="658368"/>
          </a:xfrm>
          <a:prstGeom prst="ellipse">
            <a:avLst/>
          </a:prstGeom>
          <a:solidFill>
            <a:srgbClr val="D7431C"/>
          </a:solidFill>
          <a:ln/>
        </p:spPr>
      </p:sp>
      <p:pic>
        <p:nvPicPr>
          <p:cNvPr id="25" name="Image 5" descr="/home/claude/build/icons/check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6788" y="2267712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149840" y="287121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64008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EXTENSIONS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1280160" y="3977640"/>
            <a:ext cx="502920" cy="502920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29" name="Image 6" descr="/home/claude/build/icons/po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5890" y="4103370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40080" y="4572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voting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3182112" y="3977640"/>
            <a:ext cx="502920" cy="502920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32" name="Image 7" descr="/home/claude/build/icons/handshak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7842" y="4103370"/>
            <a:ext cx="251460" cy="2514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542032" y="4572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participation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5084064" y="3977640"/>
            <a:ext cx="502920" cy="502920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35" name="Image 8" descr="/home/claude/build/icons/vide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9794" y="4103370"/>
            <a:ext cx="251460" cy="25146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443984" y="4572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clips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6986016" y="3977640"/>
            <a:ext cx="502920" cy="502920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38" name="Image 9" descr="/home/claude/build/icons/carsid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11746" y="4103370"/>
            <a:ext cx="251460" cy="25146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345936" y="4572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films</a:t>
            </a:r>
            <a:endParaRPr lang="en-US" sz="950" dirty="0"/>
          </a:p>
        </p:txBody>
      </p:sp>
      <p:sp>
        <p:nvSpPr>
          <p:cNvPr id="40" name="Shape 28"/>
          <p:cNvSpPr/>
          <p:nvPr/>
        </p:nvSpPr>
        <p:spPr>
          <a:xfrm>
            <a:off x="8887968" y="3977640"/>
            <a:ext cx="502920" cy="502920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41" name="Image 10" descr="/home/claude/build/icons/userfriend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3698" y="4103370"/>
            <a:ext cx="251460" cy="25146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8247888" y="4572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nominations</a:t>
            </a:r>
            <a:endParaRPr lang="en-US" sz="950" dirty="0"/>
          </a:p>
        </p:txBody>
      </p:sp>
      <p:sp>
        <p:nvSpPr>
          <p:cNvPr id="43" name="Shape 30"/>
          <p:cNvSpPr/>
          <p:nvPr/>
        </p:nvSpPr>
        <p:spPr>
          <a:xfrm>
            <a:off x="10789920" y="3977640"/>
            <a:ext cx="502920" cy="502920"/>
          </a:xfrm>
          <a:prstGeom prst="ellipse">
            <a:avLst/>
          </a:prstGeom>
          <a:solidFill>
            <a:srgbClr val="241E19"/>
          </a:solidFill>
          <a:ln/>
        </p:spPr>
      </p:sp>
      <p:pic>
        <p:nvPicPr>
          <p:cNvPr id="44" name="Image 11" descr="/home/claude/build/icons/user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15650" y="4103370"/>
            <a:ext cx="251460" cy="25146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10149840" y="4572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9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stories</a:t>
            </a:r>
            <a:endParaRPr lang="en-US" sz="950" dirty="0"/>
          </a:p>
        </p:txBody>
      </p:sp>
      <p:sp>
        <p:nvSpPr>
          <p:cNvPr id="46" name="Shape 32"/>
          <p:cNvSpPr/>
          <p:nvPr/>
        </p:nvSpPr>
        <p:spPr>
          <a:xfrm>
            <a:off x="640080" y="55321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241E19"/>
          </a:solidFill>
          <a:ln/>
        </p:spPr>
      </p:sp>
      <p:sp>
        <p:nvSpPr>
          <p:cNvPr id="47" name="Text 33"/>
          <p:cNvSpPr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time. Limited resources. One big challenge — the community must rise together.</a:t>
            </a:r>
            <a:endParaRPr lang="en-US" sz="1350" dirty="0"/>
          </a:p>
        </p:txBody>
      </p:sp>
      <p:sp>
        <p:nvSpPr>
          <p:cNvPr id="48" name="Text 34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MAHINDRA THAR ROXX  | 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7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IPS. ONE BRAND BELIEF.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CHALLENGE AND ACTION —</a:t>
            </a:r>
            <a:endParaRPr lang="en-US" sz="30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PHILOSOPHY.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241E1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96312"/>
            <a:ext cx="621792" cy="621792"/>
          </a:xfrm>
          <a:prstGeom prst="ellipse">
            <a:avLst/>
          </a:prstGeom>
          <a:solidFill>
            <a:srgbClr val="D7431C"/>
          </a:solidFill>
          <a:ln/>
        </p:spPr>
      </p:sp>
      <p:pic>
        <p:nvPicPr>
          <p:cNvPr id="6" name="Image 0" descr="/home/claude/build/icon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66" y="2657978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278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STORIES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8679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resilience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4343400"/>
            <a:ext cx="2926080" cy="320040"/>
          </a:xfrm>
          <a:prstGeom prst="roundRect">
            <a:avLst>
              <a:gd name="adj" fmla="val 48571"/>
            </a:avLst>
          </a:prstGeom>
          <a:solidFill>
            <a:srgbClr val="2E241D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D7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89120" y="2240280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241E19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2496312"/>
            <a:ext cx="621792" cy="621792"/>
          </a:xfrm>
          <a:prstGeom prst="ellipse">
            <a:avLst/>
          </a:prstGeom>
          <a:solidFill>
            <a:srgbClr val="D7431C"/>
          </a:solidFill>
          <a:ln/>
        </p:spPr>
      </p:sp>
      <p:pic>
        <p:nvPicPr>
          <p:cNvPr id="13" name="Image 1" descr="/home/claude/build/icons/trop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106" y="2657978"/>
            <a:ext cx="298460" cy="298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2278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THAR ROXX ARENA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63440" y="38679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&amp; competition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663440" y="4343400"/>
            <a:ext cx="2926080" cy="320040"/>
          </a:xfrm>
          <a:prstGeom prst="roundRect">
            <a:avLst>
              <a:gd name="adj" fmla="val 48571"/>
            </a:avLst>
          </a:prstGeom>
          <a:solidFill>
            <a:srgbClr val="2E241D"/>
          </a:solidFill>
          <a:ln/>
        </p:spPr>
      </p:sp>
      <p:sp>
        <p:nvSpPr>
          <p:cNvPr id="17" name="Text 13"/>
          <p:cNvSpPr/>
          <p:nvPr/>
        </p:nvSpPr>
        <p:spPr>
          <a:xfrm>
            <a:off x="466344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D7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138160" y="2240280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241E19"/>
          </a:solidFill>
          <a:ln/>
        </p:spPr>
      </p:sp>
      <p:sp>
        <p:nvSpPr>
          <p:cNvPr id="19" name="Shape 15"/>
          <p:cNvSpPr/>
          <p:nvPr/>
        </p:nvSpPr>
        <p:spPr>
          <a:xfrm>
            <a:off x="8412480" y="2496312"/>
            <a:ext cx="621792" cy="621792"/>
          </a:xfrm>
          <a:prstGeom prst="ellipse">
            <a:avLst/>
          </a:prstGeom>
          <a:solidFill>
            <a:srgbClr val="D7431C"/>
          </a:solidFill>
          <a:ln/>
        </p:spPr>
      </p:sp>
      <p:pic>
        <p:nvPicPr>
          <p:cNvPr id="20" name="Image 2" descr="/home/claude/build/icons/ham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146" y="2657978"/>
            <a:ext cx="298460" cy="2984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32278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RISE CHALLENGE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12480" y="38679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transformation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412480" y="4343400"/>
            <a:ext cx="2926080" cy="320040"/>
          </a:xfrm>
          <a:prstGeom prst="roundRect">
            <a:avLst>
              <a:gd name="adj" fmla="val 48571"/>
            </a:avLst>
          </a:prstGeom>
          <a:solidFill>
            <a:srgbClr val="2E241D"/>
          </a:solidFill>
          <a:ln/>
        </p:spPr>
      </p:sp>
      <p:sp>
        <p:nvSpPr>
          <p:cNvPr id="24" name="Text 19"/>
          <p:cNvSpPr/>
          <p:nvPr/>
        </p:nvSpPr>
        <p:spPr>
          <a:xfrm>
            <a:off x="841248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D74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EXPERIMENT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D7431C"/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" y="516636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 +  CHALLENGE  +  ACTION  =  THAR ROXX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MAHINDRA THAR ROXX  |  Brand Integration Proposal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rot="5400000" flipH="1">
            <a:off x="7315200" y="0"/>
            <a:ext cx="4937760" cy="6858000"/>
          </a:xfrm>
          <a:prstGeom prst="triangle">
            <a:avLst/>
          </a:prstGeom>
          <a:solidFill>
            <a:srgbClr val="D7431C"/>
          </a:solidFill>
          <a:ln/>
        </p:spPr>
      </p:sp>
      <p:sp>
        <p:nvSpPr>
          <p:cNvPr id="4" name="Shape 2"/>
          <p:cNvSpPr/>
          <p:nvPr/>
        </p:nvSpPr>
        <p:spPr>
          <a:xfrm>
            <a:off x="9006840" y="1188720"/>
            <a:ext cx="1188720" cy="1188720"/>
          </a:xfrm>
          <a:prstGeom prst="ellipse">
            <a:avLst/>
          </a:prstGeom>
          <a:solidFill>
            <a:srgbClr val="191512"/>
          </a:solidFill>
          <a:ln/>
        </p:spPr>
      </p:sp>
      <p:pic>
        <p:nvPicPr>
          <p:cNvPr id="5" name="Image 0" descr="/home/claude/build/icons/flagcheck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7794" y="150967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7373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JUST SHOW WHAT</a:t>
            </a:r>
            <a:endParaRPr lang="en-US" sz="34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THAR ROXX CAN DO.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94360" y="301752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D7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WHAT</a:t>
            </a:r>
            <a:endParaRPr lang="en-US" sz="34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D7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CAN DO WITH </a:t>
            </a:r>
          </a:p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D74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40080" y="4754880"/>
            <a:ext cx="457200" cy="45720"/>
          </a:xfrm>
          <a:prstGeom prst="rect">
            <a:avLst/>
          </a:prstGeom>
          <a:solidFill>
            <a:srgbClr val="D7431C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937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 × MAHINDRA THAR ROXX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5349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× MAHINDRA THAR ROXX  | 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704</Words>
  <Application>Microsoft Office PowerPoint</Application>
  <PresentationFormat>Widescreen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😎</cp:lastModifiedBy>
  <cp:revision>2</cp:revision>
  <dcterms:created xsi:type="dcterms:W3CDTF">2026-08-23T13:14:23Z</dcterms:created>
  <dcterms:modified xsi:type="dcterms:W3CDTF">2026-08-24T13:04:02Z</dcterms:modified>
</cp:coreProperties>
</file>