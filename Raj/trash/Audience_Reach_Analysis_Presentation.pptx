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8" r:id="rId9"/>
    <p:sldId id="270" r:id="rId10"/>
    <p:sldId id="266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Aaj Tak</c:v>
                </c:pt>
              </c:strCache>
            </c:strRef>
          </c:tx>
          <c:spPr>
            <a:ln w="31750" cap="flat">
              <a:solidFill>
                <a:srgbClr val="E3A00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3A008"/>
              </a:solidFill>
              <a:ln w="9525" cap="flat">
                <a:solidFill>
                  <a:srgbClr val="E3A00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78</c:v>
                </c:pt>
                <c:pt idx="2">
                  <c:v>86</c:v>
                </c:pt>
                <c:pt idx="3">
                  <c:v>81</c:v>
                </c:pt>
                <c:pt idx="4">
                  <c:v>88</c:v>
                </c:pt>
                <c:pt idx="5">
                  <c:v>84</c:v>
                </c:pt>
                <c:pt idx="6">
                  <c:v>90</c:v>
                </c:pt>
                <c:pt idx="7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CD-463F-A494-9BC9E123B1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 TV</c:v>
                </c:pt>
              </c:strCache>
            </c:strRef>
          </c:tx>
          <c:spPr>
            <a:ln w="31750" cap="flat">
              <a:solidFill>
                <a:srgbClr val="4472C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472CA"/>
              </a:solidFill>
              <a:ln w="9525" cap="flat">
                <a:solidFill>
                  <a:srgbClr val="4472C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</c:v>
                </c:pt>
                <c:pt idx="1">
                  <c:v>74</c:v>
                </c:pt>
                <c:pt idx="2">
                  <c:v>71</c:v>
                </c:pt>
                <c:pt idx="3">
                  <c:v>79</c:v>
                </c:pt>
                <c:pt idx="4">
                  <c:v>76</c:v>
                </c:pt>
                <c:pt idx="5">
                  <c:v>82</c:v>
                </c:pt>
                <c:pt idx="6">
                  <c:v>80</c:v>
                </c:pt>
                <c:pt idx="7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CD-463F-A494-9BC9E123B1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News18 India</c:v>
                </c:pt>
              </c:strCache>
            </c:strRef>
          </c:tx>
          <c:spPr>
            <a:ln w="31750" cap="flat">
              <a:solidFill>
                <a:srgbClr val="1FA98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A98B"/>
              </a:solidFill>
              <a:ln w="9525" cap="flat">
                <a:solidFill>
                  <a:srgbClr val="1FA98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60</c:v>
                </c:pt>
                <c:pt idx="1">
                  <c:v>65</c:v>
                </c:pt>
                <c:pt idx="2">
                  <c:v>63</c:v>
                </c:pt>
                <c:pt idx="3">
                  <c:v>69</c:v>
                </c:pt>
                <c:pt idx="4">
                  <c:v>66</c:v>
                </c:pt>
                <c:pt idx="5">
                  <c:v>70</c:v>
                </c:pt>
                <c:pt idx="6">
                  <c:v>72</c:v>
                </c:pt>
                <c:pt idx="7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CD-463F-A494-9BC9E123B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8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50"/>
        </c:scaling>
        <c:delete val="0"/>
        <c:axPos val="l"/>
        <c:majorGridlines>
          <c:spPr>
            <a:ln w="9525" cap="flat">
              <a:solidFill>
                <a:srgbClr val="D7DE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7DE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8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C88A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TSV</c:v>
                </c:pt>
              </c:strCache>
            </c:strRef>
          </c:tx>
          <c:spPr>
            <a:ln w="31750">
              <a:solidFill>
                <a:srgbClr val="202B68"/>
              </a:solidFill>
            </a:ln>
          </c:spPr>
          <c:marker>
            <c:symbol val="diamond"/>
            <c:size val="7"/>
            <c:spPr>
              <a:solidFill>
                <a:srgbClr val="D99A00"/>
              </a:solidFill>
              <a:ln>
                <a:solidFill>
                  <a:srgbClr val="202B68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HSM</c:v>
                </c:pt>
                <c:pt idx="1">
                  <c:v>WB</c:v>
                </c:pt>
                <c:pt idx="2">
                  <c:v>HSM</c:v>
                </c:pt>
                <c:pt idx="3">
                  <c:v>HSM</c:v>
                </c:pt>
                <c:pt idx="4">
                  <c:v>Region 5</c:v>
                </c:pt>
                <c:pt idx="5">
                  <c:v>Region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E7-4E50-9CC8-5AC919612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F82B1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F82B1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2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23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870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586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427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455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962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05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8262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83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3939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04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5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374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4848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844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012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135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0692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969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3652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147696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4365504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0538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0877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27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3817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23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85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704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5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8357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8357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Audience, Reach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channel ranking, cross-metric analysis and regional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83570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177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46177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83570"/>
          </a:solidFill>
          <a:ln w="12700">
            <a:solidFill>
              <a:srgbClr val="1FA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46177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46177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83570"/>
          </a:solidFill>
          <a:ln w="12700">
            <a:solidFill>
              <a:srgbClr val="4472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6177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analysis framework  ·  20 Aug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 &amp; Key Inputs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universe, held constant across every metric.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(W-1 to W-8)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178308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187452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73552" y="24688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/ markets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15584" y="178308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15584" y="187452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07024" y="24688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49056" y="178308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49056" y="1874520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06:00–24:00h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40496" y="24688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364992" cy="1908255"/>
          </a:xfrm>
          <a:prstGeom prst="roundRect">
            <a:avLst>
              <a:gd name="adj" fmla="val 2951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3192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CF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8269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38404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(000s)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— time spent (10-min basis)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minutes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reach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0" y="3063240"/>
            <a:ext cx="3364992" cy="1908255"/>
          </a:xfrm>
          <a:prstGeom prst="roundRect">
            <a:avLst>
              <a:gd name="adj" fmla="val 2951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33192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CF8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28269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scope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70832" y="38404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are NCCS 15+ and    22+ Male AB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South-side markets excluded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3063240"/>
            <a:ext cx="3364992" cy="1908255"/>
          </a:xfrm>
          <a:prstGeom prst="roundRect">
            <a:avLst>
              <a:gd name="adj" fmla="val 2951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33192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ECF8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328269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36992" y="38404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× Channel × Week × Time band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band (01:00–05:00) excluded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5431" y="5560661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news -&gt; in channels column means combined genre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DEFINITIONS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used across every chart and table in this deck.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93392"/>
            <a:ext cx="512064" cy="512064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93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842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— Average Minute Audience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984248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viewers (000s) watching in an average minute.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2834640"/>
            <a:ext cx="512064" cy="512064"/>
          </a:xfrm>
          <a:prstGeom prst="ellipse">
            <a:avLst/>
          </a:prstGeom>
          <a:solidFill>
            <a:srgbClr val="4472C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82549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825496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 who watched the channel at least once in the period.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3675888"/>
            <a:ext cx="512064" cy="512064"/>
          </a:xfrm>
          <a:prstGeom prst="ellipse">
            <a:avLst/>
          </a:prstGeom>
          <a:solidFill>
            <a:srgbClr val="1FA98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95528" y="3675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66674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— Time Spent Viewing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666744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minutes watched per viewer, measured on a 10-minute basis.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98264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4517136"/>
            <a:ext cx="512064" cy="5120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5171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50799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Minutes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450799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 viewed across the audience for the channel.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39512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5528" y="5358384"/>
            <a:ext cx="512064" cy="512064"/>
          </a:xfrm>
          <a:prstGeom prst="ellipse">
            <a:avLst/>
          </a:prstGeom>
          <a:solidFill>
            <a:srgbClr val="8067C7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5358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Reach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5349240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reach accumulated across the full 8-week period.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for each metric once the dataset is finalized , and these records are taken after excluding Hindi news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26380" cy="2157984"/>
          </a:xfrm>
          <a:prstGeom prst="roundRect">
            <a:avLst>
              <a:gd name="adj" fmla="val 3814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11096"/>
            <a:ext cx="402336" cy="402336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929384"/>
            <a:ext cx="4366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AMA 000’s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23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71650" y="2404872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920240" y="242316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2788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01368" y="278892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78892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3154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01368" y="315468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920240" y="315468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Aaj Tak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35204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01368" y="352044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52044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/>
              <a:t>121.861129</a:t>
            </a:r>
          </a:p>
        </p:txBody>
      </p:sp>
      <p:sp>
        <p:nvSpPr>
          <p:cNvPr id="21" name="Shape 19"/>
          <p:cNvSpPr/>
          <p:nvPr/>
        </p:nvSpPr>
        <p:spPr>
          <a:xfrm>
            <a:off x="6131052" y="1783080"/>
            <a:ext cx="5326380" cy="2157984"/>
          </a:xfrm>
          <a:prstGeom prst="roundRect">
            <a:avLst>
              <a:gd name="adj" fmla="val 3814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95644" y="1911096"/>
            <a:ext cx="402336" cy="402336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3" name="Text 21"/>
          <p:cNvSpPr/>
          <p:nvPr/>
        </p:nvSpPr>
        <p:spPr>
          <a:xfrm>
            <a:off x="6295644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2572" y="1929384"/>
            <a:ext cx="4366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TSV 18hrs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23660" y="2423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83780" y="242316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2652" y="242316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23660" y="2788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83780" y="278892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7502652" y="278892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23660" y="3154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83780" y="315468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7502652" y="315468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24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23660" y="35204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83780" y="3520440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02652" y="3520440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/>
              <a:t>155.592685</a:t>
            </a:r>
          </a:p>
        </p:txBody>
      </p:sp>
      <p:sp>
        <p:nvSpPr>
          <p:cNvPr id="37" name="Shape 35"/>
          <p:cNvSpPr/>
          <p:nvPr/>
        </p:nvSpPr>
        <p:spPr>
          <a:xfrm>
            <a:off x="548640" y="4197096"/>
            <a:ext cx="5326380" cy="2157984"/>
          </a:xfrm>
          <a:prstGeom prst="roundRect">
            <a:avLst>
              <a:gd name="adj" fmla="val 3814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Shape 36"/>
          <p:cNvSpPr/>
          <p:nvPr/>
        </p:nvSpPr>
        <p:spPr>
          <a:xfrm>
            <a:off x="713232" y="4325112"/>
            <a:ext cx="402336" cy="402336"/>
          </a:xfrm>
          <a:prstGeom prst="ellipse">
            <a:avLst/>
          </a:prstGeom>
          <a:solidFill>
            <a:srgbClr val="4472CA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4325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80160" y="4343400"/>
            <a:ext cx="4366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Viewing Minutes‘000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1248" y="48371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01368" y="483717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483717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HSM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" y="52029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01368" y="520293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520293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 -4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1248" y="55686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01368" y="556869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556869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Aaj Tak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41248" y="59344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01368" y="593445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593445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/>
              <a:t>2255697.123546</a:t>
            </a:r>
          </a:p>
        </p:txBody>
      </p:sp>
      <p:sp>
        <p:nvSpPr>
          <p:cNvPr id="53" name="Shape 51"/>
          <p:cNvSpPr/>
          <p:nvPr/>
        </p:nvSpPr>
        <p:spPr>
          <a:xfrm>
            <a:off x="6131052" y="4197096"/>
            <a:ext cx="5326380" cy="2157984"/>
          </a:xfrm>
          <a:prstGeom prst="roundRect">
            <a:avLst>
              <a:gd name="adj" fmla="val 3814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95644" y="4325112"/>
            <a:ext cx="402336" cy="402336"/>
          </a:xfrm>
          <a:prstGeom prst="ellipse">
            <a:avLst/>
          </a:prstGeom>
          <a:solidFill>
            <a:srgbClr val="8067C7"/>
          </a:solidFill>
          <a:ln/>
        </p:spPr>
      </p:sp>
      <p:sp>
        <p:nvSpPr>
          <p:cNvPr id="55" name="Text 53"/>
          <p:cNvSpPr/>
          <p:nvPr/>
        </p:nvSpPr>
        <p:spPr>
          <a:xfrm>
            <a:off x="6295644" y="4325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62572" y="4343400"/>
            <a:ext cx="4366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Cume Rch’000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23660" y="48371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83780" y="483717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02652" y="483717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HSM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23660" y="52029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83780" y="520293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02652" y="520293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 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23660" y="55686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83780" y="556869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02652" y="556869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18 India 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423660" y="59344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83780" y="5934456"/>
            <a:ext cx="37810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02652" y="5934456"/>
            <a:ext cx="35707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49771.150294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WEEKLY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AMA &amp; Channel Ranking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weekly AMA (000s) trend, W-1 to W-8.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858000" cy="4160520"/>
          </a:xfrm>
          <a:prstGeom prst="roundRect">
            <a:avLst>
              <a:gd name="adj" fmla="val 1978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868680" y="2148840"/>
          <a:ext cx="6217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828800"/>
            <a:ext cx="4050792" cy="4160520"/>
          </a:xfrm>
          <a:prstGeom prst="roundRect">
            <a:avLst>
              <a:gd name="adj" fmla="val 2032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45552" y="2029968"/>
            <a:ext cx="3593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Rank (W-8)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45552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ECF8"/>
          </a:solidFill>
          <a:ln/>
        </p:spPr>
      </p:sp>
      <p:sp>
        <p:nvSpPr>
          <p:cNvPr id="10" name="Text 7"/>
          <p:cNvSpPr/>
          <p:nvPr/>
        </p:nvSpPr>
        <p:spPr>
          <a:xfrm>
            <a:off x="7845552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251460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Aaj Tak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680192" y="25146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45552" y="31363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ECF8"/>
          </a:solidFill>
          <a:ln/>
        </p:spPr>
      </p:sp>
      <p:sp>
        <p:nvSpPr>
          <p:cNvPr id="14" name="Text 11"/>
          <p:cNvSpPr/>
          <p:nvPr/>
        </p:nvSpPr>
        <p:spPr>
          <a:xfrm>
            <a:off x="7845552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313639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TV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680192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45552" y="3758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ECF8"/>
          </a:solidFill>
          <a:ln/>
        </p:spPr>
      </p:sp>
      <p:sp>
        <p:nvSpPr>
          <p:cNvPr id="18" name="Text 15"/>
          <p:cNvSpPr/>
          <p:nvPr/>
        </p:nvSpPr>
        <p:spPr>
          <a:xfrm>
            <a:off x="7845552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66760" y="3758184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News18 India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680192" y="37581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845552" y="4379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ECF8"/>
          </a:solidFill>
          <a:ln/>
        </p:spPr>
      </p:sp>
      <p:sp>
        <p:nvSpPr>
          <p:cNvPr id="22" name="Text 19"/>
          <p:cNvSpPr/>
          <p:nvPr/>
        </p:nvSpPr>
        <p:spPr>
          <a:xfrm>
            <a:off x="7845552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437997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680192" y="437997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845552" y="5001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ECF8"/>
          </a:solidFill>
          <a:ln/>
        </p:spPr>
      </p:sp>
      <p:sp>
        <p:nvSpPr>
          <p:cNvPr id="26" name="Text 23"/>
          <p:cNvSpPr/>
          <p:nvPr/>
        </p:nvSpPr>
        <p:spPr>
          <a:xfrm>
            <a:off x="7845552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366760" y="5001768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680192" y="500176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126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output: weekly rank movement and the channels consistently near the top.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AUDIENCE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vs AMA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858000" cy="4160520"/>
          </a:xfrm>
          <a:prstGeom prst="roundRect">
            <a:avLst>
              <a:gd name="adj" fmla="val 1978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3017520" cy="164592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4069080" y="2148840"/>
            <a:ext cx="3017520" cy="1645920"/>
          </a:xfrm>
          <a:prstGeom prst="rect">
            <a:avLst/>
          </a:prstGeom>
          <a:solidFill>
            <a:srgbClr val="D6E4F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794760"/>
            <a:ext cx="3017520" cy="1645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9" name="Shape 7"/>
          <p:cNvSpPr/>
          <p:nvPr/>
        </p:nvSpPr>
        <p:spPr>
          <a:xfrm>
            <a:off x="4069080" y="3794760"/>
            <a:ext cx="3017520" cy="1645920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794760"/>
            <a:ext cx="6035040" cy="0"/>
          </a:xfrm>
          <a:prstGeom prst="line">
            <a:avLst/>
          </a:prstGeom>
          <a:noFill/>
          <a:ln w="15875">
            <a:solidFill>
              <a:srgbClr val="D7D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2148840"/>
            <a:ext cx="0" cy="3291840"/>
          </a:xfrm>
          <a:prstGeom prst="line">
            <a:avLst/>
          </a:prstGeom>
          <a:noFill/>
          <a:ln w="15875">
            <a:solidFill>
              <a:srgbClr val="D7D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495544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 rot="16200000">
            <a:off x="640080" y="2148840"/>
            <a:ext cx="365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6908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· HIGH AMA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· HIGH AMA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69080" y="5148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· LOW AMA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5148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· LOW AMA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97296" y="2560320"/>
            <a:ext cx="164592" cy="164592"/>
          </a:xfrm>
          <a:prstGeom prst="ellipse">
            <a:avLst/>
          </a:prstGeom>
          <a:solidFill>
            <a:srgbClr val="E3A008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3500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Aaj Tak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3091" y="3317443"/>
            <a:ext cx="164592" cy="164592"/>
          </a:xfrm>
          <a:prstGeom prst="ellipse">
            <a:avLst/>
          </a:prstGeom>
          <a:solidFill>
            <a:srgbClr val="4472CA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9587" y="310713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03981" y="4041648"/>
            <a:ext cx="164592" cy="164592"/>
          </a:xfrm>
          <a:prstGeom prst="ellipse">
            <a:avLst/>
          </a:prstGeom>
          <a:solidFill>
            <a:srgbClr val="4472CA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0477" y="41970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News18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79776" y="3317443"/>
            <a:ext cx="164592" cy="164592"/>
          </a:xfrm>
          <a:prstGeom prst="ellipse">
            <a:avLst/>
          </a:prstGeom>
          <a:solidFill>
            <a:srgbClr val="E2725B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310713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96973" y="4700016"/>
            <a:ext cx="164592" cy="164592"/>
          </a:xfrm>
          <a:prstGeom prst="ellipse">
            <a:avLst/>
          </a:prstGeom>
          <a:solidFill>
            <a:srgbClr val="7C88AC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3469" y="48554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828800"/>
            <a:ext cx="4050792" cy="2743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45552" y="201168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45552" y="2395728"/>
            <a:ext cx="35478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Top-right: strongest audience scale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/ lower AMA: broad awareness, weaker average audience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AMA / lower reach: concentrated but strong audience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Bottom-left: lower priority opportunity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4754880"/>
            <a:ext cx="4050792" cy="1234440"/>
          </a:xfrm>
          <a:prstGeom prst="roundRect">
            <a:avLst>
              <a:gd name="adj" fmla="val 6667"/>
            </a:avLst>
          </a:prstGeom>
          <a:solidFill>
            <a:srgbClr val="E8ECF8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45552" y="4901184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45552" y="5157216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channels that combine strong audience size with broad reach.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REACH &amp; LOYALTY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vs TSV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858000" cy="4160520"/>
          </a:xfrm>
          <a:prstGeom prst="roundRect">
            <a:avLst>
              <a:gd name="adj" fmla="val 1978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3017520" cy="164592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7" name="Shape 5"/>
          <p:cNvSpPr/>
          <p:nvPr/>
        </p:nvSpPr>
        <p:spPr>
          <a:xfrm>
            <a:off x="4069080" y="2148840"/>
            <a:ext cx="3017520" cy="1645920"/>
          </a:xfrm>
          <a:prstGeom prst="rect">
            <a:avLst/>
          </a:prstGeom>
          <a:solidFill>
            <a:srgbClr val="D6E4F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794760"/>
            <a:ext cx="3017520" cy="1645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9" name="Shape 7"/>
          <p:cNvSpPr/>
          <p:nvPr/>
        </p:nvSpPr>
        <p:spPr>
          <a:xfrm>
            <a:off x="4069080" y="3794760"/>
            <a:ext cx="3017520" cy="1645920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794760"/>
            <a:ext cx="6035040" cy="0"/>
          </a:xfrm>
          <a:prstGeom prst="line">
            <a:avLst/>
          </a:prstGeom>
          <a:noFill/>
          <a:ln w="15875">
            <a:solidFill>
              <a:srgbClr val="D7D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2148840"/>
            <a:ext cx="0" cy="3291840"/>
          </a:xfrm>
          <a:prstGeom prst="line">
            <a:avLst/>
          </a:prstGeom>
          <a:noFill/>
          <a:ln w="15875">
            <a:solidFill>
              <a:srgbClr val="D7D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495544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 rot="16200000">
            <a:off x="640080" y="2148840"/>
            <a:ext cx="365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6908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· HIGH TSV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· HIGH TSV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69080" y="5148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· LOW TSV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5148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· LOW TSV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76595" y="2659075"/>
            <a:ext cx="164592" cy="164592"/>
          </a:xfrm>
          <a:prstGeom prst="ellipse">
            <a:avLst/>
          </a:prstGeom>
          <a:solidFill>
            <a:srgbClr val="E3A008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3091" y="244876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Aaj Tak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0989" y="3449117"/>
            <a:ext cx="164592" cy="164592"/>
          </a:xfrm>
          <a:prstGeom prst="ellipse">
            <a:avLst/>
          </a:prstGeom>
          <a:solidFill>
            <a:srgbClr val="4472CA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7485" y="3238805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81528" y="2988259"/>
            <a:ext cx="164592" cy="164592"/>
          </a:xfrm>
          <a:prstGeom prst="ellipse">
            <a:avLst/>
          </a:prstGeom>
          <a:solidFill>
            <a:srgbClr val="4472CA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8024" y="314370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News18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93792" y="4304995"/>
            <a:ext cx="164592" cy="164592"/>
          </a:xfrm>
          <a:prstGeom prst="ellipse">
            <a:avLst/>
          </a:prstGeom>
          <a:solidFill>
            <a:srgbClr val="E2725B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09468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78024" y="4634179"/>
            <a:ext cx="164592" cy="164592"/>
          </a:xfrm>
          <a:prstGeom prst="ellipse">
            <a:avLst/>
          </a:prstGeom>
          <a:solidFill>
            <a:srgbClr val="7C88AC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478962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828800"/>
            <a:ext cx="4050792" cy="2743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45552" y="201168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45552" y="2395728"/>
            <a:ext cx="35478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+ high TSV: strongest reach and loyalty combined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 + low TSV: awareness high, engagement needs work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+ high TSV: smaller base, strong loyalty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 + low TSV: lower immediate opportunity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4754880"/>
            <a:ext cx="4050792" cy="1234440"/>
          </a:xfrm>
          <a:prstGeom prst="roundRect">
            <a:avLst>
              <a:gd name="adj" fmla="val 6667"/>
            </a:avLst>
          </a:prstGeom>
          <a:solidFill>
            <a:srgbClr val="E8ECF8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45552" y="4901184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45552" y="5157216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channels on reach and loyalty together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2725"/>
            <a:ext cx="217367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rPr lang="en-US" dirty="0"/>
              <a:t>8</a:t>
            </a:r>
            <a:r>
              <a:rPr dirty="0"/>
              <a:t>. AMA vs TSV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Find channels that have both strong average audience and strong engagement.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378001"/>
            <a:ext cx="6400800" cy="4297680"/>
          </a:xfrm>
          <a:prstGeom prst="rect">
            <a:avLst/>
          </a:prstGeom>
          <a:solidFill>
            <a:srgbClr val="F9FBF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977639" y="1417320"/>
            <a:ext cx="13716" cy="429768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3566160"/>
            <a:ext cx="6400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5742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TSV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31546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AMA →</a:t>
            </a:r>
          </a:p>
        </p:txBody>
      </p:sp>
      <p:sp>
        <p:nvSpPr>
          <p:cNvPr id="11" name="Oval 10"/>
          <p:cNvSpPr/>
          <p:nvPr/>
        </p:nvSpPr>
        <p:spPr>
          <a:xfrm>
            <a:off x="5934455" y="1927555"/>
            <a:ext cx="182880" cy="182880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7" y="194584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Aaj Tak</a:t>
            </a:r>
          </a:p>
        </p:txBody>
      </p:sp>
      <p:sp>
        <p:nvSpPr>
          <p:cNvPr id="13" name="Oval 12"/>
          <p:cNvSpPr/>
          <p:nvPr/>
        </p:nvSpPr>
        <p:spPr>
          <a:xfrm>
            <a:off x="5422392" y="2529230"/>
            <a:ext cx="182880" cy="182880"/>
          </a:xfrm>
          <a:prstGeom prst="ellipse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32703" y="254751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India TV</a:t>
            </a:r>
          </a:p>
        </p:txBody>
      </p:sp>
      <p:sp>
        <p:nvSpPr>
          <p:cNvPr id="15" name="Oval 14"/>
          <p:cNvSpPr/>
          <p:nvPr/>
        </p:nvSpPr>
        <p:spPr>
          <a:xfrm>
            <a:off x="4526280" y="2958998"/>
            <a:ext cx="182880" cy="182880"/>
          </a:xfrm>
          <a:prstGeom prst="ellipse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297728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News18</a:t>
            </a:r>
          </a:p>
        </p:txBody>
      </p:sp>
      <p:sp>
        <p:nvSpPr>
          <p:cNvPr id="17" name="Oval 16"/>
          <p:cNvSpPr/>
          <p:nvPr/>
        </p:nvSpPr>
        <p:spPr>
          <a:xfrm>
            <a:off x="3758184" y="3818534"/>
            <a:ext cx="182880" cy="182880"/>
          </a:xfrm>
          <a:prstGeom prst="ellipse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68496" y="383682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News24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0" y="4506163"/>
            <a:ext cx="182880" cy="182880"/>
          </a:xfrm>
          <a:prstGeom prst="ellipse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96312" y="452445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Channel 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417320"/>
            <a:ext cx="38862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1417320"/>
            <a:ext cx="73152" cy="1325880"/>
          </a:xfrm>
          <a:prstGeom prst="rect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44968" y="15819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Strong quadrant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1984248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High AMA + High TSV = large audience with stronger loyalty / engagement.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971800"/>
            <a:ext cx="38862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2971800"/>
            <a:ext cx="73152" cy="1325880"/>
          </a:xfrm>
          <a:prstGeom prst="rect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8" y="31363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Watch quadrant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538728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rPr dirty="0"/>
              <a:t>High AMA + lower TSV = audience is present, but time spent can be improved.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4526280"/>
            <a:ext cx="38862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4526280"/>
            <a:ext cx="73152" cy="1188720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44968" y="46908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Decision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509320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Use this view to identify benchmark channels and improvement opportunities.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 i="0">
                <a:solidFill>
                  <a:srgbClr val="D99A00"/>
                </a:solidFill>
                <a:latin typeface="Aptos"/>
              </a:defRPr>
            </a:pPr>
            <a:r>
              <a:t>09 · REGIONAL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39116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 i="0">
                <a:solidFill>
                  <a:srgbClr val="202B68"/>
                </a:solidFill>
                <a:latin typeface="Georgia"/>
              </a:defRPr>
            </a:pPr>
            <a:r>
              <a:rPr dirty="0"/>
              <a:t>Region</a:t>
            </a:r>
            <a:r>
              <a:rPr lang="en-US" dirty="0"/>
              <a:t> wise </a:t>
            </a:r>
            <a:r>
              <a:rPr dirty="0"/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5420"/>
            <a:ext cx="352372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 i="1">
                <a:solidFill>
                  <a:srgbClr val="6F82B1"/>
                </a:solidFill>
                <a:latin typeface="Aptos"/>
              </a:defRPr>
            </a:pPr>
            <a:r>
              <a:rPr lang="en-US" dirty="0"/>
              <a:t>Region wise </a:t>
            </a:r>
            <a:r>
              <a:rPr lang="en-US" dirty="0" err="1"/>
              <a:t>comparision</a:t>
            </a:r>
            <a:r>
              <a:rPr lang="en-US" dirty="0"/>
              <a:t> for </a:t>
            </a:r>
            <a:r>
              <a:rPr lang="en-US" dirty="0" err="1"/>
              <a:t>tsv</a:t>
            </a:r>
            <a:r>
              <a:rPr lang="en-US" dirty="0"/>
              <a:t> , viewership , cume </a:t>
            </a:r>
            <a:r>
              <a:rPr lang="en-US" dirty="0" err="1"/>
              <a:t>rch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73152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0">
                <a:solidFill>
                  <a:srgbClr val="202B68"/>
                </a:solidFill>
                <a:latin typeface="Aptos"/>
              </a:defRPr>
            </a:pPr>
            <a:r>
              <a:rPr dirty="0"/>
              <a:t>Regional performance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6F82B1"/>
                </a:solidFill>
                <a:latin typeface="Aptos"/>
              </a:defRPr>
            </a:pPr>
            <a:r>
              <a:rPr dirty="0"/>
              <a:t>Switch the metric to compare regional strength.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1554480" cy="438912"/>
          </a:xfrm>
          <a:prstGeom prst="roundRect">
            <a:avLst/>
          </a:prstGeom>
          <a:solidFill>
            <a:srgbClr val="F5F7FC"/>
          </a:solidFill>
          <a:ln>
            <a:solidFill>
              <a:srgbClr val="DA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22585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 i="0">
                <a:solidFill>
                  <a:srgbClr val="6F82B1"/>
                </a:solidFill>
                <a:latin typeface="Aptos"/>
              </a:defRPr>
            </a:pPr>
            <a:r>
              <a:rPr dirty="0"/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2219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202B68"/>
                </a:solidFill>
                <a:latin typeface="Aptos"/>
              </a:defRPr>
            </a:pPr>
            <a:r>
              <a:rPr dirty="0"/>
              <a:t>TSV ▼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914400" y="2907792"/>
          <a:ext cx="6629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60120" y="5742432"/>
            <a:ext cx="6309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1">
                <a:solidFill>
                  <a:srgbClr val="6F82B1"/>
                </a:solidFill>
                <a:latin typeface="Aptos"/>
              </a:defRPr>
            </a:pPr>
            <a:r>
              <a:t>Example visualization — replace placeholder values with source-dataset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246120" cy="4160520"/>
          </a:xfrm>
          <a:prstGeom prst="roundRect">
            <a:avLst/>
          </a:prstGeom>
          <a:solidFill>
            <a:srgbClr val="F5F7FC"/>
          </a:solidFill>
          <a:ln>
            <a:solidFill>
              <a:srgbClr val="DA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26771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202B68"/>
                </a:solidFill>
                <a:latin typeface="Aptos"/>
              </a:defRPr>
            </a:pPr>
            <a:r>
              <a:t>Regional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72491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202B6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715768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2F3B5B"/>
                </a:solidFill>
                <a:latin typeface="Aptos"/>
              </a:defRPr>
            </a:pPr>
            <a:r>
              <a:t>Highest TSV regions?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16382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202B6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54680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2F3B5B"/>
                </a:solidFill>
                <a:latin typeface="Aptos"/>
              </a:defRPr>
            </a:pPr>
            <a:r>
              <a:t>Where is audience strongest?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0273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202B6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593592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2F3B5B"/>
                </a:solidFill>
                <a:latin typeface="Aptos"/>
              </a:defRPr>
            </a:pPr>
            <a:r>
              <a:t>Highest cumulative reach?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04164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202B6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032504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2F3B5B"/>
                </a:solidFill>
                <a:latin typeface="Aptos"/>
              </a:defRPr>
            </a:pPr>
            <a:r>
              <a:t>Consistent leading channels?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80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202B6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471416"/>
            <a:ext cx="2148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2F3B5B"/>
                </a:solidFill>
                <a:latin typeface="Aptos"/>
              </a:defRPr>
            </a:pPr>
            <a:r>
              <a:t>Gap between audience and loyalty?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5413248"/>
            <a:ext cx="2697480" cy="502920"/>
          </a:xfrm>
          <a:prstGeom prst="roundRect">
            <a:avLst/>
          </a:prstGeom>
          <a:solidFill>
            <a:srgbClr val="E9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32520" y="55595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 i="0">
                <a:solidFill>
                  <a:srgbClr val="D99A0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550468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202B68"/>
                </a:solidFill>
                <a:latin typeface="Aptos"/>
              </a:defRPr>
            </a:pPr>
            <a:r>
              <a:t>Region-wise opportunity map</a:t>
            </a: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960DE679-26B1-513E-94A4-72BA4E662B6C}"/>
              </a:ext>
            </a:extLst>
          </p:cNvPr>
          <p:cNvSpPr/>
          <p:nvPr/>
        </p:nvSpPr>
        <p:spPr>
          <a:xfrm>
            <a:off x="4572000" y="2135900"/>
            <a:ext cx="1554480" cy="438912"/>
          </a:xfrm>
          <a:prstGeom prst="roundRect">
            <a:avLst/>
          </a:prstGeom>
          <a:solidFill>
            <a:srgbClr val="F5F7FC"/>
          </a:solidFill>
          <a:ln>
            <a:solidFill>
              <a:srgbClr val="DA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A43786-D4CB-9492-9D59-AEC3540F7A92}"/>
              </a:ext>
            </a:extLst>
          </p:cNvPr>
          <p:cNvSpPr txBox="1"/>
          <p:nvPr/>
        </p:nvSpPr>
        <p:spPr>
          <a:xfrm>
            <a:off x="4590288" y="2246376"/>
            <a:ext cx="5597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 i="0">
                <a:solidFill>
                  <a:srgbClr val="6F82B1"/>
                </a:solidFill>
                <a:latin typeface="Aptos"/>
              </a:defRPr>
            </a:pPr>
            <a:r>
              <a:rPr lang="en-US" dirty="0"/>
              <a:t>Regions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E3B325-0BBB-6F37-214D-05C021408268}"/>
              </a:ext>
            </a:extLst>
          </p:cNvPr>
          <p:cNvSpPr txBox="1"/>
          <p:nvPr/>
        </p:nvSpPr>
        <p:spPr>
          <a:xfrm>
            <a:off x="5312664" y="2226564"/>
            <a:ext cx="5693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202B68"/>
                </a:solidFill>
                <a:latin typeface="Aptos"/>
              </a:defRPr>
            </a:pPr>
            <a:r>
              <a:rPr lang="en-US" dirty="0"/>
              <a:t>HSM</a:t>
            </a:r>
            <a:r>
              <a:rPr dirty="0"/>
              <a:t> ▼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Expected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report converts this analysis into a simple decision 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48256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2075688"/>
            <a:ext cx="512064" cy="512064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7" name="Text 5"/>
          <p:cNvSpPr/>
          <p:nvPr/>
        </p:nvSpPr>
        <p:spPr>
          <a:xfrm>
            <a:off x="131673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ranking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317296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on AMA, week to week.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048256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075688"/>
            <a:ext cx="512064" cy="512064"/>
          </a:xfrm>
          <a:prstGeom prst="ellipse">
            <a:avLst/>
          </a:prstGeom>
          <a:solidFill>
            <a:srgbClr val="4472CA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5292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+ audience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71216" y="317296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combining reach with audience.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874520"/>
            <a:ext cx="2048256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2075688"/>
            <a:ext cx="512064" cy="512064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17" name="Text 15"/>
          <p:cNvSpPr/>
          <p:nvPr/>
        </p:nvSpPr>
        <p:spPr>
          <a:xfrm>
            <a:off x="570585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748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+ loyalty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viewership and TSV.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874520"/>
            <a:ext cx="2048256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00416" y="2075688"/>
            <a:ext cx="512064" cy="5120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4204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60336" y="317296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audience + high loyalty.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1874520"/>
            <a:ext cx="2048256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  <a:effectLst>
            <a:outerShdw blurRad="76200" dist="25400" dir="5400000" algn="bl" rotWithShape="0">
              <a:srgbClr val="9AA6C7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94976" y="2075688"/>
            <a:ext cx="512064" cy="512064"/>
          </a:xfrm>
          <a:prstGeom prst="ellipse">
            <a:avLst/>
          </a:prstGeom>
          <a:solidFill>
            <a:srgbClr val="8067C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9497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3660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distribution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54896" y="317296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TSV, viewership minutes and cume reach by region.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DASHBOARD 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28800" y="45902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14884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Ranking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29000" y="45902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563727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0" y="45902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4924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Reach/TSV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29400" y="45902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4944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AMA/TSV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0" y="45902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49640" y="45902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26611" y="45902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/ama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103</TotalTime>
  <Words>811</Words>
  <Application>Microsoft Office PowerPoint</Application>
  <PresentationFormat>Widescreen</PresentationFormat>
  <Paragraphs>236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2</cp:revision>
  <dcterms:created xsi:type="dcterms:W3CDTF">2026-08-20T07:32:52Z</dcterms:created>
  <dcterms:modified xsi:type="dcterms:W3CDTF">2026-08-20T09:18:38Z</dcterms:modified>
</cp:coreProperties>
</file>