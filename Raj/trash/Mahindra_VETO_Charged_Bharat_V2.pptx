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72" r:id="rId12"/>
    <p:sldId id="273" r:id="rId13"/>
    <p:sldId id="270" r:id="rId14"/>
    <p:sldId id="27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458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F72A3-FDE3-240A-D54F-A9386E52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0E068-8117-ACC1-78CC-D528348DB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91F45-8B47-F02B-BE3E-570C76CD8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06A6B-3E4C-0BAF-2A0C-C148585F7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40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MAHINDRA  ×  VETO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kern="0" spc="-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kern="0" spc="-4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BHARAT.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concepts. One category-building franchise.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Co-owned. Newsroom-credible. Built for the Hindi India EV question.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VETO  |  IN PARTNERSHIP WITH INDIA TV NEWSROOM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India isn't asking which EV.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still asking whether to buy one at all.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"Pahad pe chadhegi kya?"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and terrain doubt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28803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"Highway pe charging kahaan?"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anxiety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28803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 saal baad resale?"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Resale value fear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43800" y="28803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"Load shedding mein kya?"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8096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reliability worry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75520" y="28803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"Tier-2 mein service?"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1268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network doubt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five sentences that decide every EV conversation in a Hindi belt showroom.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car ad answers them. No 30-second spot can.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 brand is selling cars.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is building the category.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-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↓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category TV spend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Sep–Nov, 2023 vs 2025 (BARC-tracked)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310896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32461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-2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3.2× ↑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57200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Mahindra's car TV spend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4709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window. Only major car brand growing on linear.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310896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2461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-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36676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that spend is EV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4709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6 Pack Two + XEV 9S = 8,402 of 10,071 mins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Mahindra has already declared EV as the future. The next move isn't to compete louder in the category 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to become the trusted voice OF the category in Hindi India.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THE CHOICE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own this Diwali.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category-defining. Both only VETO can build. Different emotional registers — pick the one that fits Mahindra's Diwali.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1A1D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-1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BHARAT.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914400" y="4572000"/>
            <a:ext cx="4572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091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credibility franchise.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episodes. 12 Hindi India routes. Every EV objection tested on camera by an India TV journalist driving a Mahindra. Category-building. Long tail.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94120" y="233172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1A1D23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6517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84520" y="3017520"/>
            <a:ext cx="5928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-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	NAYE RASTE,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629400" y="3703320"/>
            <a:ext cx="520604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1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PURANE RISTE</a:t>
            </a:r>
            <a:r>
              <a:rPr lang="en-US" sz="4600" b="1" kern="0" spc="-10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600" dirty="0"/>
          </a:p>
        </p:txBody>
      </p:sp>
      <p:sp>
        <p:nvSpPr>
          <p:cNvPr id="16" name="Shape 14"/>
          <p:cNvSpPr/>
          <p:nvPr/>
        </p:nvSpPr>
        <p:spPr>
          <a:xfrm>
            <a:off x="6629400" y="4572000"/>
            <a:ext cx="457200" cy="27432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4709160"/>
            <a:ext cx="5206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i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i="1" dirty="0">
                <a:solidFill>
                  <a:srgbClr val="E7C2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Family Has A Past. Every Journey Has A Future.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512064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6-7 episodes. </a:t>
            </a: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heartfelt emotional series celebrating the dreams that middle-class Indian families postpone while building a better future for their loved ones.</a:t>
            </a:r>
            <a:endParaRPr lang="en-US" sz="1200" dirty="0">
              <a:solidFill>
                <a:schemeClr val="tx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6 slides walk through both. Slides 5–7 = Charged Bharat. Slides 8–9 = Bharat Ki Nayi Roshni.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CONCEPT 01 — THE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8B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-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-3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BHARAT.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13716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51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episodes. 12 Hindi India routes. Every EV objection tested on camera 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 India TV journalist, driving a Mahindra.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E400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5778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KA SACH.  MAHINDRA KE SAATH.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5577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car ad.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credibility franchise.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CONCEPT 01 — THE FORMAT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Charged Bharat works.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228600" cy="365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Hindi India route. One EV objection tested. One first-time owner featured. One proof point delivered on camera.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Delhi → Lucknow: highway charging reality with a 6-month-old BE 6 owner from Kanpur.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03120"/>
            <a:ext cx="228600" cy="365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94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&amp; LENGTH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606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22–24 min main episode. 60-second TV capsules for news channels. 15-second social units. One director's-cut long-form per episode for VETO deep viewers.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35661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Multi-format from day one — not repurposed later.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34840"/>
            <a:ext cx="228600" cy="365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262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senior India TV journalist as host. Rotating experts — mechanics, first-time owners, charging infrastructure specialists. Mahindra engineers appear as subject experts, not brand voices.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8978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Newsroom credibility, not brand-film gloss.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434840"/>
            <a:ext cx="228600" cy="365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5262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(SEASON 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9377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Delhi–Lucknow. Bhopal–Indore. Patna–Bodhgaya. Chandigarh–Manali. Jaipur–Udaipur. Varanasi–Ayodhya. Ahmedabad–Kutch. Ranchi–Jamshedpur. Nagpur–Amravati. Kanpur–Prayagraj. Dehradun–Mussoorie. Kolkata–Digha.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8978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route is a Hindi/regional heartland corridor where Mahindra needs to win.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CONCEPT 01 — EPISODE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1 — Delhi to Lucknow.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Highway Charging Reality Test  |  Driven by BE 6 Pack Two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020824"/>
            <a:ext cx="3639312" cy="77724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48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START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at India Gate before dawn. BE 6 headlights on. Delhi wakes up in the background.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3291840" cy="9144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9476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31520" y="39136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05:47  •  Battery 92%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20116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2544" y="2020824"/>
            <a:ext cx="3639312" cy="777240"/>
          </a:xfrm>
          <a:prstGeom prst="rect">
            <a:avLst/>
          </a:prstGeom>
          <a:solidFill>
            <a:srgbClr val="5F7A94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2148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2212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 RUN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2926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NH24 open road. Range countdown visible on centre console. First hour of the drive.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3749040"/>
            <a:ext cx="3291840" cy="9144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79476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26280" y="39136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78%  •  Next station: 82 km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20116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47304" y="2020824"/>
            <a:ext cx="3639312" cy="77724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5320" y="2148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15400" y="2212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CHARGING STOP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2926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station at Bagpat. Real wait. Real cost. Host talks to a truck driver charging beside him.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749040"/>
            <a:ext cx="3291840" cy="9144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379476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321040" y="39136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mins to 80%  •  ₹340 fast-charge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2976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" y="4306824"/>
            <a:ext cx="3639312" cy="777240"/>
          </a:xfrm>
          <a:prstGeom prst="rect">
            <a:avLst/>
          </a:prstGeom>
          <a:solidFill>
            <a:srgbClr val="D4A55E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4434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25880" y="4498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KANPUR OWNER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5212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visit with Anil Verma, 6-month BE 6 owner. His electricity bill on camera. His question answered.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1520" y="6035040"/>
            <a:ext cx="3291840" cy="9144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608076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31520" y="61996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EV cost: ₹1,840  •  Petrol equivalent: ₹9,200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43400" y="42976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52544" y="4306824"/>
            <a:ext cx="3639312" cy="777240"/>
          </a:xfrm>
          <a:prstGeom prst="rect">
            <a:avLst/>
          </a:prstGeom>
          <a:solidFill>
            <a:srgbClr val="6E8E6B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4434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/>
        </p:spPr>
      </p:sp>
      <p:sp>
        <p:nvSpPr>
          <p:cNvPr id="44" name="Text 42"/>
          <p:cNvSpPr/>
          <p:nvPr/>
        </p:nvSpPr>
        <p:spPr>
          <a:xfrm>
            <a:off x="44805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20640" y="4498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EXPLORING THE FOOD 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26280" y="5212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cs typeface="Arial" pitchFamily="34" charset="-120"/>
              </a:rPr>
              <a:t>Taking breaks and charging the </a:t>
            </a:r>
            <a:r>
              <a:rPr lang="en-US" sz="1050" dirty="0" err="1">
                <a:solidFill>
                  <a:srgbClr val="1A1D23"/>
                </a:solidFill>
                <a:latin typeface="Arial" pitchFamily="34" charset="0"/>
                <a:cs typeface="Arial" pitchFamily="34" charset="-120"/>
              </a:rPr>
              <a:t>ev</a:t>
            </a:r>
            <a:r>
              <a:rPr lang="en-US" sz="1050" dirty="0">
                <a:solidFill>
                  <a:srgbClr val="1A1D23"/>
                </a:solidFill>
                <a:latin typeface="Arial" pitchFamily="34" charset="0"/>
                <a:cs typeface="Arial" pitchFamily="34" charset="-120"/>
              </a:rPr>
              <a:t> , and having food 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26280" y="6035040"/>
            <a:ext cx="3291840" cy="9144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8" name="Text 46"/>
          <p:cNvSpPr/>
          <p:nvPr/>
        </p:nvSpPr>
        <p:spPr>
          <a:xfrm>
            <a:off x="4526280" y="608076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26280" y="61996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Incline: 14%  •  Battery drain: 3%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138160" y="42976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47304" y="4306824"/>
            <a:ext cx="3639312" cy="777240"/>
          </a:xfrm>
          <a:prstGeom prst="rect">
            <a:avLst/>
          </a:prstGeom>
          <a:solidFill>
            <a:srgbClr val="B8624F"/>
          </a:solidFill>
          <a:ln/>
        </p:spPr>
      </p:sp>
      <p:sp>
        <p:nvSpPr>
          <p:cNvPr id="52" name="Shape 50"/>
          <p:cNvSpPr/>
          <p:nvPr/>
        </p:nvSpPr>
        <p:spPr>
          <a:xfrm>
            <a:off x="8275320" y="4434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/>
        </p:spPr>
      </p:sp>
      <p:sp>
        <p:nvSpPr>
          <p:cNvPr id="53" name="Text 51"/>
          <p:cNvSpPr/>
          <p:nvPr/>
        </p:nvSpPr>
        <p:spPr>
          <a:xfrm>
            <a:off x="827532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15400" y="4498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LUCKNOW ARRIVAL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21040" y="5212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Sunset over Bara Imambara. Host to camera: the real numbers, no marketing.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321040" y="6035040"/>
            <a:ext cx="3291840" cy="9144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7" name="Text 55"/>
          <p:cNvSpPr/>
          <p:nvPr/>
        </p:nvSpPr>
        <p:spPr>
          <a:xfrm>
            <a:off x="8321040" y="608076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321040" y="61996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₹1.20 per km  •  vs petrol ₹8.40  •  Verdict: honest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 treatment — Episode 1. Every episode follows this six-beat structure: start, run, test, owner, proof, verdict.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WHERE MAHINDRA SHOWS 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your Diwali looks like on VETO.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0A0D12"/>
          </a:solidFill>
          <a:ln w="12700">
            <a:solidFill>
              <a:srgbClr val="3A3E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1892808"/>
            <a:ext cx="91440" cy="9144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889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033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321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609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286000"/>
            <a:ext cx="6400800" cy="2011680"/>
          </a:xfrm>
          <a:prstGeom prst="rect">
            <a:avLst/>
          </a:prstGeom>
          <a:solidFill>
            <a:srgbClr val="1F253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291840"/>
            <a:ext cx="6400800" cy="1005840"/>
          </a:xfrm>
          <a:prstGeom prst="rect">
            <a:avLst/>
          </a:prstGeom>
          <a:solidFill>
            <a:srgbClr val="0A0D12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2606040"/>
            <a:ext cx="320040" cy="365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063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BHARAT.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051560" y="3977640"/>
            <a:ext cx="164592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977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WATCH  EP 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34640" y="3977640"/>
            <a:ext cx="1737360" cy="256032"/>
          </a:xfrm>
          <a:prstGeom prst="roundRect">
            <a:avLst>
              <a:gd name="adj" fmla="val 10714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9776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TEST DRIVE 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CHANNELS THIS WEEK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06640" y="269748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06640" y="3172968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8714232" y="269748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714232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NEWS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714232" y="3172968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10021824" y="269748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21824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8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NATION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021824" y="3172968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406640" y="322783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3227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D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MANORAMA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06640" y="3703320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8714232" y="322783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714232" y="3227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B6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NDTV INDIA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714232" y="3703320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0021824" y="322783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021824" y="3227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GTC NEWS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021824" y="3703320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822960" y="4480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NOW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96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8B3A3A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OBJECTION LIBRARY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1440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60604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2A4A5A"/>
          </a:solidFill>
          <a:ln/>
        </p:spPr>
      </p:sp>
      <p:sp>
        <p:nvSpPr>
          <p:cNvPr id="48" name="Text 46"/>
          <p:cNvSpPr/>
          <p:nvPr/>
        </p:nvSpPr>
        <p:spPr>
          <a:xfrm>
            <a:off x="269748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BHARAT EP 01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69748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→ Lucknow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38912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4A3A2A"/>
          </a:solidFill>
          <a:ln/>
        </p:spPr>
      </p:sp>
      <p:sp>
        <p:nvSpPr>
          <p:cNvPr id="51" name="Text 49"/>
          <p:cNvSpPr/>
          <p:nvPr/>
        </p:nvSpPr>
        <p:spPr>
          <a:xfrm>
            <a:off x="448056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ANAND MAHINDRA SPECIAL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48056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Bhai Dooj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17220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3A2A4A"/>
          </a:solidFill>
          <a:ln/>
        </p:spPr>
      </p:sp>
      <p:sp>
        <p:nvSpPr>
          <p:cNvPr id="54" name="Text 52"/>
          <p:cNvSpPr/>
          <p:nvPr/>
        </p:nvSpPr>
        <p:spPr>
          <a:xfrm>
            <a:off x="626364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6 OWNER STORIES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6364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Kanpur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95528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2A3A2A"/>
          </a:solidFill>
          <a:ln/>
        </p:spPr>
      </p:sp>
      <p:sp>
        <p:nvSpPr>
          <p:cNvPr id="57" name="Text 55"/>
          <p:cNvSpPr/>
          <p:nvPr/>
        </p:nvSpPr>
        <p:spPr>
          <a:xfrm>
            <a:off x="804672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MORNING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672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7 AM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73836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4A2A3A"/>
          </a:solidFill>
          <a:ln/>
        </p:spPr>
      </p:sp>
      <p:sp>
        <p:nvSpPr>
          <p:cNvPr id="60" name="Text 58"/>
          <p:cNvSpPr/>
          <p:nvPr/>
        </p:nvSpPr>
        <p:spPr>
          <a:xfrm>
            <a:off x="982980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LOCATOR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82980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you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B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placement. Sponsored channel badges. Embedded test-drive CTA. Interactive EV Objection Library tile. All Mahindra-owned. All jointly measured.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CONCEPT 02 — THE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8B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-399114" y="1347187"/>
            <a:ext cx="1228631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600" b="1" kern="0" spc="-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	NAYE RASTE,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600" b="1" kern="0" spc="1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PURANE RISTE</a:t>
            </a:r>
            <a:r>
              <a:rPr lang="en-US" sz="9600" b="1" kern="0" spc="-10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1371600" cy="365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51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6-7 episodes. A Mahindra EV powers the community celebration —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0" y="5577840"/>
            <a:ext cx="7408244" cy="640080"/>
          </a:xfrm>
          <a:prstGeom prst="roundRect">
            <a:avLst>
              <a:gd name="adj" fmla="val 11429"/>
            </a:avLst>
          </a:prstGeom>
          <a:solidFill>
            <a:srgbClr val="FF8C42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5577840"/>
            <a:ext cx="69109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Mahindra EV becomes more than a car — it becomes a bridge between forgotten dreams and new beginnings</a:t>
            </a:r>
            <a:r>
              <a:rPr lang="en-US" b="1" i="1" dirty="0">
                <a:solidFill>
                  <a:srgbClr val="E7C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b="1" dirty="0"/>
          </a:p>
        </p:txBody>
      </p:sp>
      <p:sp>
        <p:nvSpPr>
          <p:cNvPr id="11" name="Text 9"/>
          <p:cNvSpPr/>
          <p:nvPr/>
        </p:nvSpPr>
        <p:spPr>
          <a:xfrm>
            <a:off x="7772400" y="5577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category argument.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5852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emotional territory.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CONCEPT 02 — THE FORMAT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Bharat Ki Nayi Roshni works.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228600" cy="36576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B232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Every middle-class family has dreams they leave behind. “NAYE RASTE ,PURANE RISTE” brings these unfinished journeys back to life — following a real family as they complete a journey they once thought was impossible, with Mahindra EV as the vehicle carrying their memories and new beginnings.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metaphor. Actual kilowatts. Actual on-camera moment.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03120"/>
            <a:ext cx="228600" cy="36576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94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&amp; LENGTH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606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 min emotional docu-shorts. Released weekly . Cross-genre distribution across VETO news, lifestyle, and entertainment surfaces.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35661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Diwali week owned in daily narrative form.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34840"/>
            <a:ext cx="228600" cy="36576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262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COMMUNITIES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Middle-class families of Bharat</a:t>
            </a:r>
            <a:r>
              <a:rPr lang="en-US" sz="1200" dirty="0"/>
              <a:t>, </a:t>
            </a:r>
            <a:r>
              <a:rPr lang="en-US" sz="12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Small-town achievers</a:t>
            </a:r>
            <a:r>
              <a:rPr lang="en-US" sz="1200" dirty="0"/>
              <a:t>, </a:t>
            </a:r>
            <a:r>
              <a:rPr lang="en-US" sz="12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parents</a:t>
            </a:r>
            <a:endParaRPr lang="en-US" sz="1200" dirty="0"/>
          </a:p>
          <a:p>
            <a:r>
              <a:rPr lang="en-US" sz="12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,First-generation professionals,</a:t>
            </a:r>
            <a:endParaRPr lang="en-US" sz="1200" dirty="0"/>
          </a:p>
          <a:p>
            <a:r>
              <a:rPr lang="en-US" sz="12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redefining independence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8978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stories. Six kinds of Indian Diwali. One car making each one possible.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434840"/>
            <a:ext cx="228600" cy="36576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5262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002B"/>
                </a:solidFill>
                <a:latin typeface="Arial" pitchFamily="34" charset="0"/>
                <a:cs typeface="Arial" pitchFamily="34" charset="-120"/>
              </a:rPr>
              <a:t>SAMPLE EPISODE IDEA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9377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“Papa Ki </a:t>
            </a:r>
            <a:r>
              <a:rPr lang="en-US" sz="12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Pehli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Chhutti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”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 30 years, a father worked every day to give his family a better life — never taking a vacation, never exploring India. His children decide to give him something he never gave himself: time.</a:t>
            </a:r>
            <a:b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</a:b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“Papa, ab </a:t>
            </a:r>
            <a:r>
              <a:rPr lang="en-US" sz="1200" i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aapki</a:t>
            </a: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i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baari</a:t>
            </a: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i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</a:t>
            </a: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.”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15000"/>
              </a:lnSpc>
            </a:pPr>
            <a:endParaRPr lang="en-US" sz="1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46520" y="58978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Documentary craft, not commercial gloss.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Only India TV + VETO Can Create This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India TV understands the emotions of India like nobody else.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635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AE9E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636776"/>
            <a:ext cx="402336" cy="40233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3584" y="1636776"/>
            <a:ext cx="4457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Real Bharat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2167128"/>
            <a:ext cx="50063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connection with real Indian families, small towns, local communities, and everyday heroes — surfacing stories that are authentic, not scripted.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0780" y="1417320"/>
            <a:ext cx="54635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AE9E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8524" y="1636776"/>
            <a:ext cx="402336" cy="40233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78524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27164" y="1636776"/>
            <a:ext cx="4457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Storytelling DNA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8524" y="2167128"/>
            <a:ext cx="50063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capturing human struggles, family emotions, and inspirational journeys — now extending that trust into OTT storytelling.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54635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AE9E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502152"/>
            <a:ext cx="402336" cy="40233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43584" y="3502152"/>
            <a:ext cx="4457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Mahindra EV Meets Real India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" y="4032504"/>
            <a:ext cx="50063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features, but memories, relationships and aspirations. The EV isn't advertised — it becomes part of the family's emotional journey.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0780" y="3282696"/>
            <a:ext cx="54635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AE9E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8524" y="3502152"/>
            <a:ext cx="402336" cy="40233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78524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27164" y="3502152"/>
            <a:ext cx="4457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VETO Original IP Opportunity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8524" y="4032504"/>
            <a:ext cx="50063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emotional franchise: every family has a dream, every dream has a journey — endless stories to tell.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020056"/>
            <a:ext cx="11247120" cy="786384"/>
          </a:xfrm>
          <a:prstGeom prst="roundRect">
            <a:avLst>
              <a:gd name="adj" fmla="val 11628"/>
            </a:avLst>
          </a:prstGeom>
          <a:solidFill>
            <a:srgbClr val="3B1F2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20056"/>
            <a:ext cx="10515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E7C2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India TV + VETO has the credibility, reach, and storytelling ability to bring these journeys alive.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6D77C-2392-5627-67CB-6F33C685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B1136C-A4D4-D00B-7D85-CF05BD574910}"/>
              </a:ext>
            </a:extLst>
          </p:cNvPr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WHERE MAHINDRA SHOWS UP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317DBE-966D-E4B8-1784-3DD749D59A56}"/>
              </a:ext>
            </a:extLst>
          </p:cNvPr>
          <p:cNvSpPr/>
          <p:nvPr/>
        </p:nvSpPr>
        <p:spPr>
          <a:xfrm>
            <a:off x="54864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your Diwali looks like on VETO.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80951C-32EC-E31C-6FEB-43FDBFFD0EF0}"/>
              </a:ext>
            </a:extLst>
          </p:cNvPr>
          <p:cNvSpPr/>
          <p:nvPr/>
        </p:nvSpPr>
        <p:spPr>
          <a:xfrm>
            <a:off x="548640" y="160020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0A0D12"/>
          </a:solidFill>
          <a:ln w="12700">
            <a:solidFill>
              <a:srgbClr val="3A3E48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DEFDC6-2EE3-6E87-A903-F26C14E43FA8}"/>
              </a:ext>
            </a:extLst>
          </p:cNvPr>
          <p:cNvSpPr/>
          <p:nvPr/>
        </p:nvSpPr>
        <p:spPr>
          <a:xfrm>
            <a:off x="822959" y="1783080"/>
            <a:ext cx="119562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9F7D22-2CBF-07FB-81AA-949192C40AF1}"/>
              </a:ext>
            </a:extLst>
          </p:cNvPr>
          <p:cNvSpPr/>
          <p:nvPr/>
        </p:nvSpPr>
        <p:spPr>
          <a:xfrm>
            <a:off x="1691640" y="1892808"/>
            <a:ext cx="91440" cy="9144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917723-6953-0BE8-1A63-F7F0955E70EC}"/>
              </a:ext>
            </a:extLst>
          </p:cNvPr>
          <p:cNvSpPr/>
          <p:nvPr/>
        </p:nvSpPr>
        <p:spPr>
          <a:xfrm>
            <a:off x="18745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TV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329B1A-8683-6E6E-015D-35C0A961FC65}"/>
              </a:ext>
            </a:extLst>
          </p:cNvPr>
          <p:cNvSpPr/>
          <p:nvPr/>
        </p:nvSpPr>
        <p:spPr>
          <a:xfrm>
            <a:off x="27889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29FE5B-C829-8240-FF95-C6634670E640}"/>
              </a:ext>
            </a:extLst>
          </p:cNvPr>
          <p:cNvSpPr/>
          <p:nvPr/>
        </p:nvSpPr>
        <p:spPr>
          <a:xfrm>
            <a:off x="37033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7EBD21-68B9-65B0-BF78-A7E4FDF9FA49}"/>
              </a:ext>
            </a:extLst>
          </p:cNvPr>
          <p:cNvSpPr/>
          <p:nvPr/>
        </p:nvSpPr>
        <p:spPr>
          <a:xfrm>
            <a:off x="46177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5BF9F71-C9A1-BFD3-6F72-2078E5B82DC4}"/>
              </a:ext>
            </a:extLst>
          </p:cNvPr>
          <p:cNvSpPr/>
          <p:nvPr/>
        </p:nvSpPr>
        <p:spPr>
          <a:xfrm>
            <a:off x="55321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03E531F-A2E9-13EB-DC0A-E7DA006733E8}"/>
              </a:ext>
            </a:extLst>
          </p:cNvPr>
          <p:cNvSpPr/>
          <p:nvPr/>
        </p:nvSpPr>
        <p:spPr>
          <a:xfrm>
            <a:off x="64465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D537C1D-78E0-20D5-D700-92D8EDE9213F}"/>
              </a:ext>
            </a:extLst>
          </p:cNvPr>
          <p:cNvSpPr/>
          <p:nvPr/>
        </p:nvSpPr>
        <p:spPr>
          <a:xfrm>
            <a:off x="7360920" y="18288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0B560DF-9894-201B-EB98-70CCF3989EE2}"/>
              </a:ext>
            </a:extLst>
          </p:cNvPr>
          <p:cNvSpPr/>
          <p:nvPr/>
        </p:nvSpPr>
        <p:spPr>
          <a:xfrm>
            <a:off x="853440" y="2423160"/>
            <a:ext cx="6400800" cy="2011680"/>
          </a:xfrm>
          <a:prstGeom prst="rect">
            <a:avLst/>
          </a:prstGeom>
          <a:solidFill>
            <a:srgbClr val="1F2530"/>
          </a:solidFill>
          <a:ln/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8CDE6BC-10D9-6989-5D46-D07955CA0C79}"/>
              </a:ext>
            </a:extLst>
          </p:cNvPr>
          <p:cNvSpPr/>
          <p:nvPr/>
        </p:nvSpPr>
        <p:spPr>
          <a:xfrm>
            <a:off x="822960" y="3291840"/>
            <a:ext cx="6400800" cy="1005840"/>
          </a:xfrm>
          <a:prstGeom prst="rect">
            <a:avLst/>
          </a:prstGeom>
          <a:solidFill>
            <a:srgbClr val="0A0D12">
              <a:alpha val="60000"/>
            </a:srgbClr>
          </a:solidFill>
          <a:ln/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52CA130-FB88-C3D6-7863-5CEE97DF996B}"/>
              </a:ext>
            </a:extLst>
          </p:cNvPr>
          <p:cNvSpPr/>
          <p:nvPr/>
        </p:nvSpPr>
        <p:spPr>
          <a:xfrm>
            <a:off x="1051560" y="2606040"/>
            <a:ext cx="320040" cy="365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FC4F20B-4296-786C-0B20-FCC956DD3521}"/>
              </a:ext>
            </a:extLst>
          </p:cNvPr>
          <p:cNvSpPr/>
          <p:nvPr/>
        </p:nvSpPr>
        <p:spPr>
          <a:xfrm>
            <a:off x="105156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B0832CE-6762-8C3D-24DB-85B5BC1772BA}"/>
              </a:ext>
            </a:extLst>
          </p:cNvPr>
          <p:cNvSpPr/>
          <p:nvPr/>
        </p:nvSpPr>
        <p:spPr>
          <a:xfrm>
            <a:off x="1051560" y="3063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NAYE RASTE </a:t>
            </a:r>
            <a:endParaRPr lang="en-US" sz="3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2E4DF7C-0E8A-13B9-3128-1008D6796D13}"/>
              </a:ext>
            </a:extLst>
          </p:cNvPr>
          <p:cNvSpPr/>
          <p:nvPr/>
        </p:nvSpPr>
        <p:spPr>
          <a:xfrm>
            <a:off x="1051560" y="3520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PURANE RISTE.</a:t>
            </a:r>
            <a:endParaRPr lang="en-US" sz="3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3652A83-F08E-8A82-4E3C-32CCC8E7C44F}"/>
              </a:ext>
            </a:extLst>
          </p:cNvPr>
          <p:cNvSpPr/>
          <p:nvPr/>
        </p:nvSpPr>
        <p:spPr>
          <a:xfrm>
            <a:off x="1051560" y="3977640"/>
            <a:ext cx="164592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26FEB9C-1B2F-AA2F-2884-E14ACBA0C649}"/>
              </a:ext>
            </a:extLst>
          </p:cNvPr>
          <p:cNvSpPr/>
          <p:nvPr/>
        </p:nvSpPr>
        <p:spPr>
          <a:xfrm>
            <a:off x="1051560" y="3977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WATCH  EP 01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C0095C7-CF41-01B7-169A-65DFE59F5F7E}"/>
              </a:ext>
            </a:extLst>
          </p:cNvPr>
          <p:cNvSpPr/>
          <p:nvPr/>
        </p:nvSpPr>
        <p:spPr>
          <a:xfrm>
            <a:off x="2834640" y="3977640"/>
            <a:ext cx="1737360" cy="256032"/>
          </a:xfrm>
          <a:prstGeom prst="roundRect">
            <a:avLst>
              <a:gd name="adj" fmla="val 10714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AAABB09-66C0-134E-A192-725671A403E6}"/>
              </a:ext>
            </a:extLst>
          </p:cNvPr>
          <p:cNvSpPr/>
          <p:nvPr/>
        </p:nvSpPr>
        <p:spPr>
          <a:xfrm>
            <a:off x="2834640" y="39776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TEST DRIVE  →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B297230-E892-7EC6-5BC0-17C4B8448F95}"/>
              </a:ext>
            </a:extLst>
          </p:cNvPr>
          <p:cNvSpPr/>
          <p:nvPr/>
        </p:nvSpPr>
        <p:spPr>
          <a:xfrm>
            <a:off x="740664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CHANNELS THIS WEEK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03BE933-BA46-07D6-F691-9E4CB05AE6A1}"/>
              </a:ext>
            </a:extLst>
          </p:cNvPr>
          <p:cNvSpPr/>
          <p:nvPr/>
        </p:nvSpPr>
        <p:spPr>
          <a:xfrm>
            <a:off x="7406640" y="269748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3381449-21FA-9342-CE64-A168F9A7009F}"/>
              </a:ext>
            </a:extLst>
          </p:cNvPr>
          <p:cNvSpPr/>
          <p:nvPr/>
        </p:nvSpPr>
        <p:spPr>
          <a:xfrm>
            <a:off x="7406640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TV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8418FEE-F7E4-254B-7075-919805FD57B6}"/>
              </a:ext>
            </a:extLst>
          </p:cNvPr>
          <p:cNvSpPr/>
          <p:nvPr/>
        </p:nvSpPr>
        <p:spPr>
          <a:xfrm>
            <a:off x="7406640" y="3172968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D68BB68-B843-3A1E-1502-BFFB90446C56}"/>
              </a:ext>
            </a:extLst>
          </p:cNvPr>
          <p:cNvSpPr/>
          <p:nvPr/>
        </p:nvSpPr>
        <p:spPr>
          <a:xfrm>
            <a:off x="8714232" y="269748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F018E45-5C44-4262-EF26-EB774F8F4ADA}"/>
              </a:ext>
            </a:extLst>
          </p:cNvPr>
          <p:cNvSpPr/>
          <p:nvPr/>
        </p:nvSpPr>
        <p:spPr>
          <a:xfrm>
            <a:off x="8714232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NEWS</a:t>
            </a:r>
            <a:endParaRPr lang="en-US" sz="8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B90A521-E89F-DE9B-375D-B848A2ED53A3}"/>
              </a:ext>
            </a:extLst>
          </p:cNvPr>
          <p:cNvSpPr/>
          <p:nvPr/>
        </p:nvSpPr>
        <p:spPr>
          <a:xfrm>
            <a:off x="8714232" y="3172968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5FE08DF-1B9E-A88A-7BD7-E1B680BB5468}"/>
              </a:ext>
            </a:extLst>
          </p:cNvPr>
          <p:cNvSpPr/>
          <p:nvPr/>
        </p:nvSpPr>
        <p:spPr>
          <a:xfrm>
            <a:off x="10021824" y="269748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67D8617-F9AD-5AE0-F980-98B145A0AD7A}"/>
              </a:ext>
            </a:extLst>
          </p:cNvPr>
          <p:cNvSpPr/>
          <p:nvPr/>
        </p:nvSpPr>
        <p:spPr>
          <a:xfrm>
            <a:off x="10021824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8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NATION</a:t>
            </a:r>
            <a:endParaRPr lang="en-US" sz="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9F0B91F-1DD5-0693-4D93-254CFE42739A}"/>
              </a:ext>
            </a:extLst>
          </p:cNvPr>
          <p:cNvSpPr/>
          <p:nvPr/>
        </p:nvSpPr>
        <p:spPr>
          <a:xfrm>
            <a:off x="10021824" y="3172968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061E6E3-E814-4E46-FB0D-075D8BCA865D}"/>
              </a:ext>
            </a:extLst>
          </p:cNvPr>
          <p:cNvSpPr/>
          <p:nvPr/>
        </p:nvSpPr>
        <p:spPr>
          <a:xfrm>
            <a:off x="7406640" y="322783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1317A4C-1091-CAF5-501C-FE583FB47335}"/>
              </a:ext>
            </a:extLst>
          </p:cNvPr>
          <p:cNvSpPr/>
          <p:nvPr/>
        </p:nvSpPr>
        <p:spPr>
          <a:xfrm>
            <a:off x="7406640" y="3227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D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MANORAMA</a:t>
            </a:r>
            <a:endParaRPr lang="en-US" sz="8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E94AE6B-0CCC-B22A-F3F4-1975FE3BF4B7}"/>
              </a:ext>
            </a:extLst>
          </p:cNvPr>
          <p:cNvSpPr/>
          <p:nvPr/>
        </p:nvSpPr>
        <p:spPr>
          <a:xfrm>
            <a:off x="7406640" y="3703320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CF22218-D59D-99CE-3908-F5FF70F9C543}"/>
              </a:ext>
            </a:extLst>
          </p:cNvPr>
          <p:cNvSpPr/>
          <p:nvPr/>
        </p:nvSpPr>
        <p:spPr>
          <a:xfrm>
            <a:off x="8714232" y="322783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9384C6D-11CA-3DBD-AC15-987A55971A6C}"/>
              </a:ext>
            </a:extLst>
          </p:cNvPr>
          <p:cNvSpPr/>
          <p:nvPr/>
        </p:nvSpPr>
        <p:spPr>
          <a:xfrm>
            <a:off x="8714232" y="3227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B6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NDTV INDIA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DE9785A-9D51-DF0D-4F98-682F0E364FBC}"/>
              </a:ext>
            </a:extLst>
          </p:cNvPr>
          <p:cNvSpPr/>
          <p:nvPr/>
        </p:nvSpPr>
        <p:spPr>
          <a:xfrm>
            <a:off x="8714232" y="3703320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8E97418-3F96-68D9-3744-D7B429010B6A}"/>
              </a:ext>
            </a:extLst>
          </p:cNvPr>
          <p:cNvSpPr/>
          <p:nvPr/>
        </p:nvSpPr>
        <p:spPr>
          <a:xfrm>
            <a:off x="10021824" y="322783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101B431-7F62-0C49-2221-16E44AA60164}"/>
              </a:ext>
            </a:extLst>
          </p:cNvPr>
          <p:cNvSpPr/>
          <p:nvPr/>
        </p:nvSpPr>
        <p:spPr>
          <a:xfrm>
            <a:off x="10021824" y="3227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GTC NEWS</a:t>
            </a:r>
            <a:endParaRPr lang="en-US" sz="8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72E766A-05CC-AA9B-65BE-43345741400D}"/>
              </a:ext>
            </a:extLst>
          </p:cNvPr>
          <p:cNvSpPr/>
          <p:nvPr/>
        </p:nvSpPr>
        <p:spPr>
          <a:xfrm>
            <a:off x="10021824" y="3703320"/>
            <a:ext cx="1234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A8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Mahindra</a:t>
            </a:r>
            <a:endParaRPr lang="en-US" sz="6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7E3F033-866F-C724-A79F-C7D86D0EA6F9}"/>
              </a:ext>
            </a:extLst>
          </p:cNvPr>
          <p:cNvSpPr/>
          <p:nvPr/>
        </p:nvSpPr>
        <p:spPr>
          <a:xfrm>
            <a:off x="822960" y="4480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NOW</a:t>
            </a:r>
            <a:endParaRPr lang="en-US" sz="10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4E4A8A3-D410-FC4E-3929-B54221A035BA}"/>
              </a:ext>
            </a:extLst>
          </p:cNvPr>
          <p:cNvSpPr/>
          <p:nvPr/>
        </p:nvSpPr>
        <p:spPr>
          <a:xfrm>
            <a:off x="82296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8B3A3A"/>
          </a:solidFill>
          <a:ln/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4F908BB-B48E-CEE4-30D2-DC0D23D4658B}"/>
              </a:ext>
            </a:extLst>
          </p:cNvPr>
          <p:cNvSpPr/>
          <p:nvPr/>
        </p:nvSpPr>
        <p:spPr>
          <a:xfrm>
            <a:off x="91440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OBJECTION LIBRARY</a:t>
            </a:r>
            <a:endParaRPr lang="en-US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08C1063-0B56-3196-EB41-C5DAA9B9ABA4}"/>
              </a:ext>
            </a:extLst>
          </p:cNvPr>
          <p:cNvSpPr/>
          <p:nvPr/>
        </p:nvSpPr>
        <p:spPr>
          <a:xfrm>
            <a:off x="91440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</a:t>
            </a:r>
            <a:endParaRPr lang="en-US" sz="7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061357D-28CD-43E9-7429-C1A90CF34F1B}"/>
              </a:ext>
            </a:extLst>
          </p:cNvPr>
          <p:cNvSpPr/>
          <p:nvPr/>
        </p:nvSpPr>
        <p:spPr>
          <a:xfrm>
            <a:off x="260604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2A4A5A"/>
          </a:solidFill>
          <a:ln/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CDF92BE0-A143-1065-2FFB-1FCC90A169E2}"/>
              </a:ext>
            </a:extLst>
          </p:cNvPr>
          <p:cNvSpPr/>
          <p:nvPr/>
        </p:nvSpPr>
        <p:spPr>
          <a:xfrm>
            <a:off x="269748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NAYE RASTE ,PURANE RISTE EP 01</a:t>
            </a:r>
            <a:endParaRPr lang="en-US" sz="9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348D6D88-0E1B-E8AE-3082-A3CCB419A89E}"/>
              </a:ext>
            </a:extLst>
          </p:cNvPr>
          <p:cNvSpPr/>
          <p:nvPr/>
        </p:nvSpPr>
        <p:spPr>
          <a:xfrm>
            <a:off x="438912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4A3A2A"/>
          </a:solidFill>
          <a:ln/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A54F2BF-F7DD-9E86-CFD5-4862BA4ABBF8}"/>
              </a:ext>
            </a:extLst>
          </p:cNvPr>
          <p:cNvSpPr/>
          <p:nvPr/>
        </p:nvSpPr>
        <p:spPr>
          <a:xfrm>
            <a:off x="448056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WEEKEND SPECIAL </a:t>
            </a:r>
            <a:endParaRPr lang="en-US" sz="9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E60E3E2-8F77-3C5C-2EC3-6D78F71698B1}"/>
              </a:ext>
            </a:extLst>
          </p:cNvPr>
          <p:cNvSpPr/>
          <p:nvPr/>
        </p:nvSpPr>
        <p:spPr>
          <a:xfrm>
            <a:off x="448056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Bhai Dooj</a:t>
            </a:r>
            <a:endParaRPr lang="en-US" sz="7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68D02A46-ACC6-C27B-172D-40AF135352AF}"/>
              </a:ext>
            </a:extLst>
          </p:cNvPr>
          <p:cNvSpPr/>
          <p:nvPr/>
        </p:nvSpPr>
        <p:spPr>
          <a:xfrm>
            <a:off x="617220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3A2A4A"/>
          </a:solidFill>
          <a:ln/>
        </p:spPr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3E9ECBA-B3ED-CC0B-0B7C-8CEA2DDC1963}"/>
              </a:ext>
            </a:extLst>
          </p:cNvPr>
          <p:cNvSpPr/>
          <p:nvPr/>
        </p:nvSpPr>
        <p:spPr>
          <a:xfrm>
            <a:off x="626364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6 OWNER STORIES</a:t>
            </a:r>
            <a:endParaRPr lang="en-US" sz="9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E70B5CA-F332-EA17-2E04-202630604E6D}"/>
              </a:ext>
            </a:extLst>
          </p:cNvPr>
          <p:cNvSpPr/>
          <p:nvPr/>
        </p:nvSpPr>
        <p:spPr>
          <a:xfrm>
            <a:off x="626364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Kanpur</a:t>
            </a:r>
            <a:endParaRPr lang="en-US" sz="7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B2A9F8C2-4754-8939-7061-63C1D93132C7}"/>
              </a:ext>
            </a:extLst>
          </p:cNvPr>
          <p:cNvSpPr/>
          <p:nvPr/>
        </p:nvSpPr>
        <p:spPr>
          <a:xfrm>
            <a:off x="795528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2A3A2A"/>
          </a:solidFill>
          <a:ln/>
        </p:spPr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77CEA94B-F801-2BD9-EB0A-96E07B59C27B}"/>
              </a:ext>
            </a:extLst>
          </p:cNvPr>
          <p:cNvSpPr/>
          <p:nvPr/>
        </p:nvSpPr>
        <p:spPr>
          <a:xfrm>
            <a:off x="804672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MORNING</a:t>
            </a:r>
            <a:endParaRPr lang="en-US" sz="9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9501C742-C71C-B4E9-FC33-1BAB655AF6B1}"/>
              </a:ext>
            </a:extLst>
          </p:cNvPr>
          <p:cNvSpPr/>
          <p:nvPr/>
        </p:nvSpPr>
        <p:spPr>
          <a:xfrm>
            <a:off x="804672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7 AM</a:t>
            </a:r>
            <a:endParaRPr lang="en-US" sz="7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4F19649D-02F7-C3C3-583B-811229D9AEA8}"/>
              </a:ext>
            </a:extLst>
          </p:cNvPr>
          <p:cNvSpPr/>
          <p:nvPr/>
        </p:nvSpPr>
        <p:spPr>
          <a:xfrm>
            <a:off x="9738360" y="47548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4A2A3A"/>
          </a:solidFill>
          <a:ln/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8939532B-08D8-517F-44D7-BDADFE8D1A7E}"/>
              </a:ext>
            </a:extLst>
          </p:cNvPr>
          <p:cNvSpPr/>
          <p:nvPr/>
        </p:nvSpPr>
        <p:spPr>
          <a:xfrm>
            <a:off x="982980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LOCATOR</a:t>
            </a:r>
            <a:endParaRPr lang="en-US" sz="9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181AEC02-E6D1-5E18-8FFC-DEB7C91C117B}"/>
              </a:ext>
            </a:extLst>
          </p:cNvPr>
          <p:cNvSpPr/>
          <p:nvPr/>
        </p:nvSpPr>
        <p:spPr>
          <a:xfrm>
            <a:off x="9829800" y="5303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8D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you</a:t>
            </a:r>
            <a:endParaRPr lang="en-US" sz="7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390A21A4-151B-AB91-89BF-91E8253B9391}"/>
              </a:ext>
            </a:extLst>
          </p:cNvPr>
          <p:cNvSpPr/>
          <p:nvPr/>
        </p:nvSpPr>
        <p:spPr>
          <a:xfrm>
            <a:off x="548640" y="609197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B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placement. Sponsored channel badges. Embedded test-drive CTA. Interactive EV Objection Library tile. All Mahindra-owned. All jointly measured.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94196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THE COMMERCIAL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partnership. Priced as one.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 of co-investment. Every tier includes IP ownership rights — the size determines the scope.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274320" cy="365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PARTNER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Investment: on discussion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concepts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383280"/>
            <a:ext cx="3108960" cy="9144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204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60-channel + 12-language distribution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 co-owned IP + first refusal on Season 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network + CRM usage rights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Anand Mahindra × host launch special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ecosystem extensions (all 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148840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331720"/>
            <a:ext cx="27432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PRESENTING PARTNER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Investment: on discussion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concept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383280"/>
            <a:ext cx="3108960" cy="9144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35204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8-language distribution across 45+ channels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 co-owned IP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network usage rights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extensions (4 of 5)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Presenting credit on all show assets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148840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331720"/>
            <a:ext cx="274320" cy="3657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PARTNER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Investment: on discussion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concept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12480" y="3383280"/>
            <a:ext cx="3108960" cy="9144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35204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6-language distribution across 30+ channels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 sponsorship-plus (attribution rights)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extensions (3 of 5)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Category-exclusive lockout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look at future EV content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tiers include: co-owned show bible • independent measurement report • category-exclusive lockout for launch quarter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asks. Nothing more.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737360" y="2148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45-minute working session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26060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B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Mahindra's marketing, brand, and one senior editorial voice. To co-develop the show's editorial guardrails — and to pick between Concept 01 and Concept 02.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737360" y="33375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alignment by mid-September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37360" y="37947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B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kicks off in early October to hit a Dhanteras (November 2026) launch. Tier and concept decision anchors the timeline.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737360" y="45262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introduction to Mahindra's dealer + CRM team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37360" y="49834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B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ecosystem extensions — showroom loops, CRM journeys, dealer-locator overlays — are built into existing sales infrastructure, not bolted on later.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64240" cy="182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BD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other pitch this Diwali is asking for your Diwali budget.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one is asking to build the next three years of India's EV conversation — with you.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1870</Words>
  <Application>Microsoft Office PowerPoint</Application>
  <PresentationFormat>Widescreen</PresentationFormat>
  <Paragraphs>284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Mahindra x VETO - Charged Bharat V2</dc:title>
  <dc:subject>PptxGenJS Presentation</dc:subject>
  <dc:creator>PptxGenJS</dc:creator>
  <cp:lastModifiedBy>Aryan 😎</cp:lastModifiedBy>
  <cp:revision>7</cp:revision>
  <dcterms:created xsi:type="dcterms:W3CDTF">2026-08-24T10:42:53Z</dcterms:created>
  <dcterms:modified xsi:type="dcterms:W3CDTF">2026-08-25T13:46:49Z</dcterms:modified>
</cp:coreProperties>
</file>